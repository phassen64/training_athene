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0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b="1" dirty="0"/>
              <a:t>Umsatzübersicht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Tabelle1!$A$2</c:f>
              <c:strCache>
                <c:ptCount val="1"/>
                <c:pt idx="0">
                  <c:v>Filiale 1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Tabelle1!$B$1:$D$1</c:f>
              <c:strCache>
                <c:ptCount val="3"/>
                <c:pt idx="0">
                  <c:v>Januar</c:v>
                </c:pt>
                <c:pt idx="1">
                  <c:v>Februar</c:v>
                </c:pt>
                <c:pt idx="2">
                  <c:v>März</c:v>
                </c:pt>
              </c:strCache>
            </c:strRef>
          </c:cat>
          <c:val>
            <c:numRef>
              <c:f>Tabelle1!$B$2:$D$2</c:f>
              <c:numCache>
                <c:formatCode>"€"#,##0_);[Red]\("€"#,##0\)</c:formatCode>
                <c:ptCount val="3"/>
                <c:pt idx="0">
                  <c:v>436000</c:v>
                </c:pt>
                <c:pt idx="1">
                  <c:v>472000</c:v>
                </c:pt>
                <c:pt idx="2">
                  <c:v>490000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E2-4DCE-BAC0-D85FA1EF7EF8}"/>
            </c:ext>
          </c:extLst>
        </c:ser>
        <c:ser>
          <c:idx val="1"/>
          <c:order val="1"/>
          <c:tx>
            <c:strRef>
              <c:f>Tabelle1!$A$3</c:f>
              <c:strCache>
                <c:ptCount val="1"/>
                <c:pt idx="0">
                  <c:v>Filiale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Tabelle1!$B$1:$D$1</c:f>
              <c:strCache>
                <c:ptCount val="3"/>
                <c:pt idx="0">
                  <c:v>Januar</c:v>
                </c:pt>
                <c:pt idx="1">
                  <c:v>Februar</c:v>
                </c:pt>
                <c:pt idx="2">
                  <c:v>März</c:v>
                </c:pt>
              </c:strCache>
            </c:strRef>
          </c:cat>
          <c:val>
            <c:numRef>
              <c:f>Tabelle1!$B$3:$D$3</c:f>
              <c:numCache>
                <c:formatCode>"€"#,##0_);[Red]\("€"#,##0\)</c:formatCode>
                <c:ptCount val="3"/>
                <c:pt idx="0">
                  <c:v>660000</c:v>
                </c:pt>
                <c:pt idx="1">
                  <c:v>730000</c:v>
                </c:pt>
                <c:pt idx="2">
                  <c:v>786000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E2-4DCE-BAC0-D85FA1EF7EF8}"/>
            </c:ext>
          </c:extLst>
        </c:ser>
        <c:ser>
          <c:idx val="2"/>
          <c:order val="2"/>
          <c:tx>
            <c:strRef>
              <c:f>Tabelle1!$A$4</c:f>
              <c:strCache>
                <c:ptCount val="1"/>
                <c:pt idx="0">
                  <c:v>Filiale 3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Tabelle1!$B$1:$D$1</c:f>
              <c:strCache>
                <c:ptCount val="3"/>
                <c:pt idx="0">
                  <c:v>Januar</c:v>
                </c:pt>
                <c:pt idx="1">
                  <c:v>Februar</c:v>
                </c:pt>
                <c:pt idx="2">
                  <c:v>März</c:v>
                </c:pt>
              </c:strCache>
            </c:strRef>
          </c:cat>
          <c:val>
            <c:numRef>
              <c:f>Tabelle1!$B$4:$D$4</c:f>
              <c:numCache>
                <c:formatCode>"€"#,##0_);[Red]\("€"#,##0\)</c:formatCode>
                <c:ptCount val="3"/>
                <c:pt idx="0">
                  <c:v>498000</c:v>
                </c:pt>
                <c:pt idx="1">
                  <c:v>624000</c:v>
                </c:pt>
                <c:pt idx="2">
                  <c:v>648000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6E2-4DCE-BAC0-D85FA1EF7E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4"/>
        <c:overlap val="-27"/>
        <c:axId val="-697541424"/>
        <c:axId val="-697539792"/>
      </c:barChart>
      <c:catAx>
        <c:axId val="-6975414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b="1" dirty="0"/>
                  <a:t>1. Quartal 2015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697539792"/>
        <c:crosses val="autoZero"/>
        <c:auto val="1"/>
        <c:lblAlgn val="ctr"/>
        <c:lblOffset val="100"/>
        <c:noMultiLvlLbl val="0"/>
      </c:catAx>
      <c:valAx>
        <c:axId val="-697539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b="1" dirty="0"/>
                  <a:t>In tausend Euro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697541424"/>
        <c:crosses val="autoZero"/>
        <c:crossBetween val="between"/>
        <c:dispUnits>
          <c:builtInUnit val="thousands"/>
        </c:dispUnits>
      </c:valAx>
      <c:spPr>
        <a:solidFill>
          <a:schemeClr val="bg2"/>
        </a:solidFill>
        <a:ln>
          <a:noFill/>
        </a:ln>
        <a:effectLst/>
      </c:spPr>
    </c:plotArea>
    <c:legend>
      <c:legendPos val="r"/>
      <c:overlay val="0"/>
      <c:spPr>
        <a:noFill/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de-DE" dirty="0">
                <a:solidFill>
                  <a:schemeClr val="tx1"/>
                </a:solidFill>
              </a:rPr>
              <a:t>Umsatzübersicht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Tabelle1!$A$2</c:f>
              <c:strCache>
                <c:ptCount val="1"/>
                <c:pt idx="0">
                  <c:v>Filiale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Tabelle1!$B$1:$D$1</c:f>
              <c:strCache>
                <c:ptCount val="3"/>
                <c:pt idx="0">
                  <c:v>Januar</c:v>
                </c:pt>
                <c:pt idx="1">
                  <c:v>Februar</c:v>
                </c:pt>
                <c:pt idx="2">
                  <c:v>März</c:v>
                </c:pt>
              </c:strCache>
            </c:strRef>
          </c:cat>
          <c:val>
            <c:numRef>
              <c:f>Tabelle1!$B$2:$D$2</c:f>
              <c:numCache>
                <c:formatCode>"€"#,##0_);[Red]\("€"#,##0\)</c:formatCode>
                <c:ptCount val="3"/>
                <c:pt idx="0">
                  <c:v>436000</c:v>
                </c:pt>
                <c:pt idx="1">
                  <c:v>472000</c:v>
                </c:pt>
                <c:pt idx="2">
                  <c:v>490000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A2-4EB9-AD2F-8B6113DA6D91}"/>
            </c:ext>
          </c:extLst>
        </c:ser>
        <c:ser>
          <c:idx val="1"/>
          <c:order val="1"/>
          <c:tx>
            <c:strRef>
              <c:f>Tabelle1!$A$3</c:f>
              <c:strCache>
                <c:ptCount val="1"/>
                <c:pt idx="0">
                  <c:v>Filiale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Tabelle1!$B$1:$D$1</c:f>
              <c:strCache>
                <c:ptCount val="3"/>
                <c:pt idx="0">
                  <c:v>Januar</c:v>
                </c:pt>
                <c:pt idx="1">
                  <c:v>Februar</c:v>
                </c:pt>
                <c:pt idx="2">
                  <c:v>März</c:v>
                </c:pt>
              </c:strCache>
            </c:strRef>
          </c:cat>
          <c:val>
            <c:numRef>
              <c:f>Tabelle1!$B$3:$D$3</c:f>
              <c:numCache>
                <c:formatCode>"€"#,##0_);[Red]\("€"#,##0\)</c:formatCode>
                <c:ptCount val="3"/>
                <c:pt idx="0">
                  <c:v>660000</c:v>
                </c:pt>
                <c:pt idx="1">
                  <c:v>730000</c:v>
                </c:pt>
                <c:pt idx="2">
                  <c:v>786000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A2-4EB9-AD2F-8B6113DA6D91}"/>
            </c:ext>
          </c:extLst>
        </c:ser>
        <c:ser>
          <c:idx val="2"/>
          <c:order val="2"/>
          <c:tx>
            <c:strRef>
              <c:f>Tabelle1!$A$4</c:f>
              <c:strCache>
                <c:ptCount val="1"/>
                <c:pt idx="0">
                  <c:v>Filiale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Tabelle1!$B$1:$D$1</c:f>
              <c:strCache>
                <c:ptCount val="3"/>
                <c:pt idx="0">
                  <c:v>Januar</c:v>
                </c:pt>
                <c:pt idx="1">
                  <c:v>Februar</c:v>
                </c:pt>
                <c:pt idx="2">
                  <c:v>März</c:v>
                </c:pt>
              </c:strCache>
            </c:strRef>
          </c:cat>
          <c:val>
            <c:numRef>
              <c:f>Tabelle1!$B$4:$D$4</c:f>
              <c:numCache>
                <c:formatCode>"€"#,##0_);[Red]\("€"#,##0\)</c:formatCode>
                <c:ptCount val="3"/>
                <c:pt idx="0">
                  <c:v>498000</c:v>
                </c:pt>
                <c:pt idx="1">
                  <c:v>624000</c:v>
                </c:pt>
                <c:pt idx="2">
                  <c:v>648000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A2-4EB9-AD2F-8B6113DA6D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578646416"/>
        <c:axId val="-578644784"/>
      </c:barChart>
      <c:catAx>
        <c:axId val="-578646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578644784"/>
        <c:crosses val="autoZero"/>
        <c:auto val="1"/>
        <c:lblAlgn val="ctr"/>
        <c:lblOffset val="100"/>
        <c:noMultiLvlLbl val="0"/>
      </c:catAx>
      <c:valAx>
        <c:axId val="-578644784"/>
        <c:scaling>
          <c:orientation val="minMax"/>
          <c:max val="8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€&quot;#,##0_);[Red]\(&quot;€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578646416"/>
        <c:crosses val="autoZero"/>
        <c:crossBetween val="between"/>
        <c:majorUnit val="200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 err="1">
                <a:solidFill>
                  <a:schemeClr val="tx1"/>
                </a:solidFill>
              </a:rPr>
              <a:t>Kundentermine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im</a:t>
            </a:r>
            <a:r>
              <a:rPr lang="en-US" dirty="0">
                <a:solidFill>
                  <a:schemeClr val="tx1"/>
                </a:solidFill>
              </a:rPr>
              <a:t> 1. </a:t>
            </a:r>
            <a:r>
              <a:rPr lang="en-US" dirty="0" err="1">
                <a:solidFill>
                  <a:schemeClr val="tx1"/>
                </a:solidFill>
              </a:rPr>
              <a:t>Quartal</a:t>
            </a:r>
            <a:endParaRPr lang="en-US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solidFill>
          <a:schemeClr val="lt1">
            <a:alpha val="27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>
                  <a:lumMod val="75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 prstMaterial="translucentPowder">
              <a:contourClr>
                <a:schemeClr val="accent1">
                  <a:lumMod val="75000"/>
                </a:schemeClr>
              </a:contourClr>
            </a:sp3d>
          </c:spPr>
          <c:invertIfNegative val="0"/>
          <c:cat>
            <c:strRef>
              <c:f>Tabelle1!$A$2:$A$5</c:f>
              <c:strCache>
                <c:ptCount val="4"/>
                <c:pt idx="0">
                  <c:v>Herr Maier</c:v>
                </c:pt>
                <c:pt idx="1">
                  <c:v>Frau Lauer</c:v>
                </c:pt>
                <c:pt idx="2">
                  <c:v>Frau Wieland</c:v>
                </c:pt>
                <c:pt idx="3">
                  <c:v>Herr Schmitt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120</c:v>
                </c:pt>
                <c:pt idx="1">
                  <c:v>126</c:v>
                </c:pt>
                <c:pt idx="2">
                  <c:v>140</c:v>
                </c:pt>
                <c:pt idx="3">
                  <c:v>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6F-489A-99D9-CD031C953E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-578644240"/>
        <c:axId val="-578645328"/>
        <c:axId val="0"/>
      </c:bar3DChart>
      <c:catAx>
        <c:axId val="-5786442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578645328"/>
        <c:crosses val="autoZero"/>
        <c:auto val="1"/>
        <c:lblAlgn val="ctr"/>
        <c:lblOffset val="100"/>
        <c:noMultiLvlLbl val="0"/>
      </c:catAx>
      <c:valAx>
        <c:axId val="-5786453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578644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de-DE" dirty="0">
                <a:solidFill>
                  <a:schemeClr val="tx1"/>
                </a:solidFill>
              </a:rPr>
              <a:t>Bestellungen im Vorjahr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Über Internet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40</c:v>
                </c:pt>
                <c:pt idx="1">
                  <c:v>44</c:v>
                </c:pt>
                <c:pt idx="2">
                  <c:v>50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48-4647-B71E-01F23DE1D5D8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Über Telefon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45</c:v>
                </c:pt>
                <c:pt idx="1">
                  <c:v>40</c:v>
                </c:pt>
                <c:pt idx="2">
                  <c:v>30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48-4647-B71E-01F23DE1D5D8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Über Fax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48-4647-B71E-01F23DE1D5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653125024"/>
        <c:axId val="-653121216"/>
      </c:barChart>
      <c:catAx>
        <c:axId val="-653125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653121216"/>
        <c:crosses val="autoZero"/>
        <c:auto val="1"/>
        <c:lblAlgn val="ctr"/>
        <c:lblOffset val="100"/>
        <c:noMultiLvlLbl val="0"/>
      </c:catAx>
      <c:valAx>
        <c:axId val="-653121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653125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Januar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3"/>
                <c:pt idx="0">
                  <c:v>Einkauf</c:v>
                </c:pt>
                <c:pt idx="1">
                  <c:v>Verkauf</c:v>
                </c:pt>
                <c:pt idx="2">
                  <c:v>Produktion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3"/>
                <c:pt idx="0">
                  <c:v>2171</c:v>
                </c:pt>
                <c:pt idx="1">
                  <c:v>2033</c:v>
                </c:pt>
                <c:pt idx="2">
                  <c:v>2576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9D-4D1C-9A02-AF9702F4BCEF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Februar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3"/>
                <c:pt idx="0">
                  <c:v>Einkauf</c:v>
                </c:pt>
                <c:pt idx="1">
                  <c:v>Verkauf</c:v>
                </c:pt>
                <c:pt idx="2">
                  <c:v>Produktion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3"/>
                <c:pt idx="0">
                  <c:v>2324</c:v>
                </c:pt>
                <c:pt idx="1">
                  <c:v>1875</c:v>
                </c:pt>
                <c:pt idx="2">
                  <c:v>2506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9D-4D1C-9A02-AF9702F4BCEF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März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3"/>
                <c:pt idx="0">
                  <c:v>Einkauf</c:v>
                </c:pt>
                <c:pt idx="1">
                  <c:v>Verkauf</c:v>
                </c:pt>
                <c:pt idx="2">
                  <c:v>Produktion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3"/>
                <c:pt idx="0">
                  <c:v>2348</c:v>
                </c:pt>
                <c:pt idx="1">
                  <c:v>1809</c:v>
                </c:pt>
                <c:pt idx="2">
                  <c:v>2603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89D-4D1C-9A02-AF9702F4BC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578633360"/>
        <c:axId val="-578645872"/>
      </c:barChart>
      <c:catAx>
        <c:axId val="-578633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578645872"/>
        <c:crosses val="autoZero"/>
        <c:auto val="1"/>
        <c:lblAlgn val="ctr"/>
        <c:lblOffset val="100"/>
        <c:noMultiLvlLbl val="0"/>
      </c:catAx>
      <c:valAx>
        <c:axId val="-578645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578633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Tabelle1!$A$2</c:f>
              <c:strCache>
                <c:ptCount val="1"/>
                <c:pt idx="0">
                  <c:v>Einkauf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Tabelle1!$B$1:$D$1</c:f>
              <c:strCache>
                <c:ptCount val="3"/>
                <c:pt idx="0">
                  <c:v>Januar</c:v>
                </c:pt>
                <c:pt idx="1">
                  <c:v>Februar</c:v>
                </c:pt>
                <c:pt idx="2">
                  <c:v>März</c:v>
                </c:pt>
              </c:strCache>
            </c:strRef>
          </c:cat>
          <c:val>
            <c:numRef>
              <c:f>Tabelle1!$B$2:$D$2</c:f>
              <c:numCache>
                <c:formatCode>General</c:formatCode>
                <c:ptCount val="3"/>
                <c:pt idx="0">
                  <c:v>2171</c:v>
                </c:pt>
                <c:pt idx="1">
                  <c:v>2324</c:v>
                </c:pt>
                <c:pt idx="2">
                  <c:v>2348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34-4CE2-8192-031307CF0122}"/>
            </c:ext>
          </c:extLst>
        </c:ser>
        <c:ser>
          <c:idx val="1"/>
          <c:order val="1"/>
          <c:tx>
            <c:strRef>
              <c:f>Tabelle1!$A$3</c:f>
              <c:strCache>
                <c:ptCount val="1"/>
                <c:pt idx="0">
                  <c:v>Verkauf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Tabelle1!$B$1:$D$1</c:f>
              <c:strCache>
                <c:ptCount val="3"/>
                <c:pt idx="0">
                  <c:v>Januar</c:v>
                </c:pt>
                <c:pt idx="1">
                  <c:v>Februar</c:v>
                </c:pt>
                <c:pt idx="2">
                  <c:v>März</c:v>
                </c:pt>
              </c:strCache>
            </c:strRef>
          </c:cat>
          <c:val>
            <c:numRef>
              <c:f>Tabelle1!$B$3:$D$3</c:f>
              <c:numCache>
                <c:formatCode>General</c:formatCode>
                <c:ptCount val="3"/>
                <c:pt idx="0">
                  <c:v>2033</c:v>
                </c:pt>
                <c:pt idx="1">
                  <c:v>1875</c:v>
                </c:pt>
                <c:pt idx="2">
                  <c:v>1809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34-4CE2-8192-031307CF0122}"/>
            </c:ext>
          </c:extLst>
        </c:ser>
        <c:ser>
          <c:idx val="2"/>
          <c:order val="2"/>
          <c:tx>
            <c:strRef>
              <c:f>Tabelle1!$A$4</c:f>
              <c:strCache>
                <c:ptCount val="1"/>
                <c:pt idx="0">
                  <c:v>Marketing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Tabelle1!$B$1:$D$1</c:f>
              <c:strCache>
                <c:ptCount val="3"/>
                <c:pt idx="0">
                  <c:v>Januar</c:v>
                </c:pt>
                <c:pt idx="1">
                  <c:v>Februar</c:v>
                </c:pt>
                <c:pt idx="2">
                  <c:v>März</c:v>
                </c:pt>
              </c:strCache>
            </c:strRef>
          </c:cat>
          <c:val>
            <c:numRef>
              <c:f>Tabelle1!$B$4:$D$4</c:f>
              <c:numCache>
                <c:formatCode>General</c:formatCode>
                <c:ptCount val="3"/>
                <c:pt idx="0">
                  <c:v>2306</c:v>
                </c:pt>
                <c:pt idx="1">
                  <c:v>2210</c:v>
                </c:pt>
                <c:pt idx="2">
                  <c:v>2182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834-4CE2-8192-031307CF0122}"/>
            </c:ext>
          </c:extLst>
        </c:ser>
        <c:ser>
          <c:idx val="3"/>
          <c:order val="3"/>
          <c:tx>
            <c:strRef>
              <c:f>Tabelle1!$A$5</c:f>
              <c:strCache>
                <c:ptCount val="1"/>
                <c:pt idx="0">
                  <c:v>Produktion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Tabelle1!$B$1:$D$1</c:f>
              <c:strCache>
                <c:ptCount val="3"/>
                <c:pt idx="0">
                  <c:v>Januar</c:v>
                </c:pt>
                <c:pt idx="1">
                  <c:v>Februar</c:v>
                </c:pt>
                <c:pt idx="2">
                  <c:v>März</c:v>
                </c:pt>
              </c:strCache>
            </c:strRef>
          </c:cat>
          <c:val>
            <c:numRef>
              <c:f>Tabelle1!$B$5:$D$5</c:f>
              <c:numCache>
                <c:formatCode>General</c:formatCode>
                <c:ptCount val="3"/>
                <c:pt idx="0">
                  <c:v>2576</c:v>
                </c:pt>
                <c:pt idx="1">
                  <c:v>2506</c:v>
                </c:pt>
                <c:pt idx="2">
                  <c:v>2603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834-4CE2-8192-031307CF01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533747392"/>
        <c:axId val="-533739232"/>
      </c:barChart>
      <c:catAx>
        <c:axId val="-533747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533739232"/>
        <c:crosses val="autoZero"/>
        <c:auto val="1"/>
        <c:lblAlgn val="ctr"/>
        <c:lblOffset val="100"/>
        <c:noMultiLvlLbl val="0"/>
      </c:catAx>
      <c:valAx>
        <c:axId val="-533739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\ &quot;€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533747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de-DE" dirty="0">
                <a:solidFill>
                  <a:schemeClr val="tx1"/>
                </a:solidFill>
              </a:rPr>
              <a:t>Variable Kosten im ersten Quartal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Tabelle1!$A$2</c:f>
              <c:strCache>
                <c:ptCount val="1"/>
                <c:pt idx="0">
                  <c:v>Einkauf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Tabelle1!$B$1:$D$1</c:f>
              <c:strCache>
                <c:ptCount val="3"/>
                <c:pt idx="0">
                  <c:v>Januar</c:v>
                </c:pt>
                <c:pt idx="1">
                  <c:v>Februar</c:v>
                </c:pt>
                <c:pt idx="2">
                  <c:v>März</c:v>
                </c:pt>
              </c:strCache>
            </c:strRef>
          </c:cat>
          <c:val>
            <c:numRef>
              <c:f>Tabelle1!$B$2:$D$2</c:f>
              <c:numCache>
                <c:formatCode>"€"#,##0_);[Red]\("€"#,##0\)</c:formatCode>
                <c:ptCount val="3"/>
                <c:pt idx="0">
                  <c:v>436000</c:v>
                </c:pt>
                <c:pt idx="1">
                  <c:v>472000</c:v>
                </c:pt>
                <c:pt idx="2">
                  <c:v>490000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EB-4684-BF69-B5348B4D1908}"/>
            </c:ext>
          </c:extLst>
        </c:ser>
        <c:ser>
          <c:idx val="1"/>
          <c:order val="1"/>
          <c:tx>
            <c:strRef>
              <c:f>Tabelle1!$A$3</c:f>
              <c:strCache>
                <c:ptCount val="1"/>
                <c:pt idx="0">
                  <c:v>Verkauf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Tabelle1!$B$1:$D$1</c:f>
              <c:strCache>
                <c:ptCount val="3"/>
                <c:pt idx="0">
                  <c:v>Januar</c:v>
                </c:pt>
                <c:pt idx="1">
                  <c:v>Februar</c:v>
                </c:pt>
                <c:pt idx="2">
                  <c:v>März</c:v>
                </c:pt>
              </c:strCache>
            </c:strRef>
          </c:cat>
          <c:val>
            <c:numRef>
              <c:f>Tabelle1!$B$3:$D$3</c:f>
              <c:numCache>
                <c:formatCode>"€"#,##0_);[Red]\("€"#,##0\)</c:formatCode>
                <c:ptCount val="3"/>
                <c:pt idx="0">
                  <c:v>660000</c:v>
                </c:pt>
                <c:pt idx="1">
                  <c:v>730000</c:v>
                </c:pt>
                <c:pt idx="2">
                  <c:v>786000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EB-4684-BF69-B5348B4D1908}"/>
            </c:ext>
          </c:extLst>
        </c:ser>
        <c:ser>
          <c:idx val="2"/>
          <c:order val="2"/>
          <c:tx>
            <c:strRef>
              <c:f>Tabelle1!$A$4</c:f>
              <c:strCache>
                <c:ptCount val="1"/>
                <c:pt idx="0">
                  <c:v>Produktion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Tabelle1!$B$1:$D$1</c:f>
              <c:strCache>
                <c:ptCount val="3"/>
                <c:pt idx="0">
                  <c:v>Januar</c:v>
                </c:pt>
                <c:pt idx="1">
                  <c:v>Februar</c:v>
                </c:pt>
                <c:pt idx="2">
                  <c:v>März</c:v>
                </c:pt>
              </c:strCache>
            </c:strRef>
          </c:cat>
          <c:val>
            <c:numRef>
              <c:f>Tabelle1!$B$4:$D$4</c:f>
              <c:numCache>
                <c:formatCode>"€"#,##0_);[Red]\("€"#,##0\)</c:formatCode>
                <c:ptCount val="3"/>
                <c:pt idx="0">
                  <c:v>498000</c:v>
                </c:pt>
                <c:pt idx="1">
                  <c:v>624000</c:v>
                </c:pt>
                <c:pt idx="2">
                  <c:v>648000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EB-4684-BF69-B5348B4D19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528466160"/>
        <c:axId val="-528465616"/>
      </c:barChart>
      <c:catAx>
        <c:axId val="-5284661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528465616"/>
        <c:crosses val="autoZero"/>
        <c:auto val="1"/>
        <c:lblAlgn val="ctr"/>
        <c:lblOffset val="100"/>
        <c:noMultiLvlLbl val="0"/>
      </c:catAx>
      <c:valAx>
        <c:axId val="-528465616"/>
        <c:scaling>
          <c:orientation val="minMax"/>
          <c:max val="80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€&quot;#,##0_);[Red]\(&quot;€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528466160"/>
        <c:crosses val="autoZero"/>
        <c:crossBetween val="between"/>
        <c:majorUnit val="200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Januar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Einkauf</c:v>
                </c:pt>
                <c:pt idx="1">
                  <c:v>Verkauf</c:v>
                </c:pt>
                <c:pt idx="2">
                  <c:v>Marketing</c:v>
                </c:pt>
                <c:pt idx="3">
                  <c:v>Produktion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2171</c:v>
                </c:pt>
                <c:pt idx="1">
                  <c:v>2033</c:v>
                </c:pt>
                <c:pt idx="2">
                  <c:v>2306</c:v>
                </c:pt>
                <c:pt idx="3">
                  <c:v>2576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7D-431A-962C-87C7E1E52412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Februar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Einkauf</c:v>
                </c:pt>
                <c:pt idx="1">
                  <c:v>Verkauf</c:v>
                </c:pt>
                <c:pt idx="2">
                  <c:v>Marketing</c:v>
                </c:pt>
                <c:pt idx="3">
                  <c:v>Produktion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2324</c:v>
                </c:pt>
                <c:pt idx="1">
                  <c:v>1875</c:v>
                </c:pt>
                <c:pt idx="2">
                  <c:v>2210</c:v>
                </c:pt>
                <c:pt idx="3">
                  <c:v>2506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7D-431A-962C-87C7E1E52412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März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Einkauf</c:v>
                </c:pt>
                <c:pt idx="1">
                  <c:v>Verkauf</c:v>
                </c:pt>
                <c:pt idx="2">
                  <c:v>Marketing</c:v>
                </c:pt>
                <c:pt idx="3">
                  <c:v>Produktion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2348</c:v>
                </c:pt>
                <c:pt idx="1">
                  <c:v>1809</c:v>
                </c:pt>
                <c:pt idx="2">
                  <c:v>2182</c:v>
                </c:pt>
                <c:pt idx="3">
                  <c:v>2603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27D-431A-962C-87C7E1E524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388817440"/>
        <c:axId val="-388816896"/>
      </c:barChart>
      <c:catAx>
        <c:axId val="-388817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388816896"/>
        <c:crosses val="autoZero"/>
        <c:auto val="1"/>
        <c:lblAlgn val="ctr"/>
        <c:lblOffset val="100"/>
        <c:noMultiLvlLbl val="0"/>
      </c:catAx>
      <c:valAx>
        <c:axId val="-388816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\ &quot;€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-388817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dirty="0">
                <a:latin typeface="Arial Black" panose="020B0A04020102020204" pitchFamily="34" charset="0"/>
              </a:rPr>
              <a:t>Optimale Nährstoffverteilung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Optimale Nährstoffverteilung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578-4F5E-871B-E9C0014736C7}"/>
              </c:ext>
            </c:extLst>
          </c:dPt>
          <c:dPt>
            <c:idx val="1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578-4F5E-871B-E9C0014736C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578-4F5E-871B-E9C0014736C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de-DE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Tabelle1!$A$2:$A$4</c:f>
              <c:strCache>
                <c:ptCount val="3"/>
                <c:pt idx="0">
                  <c:v>Eiweiß</c:v>
                </c:pt>
                <c:pt idx="1">
                  <c:v>Kohlenhydrate</c:v>
                </c:pt>
                <c:pt idx="2">
                  <c:v>Fett</c:v>
                </c:pt>
              </c:strCache>
            </c:strRef>
          </c:cat>
          <c:val>
            <c:numRef>
              <c:f>Tabelle1!$B$2:$B$4</c:f>
              <c:numCache>
                <c:formatCode>General</c:formatCode>
                <c:ptCount val="3"/>
                <c:pt idx="0">
                  <c:v>15</c:v>
                </c:pt>
                <c:pt idx="1">
                  <c:v>55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78-4F5E-871B-E9C0014736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2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>
            <a:lumMod val="75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>
            <a:lumMod val="75000"/>
          </a:schemeClr>
        </a:solidFill>
      </a:ln>
      <a:scene3d>
        <a:camera prst="orthographicFront"/>
        <a:lightRig rig="threePt" dir="t"/>
      </a:scene3d>
      <a:sp3d prstMaterial="translucentPowder"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  <a:ln>
        <a:solidFill>
          <a:schemeClr val="phClr">
            <a:lumMod val="75000"/>
          </a:schemeClr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solidFill>
        <a:schemeClr val="lt1">
          <a:alpha val="27000"/>
        </a:schemeClr>
      </a:solidFill>
      <a:sp3d/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0" kern="1200" cap="none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sp3d/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A2D8-A5EC-4250-ACA3-8E5D06B876DF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F6E6-3974-4361-A509-DEAC31D4E5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233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A2D8-A5EC-4250-ACA3-8E5D06B876DF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F6E6-3974-4361-A509-DEAC31D4E5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7327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A2D8-A5EC-4250-ACA3-8E5D06B876DF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F6E6-3974-4361-A509-DEAC31D4E5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0702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A2D8-A5EC-4250-ACA3-8E5D06B876DF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F6E6-3974-4361-A509-DEAC31D4E5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8886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A2D8-A5EC-4250-ACA3-8E5D06B876DF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F6E6-3974-4361-A509-DEAC31D4E5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4077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A2D8-A5EC-4250-ACA3-8E5D06B876DF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F6E6-3974-4361-A509-DEAC31D4E5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41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A2D8-A5EC-4250-ACA3-8E5D06B876DF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F6E6-3974-4361-A509-DEAC31D4E5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1339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A2D8-A5EC-4250-ACA3-8E5D06B876DF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F6E6-3974-4361-A509-DEAC31D4E5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7518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A2D8-A5EC-4250-ACA3-8E5D06B876DF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F6E6-3974-4361-A509-DEAC31D4E5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1684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A2D8-A5EC-4250-ACA3-8E5D06B876DF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F6E6-3974-4361-A509-DEAC31D4E5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7872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5A2D8-A5EC-4250-ACA3-8E5D06B876DF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CF6E6-3974-4361-A509-DEAC31D4E5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4246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5A2D8-A5EC-4250-ACA3-8E5D06B876DF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CF6E6-3974-4361-A509-DEAC31D4E51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8031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Inhaltsplatzhalt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9585445"/>
              </p:ext>
            </p:extLst>
          </p:nvPr>
        </p:nvGraphicFramePr>
        <p:xfrm>
          <a:off x="1864895" y="1119771"/>
          <a:ext cx="8048223" cy="4665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47437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62465420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31041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m 6"/>
          <p:cNvGraphicFramePr/>
          <p:nvPr>
            <p:extLst>
              <p:ext uri="{D42A27DB-BD31-4B8C-83A1-F6EECF244321}">
                <p14:modId xmlns:p14="http://schemas.microsoft.com/office/powerpoint/2010/main" val="364740026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20559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302533236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65703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84247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20781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867831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10299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392513617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62799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31997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68587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Inhaltsplatzhalt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366252"/>
              </p:ext>
            </p:extLst>
          </p:nvPr>
        </p:nvGraphicFramePr>
        <p:xfrm>
          <a:off x="769189" y="134254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52903713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Breitbild</PresentationFormat>
  <Paragraphs>8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Laura Thomas</dc:creator>
  <cp:lastModifiedBy>O. Grill</cp:lastModifiedBy>
  <cp:revision>18</cp:revision>
  <dcterms:created xsi:type="dcterms:W3CDTF">2013-02-04T12:28:57Z</dcterms:created>
  <dcterms:modified xsi:type="dcterms:W3CDTF">2016-05-17T15:38:59Z</dcterms:modified>
</cp:coreProperties>
</file>