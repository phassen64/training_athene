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27" r:id="rId4"/>
  </p:sldMasterIdLst>
  <p:notesMasterIdLst>
    <p:notesMasterId r:id="rId35"/>
  </p:notesMasterIdLst>
  <p:handoutMasterIdLst>
    <p:handoutMasterId r:id="rId36"/>
  </p:handoutMasterIdLst>
  <p:sldIdLst>
    <p:sldId id="274" r:id="rId5"/>
    <p:sldId id="272" r:id="rId6"/>
    <p:sldId id="275" r:id="rId7"/>
    <p:sldId id="297" r:id="rId8"/>
    <p:sldId id="290" r:id="rId9"/>
    <p:sldId id="295" r:id="rId10"/>
    <p:sldId id="296" r:id="rId11"/>
    <p:sldId id="292" r:id="rId12"/>
    <p:sldId id="298" r:id="rId13"/>
    <p:sldId id="316" r:id="rId14"/>
    <p:sldId id="299" r:id="rId15"/>
    <p:sldId id="300" r:id="rId16"/>
    <p:sldId id="301" r:id="rId17"/>
    <p:sldId id="302" r:id="rId18"/>
    <p:sldId id="278" r:id="rId19"/>
    <p:sldId id="303" r:id="rId20"/>
    <p:sldId id="304" r:id="rId21"/>
    <p:sldId id="314" r:id="rId22"/>
    <p:sldId id="276" r:id="rId23"/>
    <p:sldId id="305" r:id="rId24"/>
    <p:sldId id="306" r:id="rId25"/>
    <p:sldId id="307" r:id="rId26"/>
    <p:sldId id="308" r:id="rId27"/>
    <p:sldId id="309" r:id="rId28"/>
    <p:sldId id="310" r:id="rId29"/>
    <p:sldId id="311" r:id="rId30"/>
    <p:sldId id="312" r:id="rId31"/>
    <p:sldId id="317" r:id="rId32"/>
    <p:sldId id="315" r:id="rId33"/>
    <p:sldId id="271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ter Vorenkamp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764"/>
    <a:srgbClr val="009DDC"/>
    <a:srgbClr val="E71854"/>
    <a:srgbClr val="FAD02C"/>
    <a:srgbClr val="FAAF41"/>
    <a:srgbClr val="198CA8"/>
    <a:srgbClr val="2466AC"/>
    <a:srgbClr val="D1D2D3"/>
    <a:srgbClr val="F05A2B"/>
    <a:srgbClr val="1D38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110" d="100"/>
          <a:sy n="110" d="100"/>
        </p:scale>
        <p:origin x="114" y="118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2"/>
        <a:sy n="1" d="2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05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F75AEF-6AF8-074D-A4DB-F71FD6F9C37D}" type="datetimeFigureOut">
              <a:rPr lang="en-US" smtClean="0"/>
              <a:t>9/17/2025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5D9A6D-5233-6641-90BA-8328590F05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546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AE85D-3A3F-7B46-A18E-DF160D9D2CC7}" type="datetimeFigureOut">
              <a:rPr lang="en-US" smtClean="0"/>
              <a:t>9/17/2025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DDA35F-9E58-5D40-92C1-D8C7631003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3101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rse 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5900" y="1302040"/>
            <a:ext cx="11280200" cy="4131352"/>
          </a:xfrm>
          <a:prstGeom prst="rect">
            <a:avLst/>
          </a:prstGeom>
        </p:spPr>
        <p:txBody>
          <a:bodyPr numCol="2" spcCol="137160"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rabicPeriod"/>
              <a:tabLst/>
              <a:defRPr sz="1800" baseline="0">
                <a:sym typeface="Wingdings" panose="05000000000000000000" pitchFamily="2" charset="2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rabicPeriod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rabicPeriod"/>
              <a:tabLst/>
              <a:defRPr sz="1400"/>
            </a:lvl3pPr>
          </a:lstStyle>
          <a:p>
            <a:pPr marL="173038" lvl="0" indent="-173038"/>
            <a:r>
              <a:rPr lang="en-US" dirty="0"/>
              <a:t>Click to add text. If you have &lt;12 lessons, select </a:t>
            </a:r>
            <a:r>
              <a:rPr lang="en-US" dirty="0" err="1"/>
              <a:t>HomeAdd</a:t>
            </a:r>
            <a:r>
              <a:rPr lang="en-US" dirty="0"/>
              <a:t> or Remove </a:t>
            </a:r>
            <a:r>
              <a:rPr lang="en-US" dirty="0" err="1"/>
              <a:t>ColumnsOne</a:t>
            </a:r>
            <a:r>
              <a:rPr lang="en-US" dirty="0"/>
              <a:t> Column to prevent wrapping issues with long titles.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278899" cy="944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“Course Outline: [Course Title]”</a:t>
            </a:r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11CA89CD-FB39-834A-B366-6013C2849C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770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sson 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5900" y="1302040"/>
            <a:ext cx="11280200" cy="4131352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lphaUcPeriod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lphaUcPeriod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lphaUcPeriod"/>
              <a:tabLst/>
              <a:defRPr sz="1400"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278899" cy="944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Lesson title</a:t>
            </a:r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11CA89CD-FB39-834A-B366-6013C2849C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119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, rectangle&#10;&#10;Description automatically generated">
            <a:extLst>
              <a:ext uri="{FF2B5EF4-FFF2-40B4-BE49-F238E27FC236}">
                <a16:creationId xmlns:a16="http://schemas.microsoft.com/office/drawing/2014/main" id="{D770E60D-FD97-4043-81F1-289AA5E51D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6D59A8F-E744-4482-BF05-F930781695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3235643"/>
            <a:ext cx="10363200" cy="1362075"/>
          </a:xfrm>
        </p:spPr>
        <p:txBody>
          <a:bodyPr anchor="ctr"/>
          <a:lstStyle>
            <a:lvl1pPr marL="0" indent="0" algn="ctr">
              <a:buNone/>
              <a:defRPr sz="4400" b="1" cap="all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topic title</a:t>
            </a:r>
          </a:p>
        </p:txBody>
      </p:sp>
      <p:pic>
        <p:nvPicPr>
          <p:cNvPr id="8" name="Picture 7" descr="A group of black and white text&#10;&#10;Description automatically generated with medium confidence">
            <a:extLst>
              <a:ext uri="{FF2B5EF4-FFF2-40B4-BE49-F238E27FC236}">
                <a16:creationId xmlns:a16="http://schemas.microsoft.com/office/drawing/2014/main" id="{18AA9BFF-9ED8-2D40-92F4-996C75C1C1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05975" y="6424777"/>
            <a:ext cx="2076450" cy="286880"/>
          </a:xfrm>
          <a:prstGeom prst="rect">
            <a:avLst/>
          </a:prstGeom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BB1E05F0-CFAF-A446-AE72-71681949D9CF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EF71B82E-1518-9342-B652-C27727A4163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61921" y="853440"/>
            <a:ext cx="6879270" cy="2334261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086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5900" y="1302040"/>
            <a:ext cx="11280200" cy="4920960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289059" cy="944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add title</a:t>
            </a:r>
          </a:p>
        </p:txBody>
      </p: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0A037335-1258-EF45-B44C-2F4D9BFDCF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048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F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DF39B6-089A-D744-B207-90D8B780B7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5900" y="1302040"/>
            <a:ext cx="5165411" cy="4920960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289059" cy="944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add title</a:t>
            </a:r>
          </a:p>
        </p:txBody>
      </p:sp>
      <p:pic>
        <p:nvPicPr>
          <p:cNvPr id="11" name="Picture 10" descr="A group of black and white text&#10;&#10;Description automatically generated with medium confidence">
            <a:extLst>
              <a:ext uri="{FF2B5EF4-FFF2-40B4-BE49-F238E27FC236}">
                <a16:creationId xmlns:a16="http://schemas.microsoft.com/office/drawing/2014/main" id="{76BA429E-88B1-B942-9C74-1AB5F33A3C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03674" y="6438275"/>
            <a:ext cx="1881052" cy="259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128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68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E0645ACB-515B-844F-A6FE-5A9C2CC912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A group of black and white text&#10;&#10;Description automatically generated with medium confidence">
            <a:extLst>
              <a:ext uri="{FF2B5EF4-FFF2-40B4-BE49-F238E27FC236}">
                <a16:creationId xmlns:a16="http://schemas.microsoft.com/office/drawing/2014/main" id="{127A344B-E698-2E47-A734-E1CE134147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05975" y="6424777"/>
            <a:ext cx="2076450" cy="2868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40155" y="2785873"/>
            <a:ext cx="10511691" cy="1286256"/>
          </a:xfrm>
        </p:spPr>
        <p:txBody>
          <a:bodyPr/>
          <a:lstStyle>
            <a:lvl1pPr algn="ctr">
              <a:defRPr sz="44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A2CE11F-9E63-044F-B02D-D030806CCD69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72144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rner F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319539" cy="955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5900" y="1302043"/>
            <a:ext cx="11280200" cy="4481345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EA977C3C-812B-204B-BEB0-8F3E056FBA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403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lossary Term Definition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3EEA2D-3653-2F41-934A-ED2CDFD988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897811" y="2062480"/>
            <a:ext cx="7522234" cy="4265168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800" baseline="0">
                <a:solidFill>
                  <a:schemeClr val="bg1"/>
                </a:solidFill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600" baseline="0">
                <a:solidFill>
                  <a:schemeClr val="bg1"/>
                </a:solidFill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>
                <a:solidFill>
                  <a:schemeClr val="bg1"/>
                </a:solidFill>
              </a:defRPr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901628" y="290945"/>
            <a:ext cx="7501317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1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FB19520-E82C-4B3B-A166-692B3551D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01628" y="1233054"/>
            <a:ext cx="7501317" cy="748145"/>
          </a:xfrm>
        </p:spPr>
        <p:txBody>
          <a:bodyPr anchor="ctr"/>
          <a:lstStyle>
            <a:lvl1pPr marL="0" indent="0" algn="l" defTabSz="457200" rtl="0" eaLnBrk="1" latinLnBrk="0" hangingPunct="1">
              <a:spcBef>
                <a:spcPts val="800"/>
              </a:spcBef>
              <a:buClr>
                <a:schemeClr val="accent1"/>
              </a:buClr>
              <a:buFont typeface="Arial"/>
              <a:buNone/>
              <a:defRPr lang="en-US" sz="1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Term: definition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DBC76ED-A26D-C915-C6F2-CA8D08AE0CE3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473669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lossary Term Definition Blank (No Pers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275A0B-1F78-74D0-927E-F2822A141A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897811" y="2062480"/>
            <a:ext cx="7522234" cy="4265168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800" baseline="0">
                <a:solidFill>
                  <a:schemeClr val="bg1"/>
                </a:solidFill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600" baseline="0">
                <a:solidFill>
                  <a:schemeClr val="bg1"/>
                </a:solidFill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>
                <a:solidFill>
                  <a:schemeClr val="bg1"/>
                </a:solidFill>
              </a:defRPr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901628" y="290945"/>
            <a:ext cx="7501317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1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FB19520-E82C-4B3B-A166-692B3551D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01628" y="1233054"/>
            <a:ext cx="7501317" cy="748145"/>
          </a:xfrm>
        </p:spPr>
        <p:txBody>
          <a:bodyPr anchor="ctr"/>
          <a:lstStyle>
            <a:lvl1pPr marL="0" indent="0" algn="l" defTabSz="457200" rtl="0" eaLnBrk="1" latinLnBrk="0" hangingPunct="1">
              <a:spcBef>
                <a:spcPts val="800"/>
              </a:spcBef>
              <a:buClr>
                <a:schemeClr val="accent1"/>
              </a:buClr>
              <a:buFont typeface="Arial"/>
              <a:buNone/>
              <a:defRPr lang="en-US" sz="1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Term: definition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DBC76ED-A26D-C915-C6F2-CA8D08AE0CE3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53816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ssary Term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BE99981-5C84-844C-A6A7-26590EE3D7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A0FABA5-3959-4ECC-BCAF-965B5087E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1653" y="0"/>
            <a:ext cx="7349705" cy="1397000"/>
          </a:xfrm>
        </p:spPr>
        <p:txBody>
          <a:bodyPr/>
          <a:lstStyle>
            <a:lvl1pPr>
              <a:defRPr sz="2800" b="1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A169CA63-D23E-4494-8445-3335F13F19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905" y="2156604"/>
            <a:ext cx="7349705" cy="2649076"/>
          </a:xfrm>
        </p:spPr>
        <p:txBody>
          <a:bodyPr anchor="ctr"/>
          <a:lstStyle>
            <a:lvl1pPr marL="0" indent="0" algn="l" defTabSz="457200" rtl="0" eaLnBrk="1" latinLnBrk="0" hangingPunct="1">
              <a:spcBef>
                <a:spcPts val="800"/>
              </a:spcBef>
              <a:buClr>
                <a:schemeClr val="accent1"/>
              </a:buClr>
              <a:buFont typeface="Arial"/>
              <a:buNone/>
              <a:defRPr lang="en-US" sz="2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Term: definition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E2D1A8F-30B0-61E3-A62C-B4E601433CDC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868926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ssary Terms Only (No Pers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9156FEA-E1F8-A943-34A7-D4AE081AD0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A0FABA5-3959-4ECC-BCAF-965B5087E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1653" y="0"/>
            <a:ext cx="7349705" cy="1397000"/>
          </a:xfrm>
        </p:spPr>
        <p:txBody>
          <a:bodyPr/>
          <a:lstStyle>
            <a:lvl1pPr>
              <a:defRPr sz="2800" b="1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A169CA63-D23E-4494-8445-3335F13F19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905" y="2156604"/>
            <a:ext cx="7349705" cy="2649076"/>
          </a:xfrm>
        </p:spPr>
        <p:txBody>
          <a:bodyPr anchor="ctr"/>
          <a:lstStyle>
            <a:lvl1pPr marL="0" indent="0" algn="l" defTabSz="457200" rtl="0" eaLnBrk="1" latinLnBrk="0" hangingPunct="1">
              <a:spcBef>
                <a:spcPts val="800"/>
              </a:spcBef>
              <a:buClr>
                <a:schemeClr val="accent1"/>
              </a:buClr>
              <a:buFont typeface="Arial"/>
              <a:buNone/>
              <a:defRPr lang="en-US" sz="2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Term: definition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C986B9-52B9-A23D-629A-936960BA9537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6787371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s-On Activ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C9B9BA-D0BE-5C45-93C2-C0597F00D0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02FDC18-07C2-8E4C-A0AD-E0A207C9B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1449" y="1302040"/>
            <a:ext cx="6957694" cy="4073524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7818D182-A7CC-CC43-B849-8EF89FE6B8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0306" y="290945"/>
            <a:ext cx="6986571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ADD ACTIVITY TITLE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844C451-2A23-712B-69C9-72B95AABEF46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6851393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s-On Activit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6E9A21-B09E-3042-A581-B6A6316B25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8C1E330-78E3-8C4C-BFD6-B2109EC92F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2831" y="1510146"/>
            <a:ext cx="6927274" cy="2105890"/>
          </a:xfrm>
        </p:spPr>
        <p:txBody>
          <a:bodyPr anchor="ctr"/>
          <a:lstStyle>
            <a:lvl1pPr marL="0" indent="0" algn="ctr">
              <a:buNone/>
              <a:defRPr sz="4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ACTIVITY: TITLE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854BA7C-0CF2-7491-2AF6-A9807C75BDD3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64503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s-On Activ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5F8399-FFF5-714D-8FE2-89A7788522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083366" y="1302040"/>
            <a:ext cx="7245626" cy="4073524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67F3FAEE-EBB5-8F41-9D49-C3A289C7D7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223" y="290945"/>
            <a:ext cx="7275698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1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ACTIVITY TITLE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36B59A8-0284-7432-CE8D-4D17DDCF2918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646746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s-On Activit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CA4131-5CC5-0446-9EA8-4C9F6E974B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915AE6-89DC-4B00-95C2-C09677B47D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5236" y="1510146"/>
            <a:ext cx="6927274" cy="2105890"/>
          </a:xfrm>
        </p:spPr>
        <p:txBody>
          <a:bodyPr anchor="ctr"/>
          <a:lstStyle>
            <a:lvl1pPr marL="0" indent="0" algn="ctr"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ACTIVITY: TITLE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7B0B4EB-6E3F-B864-1C37-2341FA1B9631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49041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lective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2495DB-8197-C747-9D12-B9B16AD790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39B97F-4B6B-4623-8514-D7FD629FE2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5236" y="1302042"/>
            <a:ext cx="8065601" cy="3461344"/>
          </a:xfrm>
        </p:spPr>
        <p:txBody>
          <a:bodyPr/>
          <a:lstStyle>
            <a:lvl1pPr>
              <a:spcAft>
                <a:spcPts val="2400"/>
              </a:spcAft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/>
            </a:lvl2pPr>
            <a:lvl3pPr marL="1257300" indent="-342900">
              <a:buFont typeface="+mj-lt"/>
              <a:buAutoNum type="arabicPeriod"/>
              <a:defRPr/>
            </a:lvl3pPr>
            <a:lvl4pPr marL="1828800" indent="-457200">
              <a:buFont typeface="+mj-lt"/>
              <a:buAutoNum type="arabicPeriod"/>
              <a:defRPr/>
            </a:lvl4pPr>
            <a:lvl5pPr marL="2286000" indent="-457200"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Insert Question #1</a:t>
            </a:r>
          </a:p>
          <a:p>
            <a:pPr lvl="0"/>
            <a:r>
              <a:rPr lang="en-US" dirty="0"/>
              <a:t>Insert Question #2</a:t>
            </a:r>
          </a:p>
          <a:p>
            <a:pPr lvl="0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81B051-CC06-447C-AEEE-4E1DE7CB3684}"/>
              </a:ext>
            </a:extLst>
          </p:cNvPr>
          <p:cNvSpPr txBox="1"/>
          <p:nvPr userDrawn="1"/>
        </p:nvSpPr>
        <p:spPr>
          <a:xfrm>
            <a:off x="997528" y="462617"/>
            <a:ext cx="8672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Calibri" panose="020F0502020204030204" pitchFamily="34" charset="0"/>
              </a:rPr>
              <a:t>REFLECTIVE QUESTIONS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97E4E289-495F-C56C-3DB1-9244A1D22084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3643222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6017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265D8D75-6CEC-F848-822E-BF7A0AFAF0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2667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No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193AA2-F1FD-415B-809F-52E7D4576B38}"/>
              </a:ext>
            </a:extLst>
          </p:cNvPr>
          <p:cNvSpPr/>
          <p:nvPr userDrawn="1"/>
        </p:nvSpPr>
        <p:spPr>
          <a:xfrm>
            <a:off x="0" y="1"/>
            <a:ext cx="12192000" cy="979749"/>
          </a:xfrm>
          <a:prstGeom prst="rect">
            <a:avLst/>
          </a:prstGeom>
          <a:solidFill>
            <a:schemeClr val="bg2"/>
          </a:solidFill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/>
            <a:endParaRPr lang="en-US" sz="1100" b="1" kern="0" dirty="0" err="1">
              <a:solidFill>
                <a:srgbClr val="FF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89535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5BA03AB-6813-664D-B697-5FFAF521D1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0745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>
            <a:noAutofit/>
          </a:bodyPr>
          <a:lstStyle>
            <a:lvl1pPr marL="0" indent="0" algn="l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05292730-C4A0-C547-BA9D-56A0205CD9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7343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3297" y="0"/>
            <a:ext cx="10397067" cy="955040"/>
          </a:xfrm>
        </p:spPr>
        <p:txBody>
          <a:bodyPr anchor="ctr" anchorCtr="0">
            <a:no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435103"/>
            <a:ext cx="6815667" cy="4691063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49EAFBBC-2C9E-1241-84D4-E9756B6DE5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627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956904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13694"/>
            <a:ext cx="7315200" cy="3770187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52364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4F6FF233-EB40-BE4E-8AC9-9CA2504D2A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0540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728CC025-3396-904D-927D-1DFCABD646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8597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839200" y="1211385"/>
            <a:ext cx="2743200" cy="4914778"/>
          </a:xfrm>
        </p:spPr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11385"/>
            <a:ext cx="8026400" cy="491477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2D64BF27-2D44-684C-892F-6C15A97C68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504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253B76-2A7A-7948-8D60-7A6A79959BAB}"/>
              </a:ext>
            </a:extLst>
          </p:cNvPr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0" y="0"/>
            <a:ext cx="12192000" cy="9779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5901" y="0"/>
            <a:ext cx="11284154" cy="9655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900" y="1307130"/>
            <a:ext cx="11280203" cy="49354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43741" y="645564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C4C4C4"/>
                </a:solidFill>
                <a:latin typeface="Arial"/>
                <a:cs typeface="Arial"/>
              </a:defRPr>
            </a:lvl1pPr>
          </a:lstStyle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2"/>
          <p:cNvSpPr txBox="1">
            <a:spLocks/>
          </p:cNvSpPr>
          <p:nvPr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70488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71" r:id="rId2"/>
    <p:sldLayoutId id="2147483948" r:id="rId3"/>
    <p:sldLayoutId id="2147483952" r:id="rId4"/>
    <p:sldLayoutId id="2147483970" r:id="rId5"/>
    <p:sldLayoutId id="2147483938" r:id="rId6"/>
    <p:sldLayoutId id="2147483953" r:id="rId7"/>
    <p:sldLayoutId id="2147483931" r:id="rId8"/>
    <p:sldLayoutId id="2147483932" r:id="rId9"/>
    <p:sldLayoutId id="2147483972" r:id="rId10"/>
    <p:sldLayoutId id="2147483951" r:id="rId11"/>
    <p:sldLayoutId id="2147483973" r:id="rId12"/>
    <p:sldLayoutId id="2147483936" r:id="rId13"/>
    <p:sldLayoutId id="2147483937" r:id="rId14"/>
    <p:sldLayoutId id="2147483934" r:id="rId15"/>
    <p:sldLayoutId id="2147483935" r:id="rId16"/>
    <p:sldLayoutId id="2147483939" r:id="rId17"/>
    <p:sldLayoutId id="2147483940" r:id="rId18"/>
    <p:sldLayoutId id="2147483955" r:id="rId19"/>
    <p:sldLayoutId id="2147483950" r:id="rId20"/>
    <p:sldLayoutId id="2147483942" r:id="rId21"/>
    <p:sldLayoutId id="2147483943" r:id="rId22"/>
    <p:sldLayoutId id="2147483944" r:id="rId23"/>
    <p:sldLayoutId id="2147483945" r:id="rId24"/>
    <p:sldLayoutId id="2147483946" r:id="rId25"/>
    <p:sldLayoutId id="2147483947" r:id="rId2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400" kern="1200">
          <a:solidFill>
            <a:schemeClr val="bg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sv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12" Type="http://schemas.openxmlformats.org/officeDocument/2006/relationships/image" Target="../media/image3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B930264-38DA-BC9C-68BC-0CF65B429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Business Strategies for Generative AI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E0B37D-3949-E27E-3673-0005E7446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</a:t>
            </a:fld>
            <a:endParaRPr lang="en-US" dirty="0"/>
          </a:p>
        </p:txBody>
      </p:sp>
      <p:pic>
        <p:nvPicPr>
          <p:cNvPr id="3" name="Picture Placeholder 7">
            <a:extLst>
              <a:ext uri="{FF2B5EF4-FFF2-40B4-BE49-F238E27FC236}">
                <a16:creationId xmlns:a16="http://schemas.microsoft.com/office/drawing/2014/main" id="{70D2C956-A91F-C643-216C-09D656278C1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72567" b="-72567"/>
          <a:stretch/>
        </p:blipFill>
        <p:spPr>
          <a:xfrm>
            <a:off x="2661921" y="853440"/>
            <a:ext cx="6879270" cy="233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969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50B8F3-0016-E59A-C0E4-EC70E0458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F10FD-C378-B6A8-A103-7FE29B153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Apply Best Practices for Generative AI in the Organization</a:t>
            </a:r>
          </a:p>
          <a:p>
            <a:r>
              <a:rPr lang="en-US" dirty="0"/>
              <a:t>Evaluate the Results of Generative AI Projects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7CED616-3DD2-D1ED-621C-21462FCDA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Business Strategies for Generative AI</a:t>
            </a:r>
          </a:p>
        </p:txBody>
      </p:sp>
    </p:spTree>
    <p:extLst>
      <p:ext uri="{BB962C8B-B14F-4D97-AF65-F5344CB8AC3E}">
        <p14:creationId xmlns:p14="http://schemas.microsoft.com/office/powerpoint/2010/main" val="2728141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1C4CFB-1ACB-A14F-B6A4-435DA7645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926C4-B76F-6740-B2D3-3C573DAFAA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Apply Best Practices for Generative AI in the Organization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92653528-72C9-FF13-9DEF-8130F8485E4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72567" b="-72567"/>
          <a:stretch/>
        </p:blipFill>
        <p:spPr/>
      </p:pic>
    </p:spTree>
    <p:extLst>
      <p:ext uri="{BB962C8B-B14F-4D97-AF65-F5344CB8AC3E}">
        <p14:creationId xmlns:p14="http://schemas.microsoft.com/office/powerpoint/2010/main" val="1063645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48352A-6237-2087-DB45-C61EF8F3E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B5195-7DC1-C6B2-4750-3B55BA15F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Scope</a:t>
            </a:r>
          </a:p>
          <a:p>
            <a:r>
              <a:rPr lang="en-US" dirty="0"/>
              <a:t>Strategy</a:t>
            </a:r>
          </a:p>
          <a:p>
            <a:r>
              <a:rPr lang="en-US" dirty="0"/>
              <a:t>Goals</a:t>
            </a:r>
          </a:p>
          <a:p>
            <a:r>
              <a:rPr lang="en-US" dirty="0"/>
              <a:t>Objectives</a:t>
            </a:r>
          </a:p>
          <a:p>
            <a:r>
              <a:rPr lang="en-US" dirty="0"/>
              <a:t>Requirements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D00987-AE4F-1374-7127-955B427D5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Project Factors</a:t>
            </a:r>
          </a:p>
        </p:txBody>
      </p:sp>
      <p:pic>
        <p:nvPicPr>
          <p:cNvPr id="6" name="Picture 5" descr="A group of people in a meeting&#10;&#10;Description automatically generated with medium confidence">
            <a:extLst>
              <a:ext uri="{FF2B5EF4-FFF2-40B4-BE49-F238E27FC236}">
                <a16:creationId xmlns:a16="http://schemas.microsoft.com/office/drawing/2014/main" id="{2B064701-7147-94FE-64FD-43587B040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1929384"/>
            <a:ext cx="5558540" cy="3346704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455074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4EEB4D-4115-AFD2-3F3E-AAA734589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E3D1E6-C2EA-D4C8-1258-422DCC3A1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Generative solutions must align to initiatives/strategies.</a:t>
            </a:r>
          </a:p>
          <a:p>
            <a:pPr lvl="1"/>
            <a:r>
              <a:rPr lang="en-US" dirty="0"/>
              <a:t>Otherwise, they won't bring much value.</a:t>
            </a:r>
          </a:p>
          <a:p>
            <a:pPr lvl="1"/>
            <a:r>
              <a:rPr lang="en-US" dirty="0"/>
              <a:t>Could also be disastrous if not aligned.</a:t>
            </a:r>
          </a:p>
          <a:p>
            <a:r>
              <a:rPr lang="en-US" dirty="0"/>
              <a:t>Example: Digital transformation.</a:t>
            </a:r>
          </a:p>
          <a:p>
            <a:pPr lvl="1"/>
            <a:r>
              <a:rPr lang="en-US" dirty="0"/>
              <a:t>Org seeks change through digital technologies.</a:t>
            </a:r>
          </a:p>
          <a:p>
            <a:pPr lvl="1"/>
            <a:r>
              <a:rPr lang="en-US" dirty="0"/>
              <a:t>Generative AI fulfills initiative objectives.</a:t>
            </a:r>
          </a:p>
          <a:p>
            <a:r>
              <a:rPr lang="en-US" dirty="0"/>
              <a:t>Other relevant initiatives:</a:t>
            </a:r>
          </a:p>
          <a:p>
            <a:pPr lvl="1"/>
            <a:r>
              <a:rPr lang="en-US" dirty="0"/>
              <a:t>Data strategy</a:t>
            </a:r>
          </a:p>
          <a:p>
            <a:pPr lvl="1"/>
            <a:r>
              <a:rPr lang="en-US" dirty="0"/>
              <a:t>Growth strategy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71D1739-ED2B-90A0-20DE-5F6381C17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 to Organizational Initiatives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B342E9-EB33-D752-0E35-F7B99E565F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21424" y="1920240"/>
            <a:ext cx="4790724" cy="3236976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338811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861EB06-E88D-D200-6C22-09632581C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 to Environmental, Social, and Governance (ESG) Initiatives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4D729B-C4C4-44E2-E262-72284E82B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6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3997045-89A7-63FD-E8A1-0DDB2AF02CE0}"/>
              </a:ext>
            </a:extLst>
          </p:cNvPr>
          <p:cNvGrpSpPr/>
          <p:nvPr/>
        </p:nvGrpSpPr>
        <p:grpSpPr>
          <a:xfrm>
            <a:off x="262849" y="1695820"/>
            <a:ext cx="11666302" cy="4242151"/>
            <a:chOff x="262849" y="1972045"/>
            <a:chExt cx="11666302" cy="4242151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E1A30224-6481-746A-968C-5D6F7871B5F8}"/>
                </a:ext>
              </a:extLst>
            </p:cNvPr>
            <p:cNvGrpSpPr/>
            <p:nvPr/>
          </p:nvGrpSpPr>
          <p:grpSpPr>
            <a:xfrm>
              <a:off x="262849" y="5248645"/>
              <a:ext cx="11666302" cy="965551"/>
              <a:chOff x="327045" y="4639045"/>
              <a:chExt cx="11666302" cy="965551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11F06EC-8262-2908-AB11-E8DEC7C3CCED}"/>
                  </a:ext>
                </a:extLst>
              </p:cNvPr>
              <p:cNvSpPr/>
              <p:nvPr/>
            </p:nvSpPr>
            <p:spPr>
              <a:xfrm>
                <a:off x="327045" y="4639045"/>
                <a:ext cx="3740129" cy="965551"/>
              </a:xfrm>
              <a:prstGeom prst="rect">
                <a:avLst/>
              </a:prstGeom>
              <a:noFill/>
              <a:ln w="28575" cap="flat" cmpd="sng" algn="ctr">
                <a:solidFill>
                  <a:srgbClr val="C4C4C4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400"/>
                <a:endParaRPr lang="en-US" sz="1100" b="1" kern="0" dirty="0">
                  <a:solidFill>
                    <a:srgbClr val="FF0000"/>
                  </a:solidFill>
                  <a:latin typeface="Arial"/>
                </a:endParaRPr>
              </a:p>
            </p:txBody>
          </p:sp>
          <p:sp>
            <p:nvSpPr>
              <p:cNvPr id="9" name="Text Box 307">
                <a:extLst>
                  <a:ext uri="{FF2B5EF4-FFF2-40B4-BE49-F238E27FC236}">
                    <a16:creationId xmlns:a16="http://schemas.microsoft.com/office/drawing/2014/main" id="{72EF4C56-304E-0411-DD65-C62329F4EE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727" y="4686227"/>
                <a:ext cx="3430373" cy="6309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285750" marR="0" lvl="0" indent="-28575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>
                    <a:srgbClr val="009DDC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Commitment to sustainability</a:t>
                </a:r>
              </a:p>
              <a:p>
                <a:pPr marL="285750" marR="0" lvl="0" indent="-28575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>
                    <a:srgbClr val="009DDC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Power efficiency of AI solutions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7773BF6-120F-930E-F842-8E3E1D664332}"/>
                  </a:ext>
                </a:extLst>
              </p:cNvPr>
              <p:cNvSpPr/>
              <p:nvPr/>
            </p:nvSpPr>
            <p:spPr>
              <a:xfrm>
                <a:off x="4290131" y="4639045"/>
                <a:ext cx="3740129" cy="965551"/>
              </a:xfrm>
              <a:prstGeom prst="rect">
                <a:avLst/>
              </a:prstGeom>
              <a:noFill/>
              <a:ln w="28575" cap="flat" cmpd="sng" algn="ctr">
                <a:solidFill>
                  <a:srgbClr val="C4C4C4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400"/>
                <a:endParaRPr lang="en-US" sz="1100" b="1" kern="0" dirty="0">
                  <a:solidFill>
                    <a:srgbClr val="FF0000"/>
                  </a:solidFill>
                  <a:latin typeface="Arial"/>
                </a:endParaRPr>
              </a:p>
            </p:txBody>
          </p:sp>
          <p:sp>
            <p:nvSpPr>
              <p:cNvPr id="19" name="Text Box 307">
                <a:extLst>
                  <a:ext uri="{FF2B5EF4-FFF2-40B4-BE49-F238E27FC236}">
                    <a16:creationId xmlns:a16="http://schemas.microsoft.com/office/drawing/2014/main" id="{800C5A21-1BF3-758C-039A-1391B80002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80813" y="4686227"/>
                <a:ext cx="3430373" cy="6309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285750" marR="0" lvl="0" indent="-28575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>
                    <a:srgbClr val="009DDC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Commitment to treating people fairly</a:t>
                </a:r>
              </a:p>
              <a:p>
                <a:pPr marL="285750" marR="0" lvl="0" indent="-28575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>
                    <a:srgbClr val="009DDC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Supporting non-discrimination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4422B36D-AD0C-41B8-41A6-90DA469B1B84}"/>
                  </a:ext>
                </a:extLst>
              </p:cNvPr>
              <p:cNvSpPr/>
              <p:nvPr/>
            </p:nvSpPr>
            <p:spPr>
              <a:xfrm>
                <a:off x="8253218" y="4639045"/>
                <a:ext cx="3740129" cy="965551"/>
              </a:xfrm>
              <a:prstGeom prst="rect">
                <a:avLst/>
              </a:prstGeom>
              <a:noFill/>
              <a:ln w="28575" cap="flat" cmpd="sng" algn="ctr">
                <a:solidFill>
                  <a:srgbClr val="C4C4C4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400"/>
                <a:endParaRPr lang="en-US" sz="1100" b="1" kern="0" dirty="0">
                  <a:solidFill>
                    <a:srgbClr val="FF0000"/>
                  </a:solidFill>
                  <a:latin typeface="Arial"/>
                </a:endParaRPr>
              </a:p>
            </p:txBody>
          </p:sp>
          <p:sp>
            <p:nvSpPr>
              <p:cNvPr id="21" name="Text Box 307">
                <a:extLst>
                  <a:ext uri="{FF2B5EF4-FFF2-40B4-BE49-F238E27FC236}">
                    <a16:creationId xmlns:a16="http://schemas.microsoft.com/office/drawing/2014/main" id="{9099F515-07CF-B73E-BC3A-0E7E280DF1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43900" y="4686227"/>
                <a:ext cx="3430373" cy="846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285750" marR="0" lvl="0" indent="-28575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>
                    <a:srgbClr val="009DDC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Commitment to leadership and management</a:t>
                </a:r>
              </a:p>
              <a:p>
                <a:pPr marL="285750" marR="0" lvl="0" indent="-28575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>
                    <a:srgbClr val="009DDC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Supporting data-protection processes</a:t>
                </a:r>
              </a:p>
            </p:txBody>
          </p:sp>
        </p:grpSp>
        <p:pic>
          <p:nvPicPr>
            <p:cNvPr id="24" name="Picture 23" descr="A picture containing tree, nature, outdoor&#10;&#10;Description automatically generated">
              <a:extLst>
                <a:ext uri="{FF2B5EF4-FFF2-40B4-BE49-F238E27FC236}">
                  <a16:creationId xmlns:a16="http://schemas.microsoft.com/office/drawing/2014/main" id="{A664A908-402C-937C-D277-94F36B8A69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alphaModFix amt="70000"/>
            </a:blip>
            <a:srcRect b="32454"/>
            <a:stretch/>
          </p:blipFill>
          <p:spPr>
            <a:xfrm>
              <a:off x="262850" y="1982589"/>
              <a:ext cx="3740128" cy="3103761"/>
            </a:xfrm>
            <a:prstGeom prst="rect">
              <a:avLst/>
            </a:prstGeom>
          </p:spPr>
        </p:pic>
        <p:pic>
          <p:nvPicPr>
            <p:cNvPr id="26" name="Picture 25" descr="A picture containing outdoor, person, crowd&#10;&#10;Description automatically generated">
              <a:extLst>
                <a:ext uri="{FF2B5EF4-FFF2-40B4-BE49-F238E27FC236}">
                  <a16:creationId xmlns:a16="http://schemas.microsoft.com/office/drawing/2014/main" id="{FBBD2C7F-CC4D-46AA-7DAC-FEB9FDABC8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alphaModFix amt="70000"/>
            </a:blip>
            <a:srcRect r="20457"/>
            <a:stretch/>
          </p:blipFill>
          <p:spPr>
            <a:xfrm>
              <a:off x="4225936" y="1972045"/>
              <a:ext cx="3740128" cy="3114305"/>
            </a:xfrm>
            <a:prstGeom prst="rect">
              <a:avLst/>
            </a:prstGeom>
          </p:spPr>
        </p:pic>
        <p:pic>
          <p:nvPicPr>
            <p:cNvPr id="28" name="Picture 27" descr="A picture containing indoor&#10;&#10;Description automatically generated">
              <a:extLst>
                <a:ext uri="{FF2B5EF4-FFF2-40B4-BE49-F238E27FC236}">
                  <a16:creationId xmlns:a16="http://schemas.microsoft.com/office/drawing/2014/main" id="{5F5D8310-C265-1B7F-87FE-1277BAE075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alphaModFix amt="70000"/>
            </a:blip>
            <a:srcRect r="32217"/>
            <a:stretch/>
          </p:blipFill>
          <p:spPr>
            <a:xfrm>
              <a:off x="8189021" y="1982589"/>
              <a:ext cx="3740129" cy="3103762"/>
            </a:xfrm>
            <a:prstGeom prst="rect">
              <a:avLst/>
            </a:prstGeom>
          </p:spPr>
        </p:pic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E25D1FE-2A05-C39E-2571-8BD28E1142DF}"/>
                </a:ext>
              </a:extLst>
            </p:cNvPr>
            <p:cNvSpPr/>
            <p:nvPr/>
          </p:nvSpPr>
          <p:spPr>
            <a:xfrm>
              <a:off x="1616509" y="2598173"/>
              <a:ext cx="904415" cy="186204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11500" b="0" cap="none" spc="0" dirty="0">
                  <a:ln w="0"/>
                  <a:solidFill>
                    <a:schemeClr val="bg1"/>
                  </a:solidFill>
                  <a:effectLst>
                    <a:glow rad="139700">
                      <a:srgbClr val="1D3764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E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6F15155-67B5-F0EA-A7DA-96A59F6C78BA}"/>
                </a:ext>
              </a:extLst>
            </p:cNvPr>
            <p:cNvSpPr/>
            <p:nvPr/>
          </p:nvSpPr>
          <p:spPr>
            <a:xfrm>
              <a:off x="5664632" y="2598173"/>
              <a:ext cx="862736" cy="186204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11500" b="0" cap="none" spc="0" dirty="0">
                  <a:ln w="0"/>
                  <a:solidFill>
                    <a:schemeClr val="bg1"/>
                  </a:solidFill>
                  <a:effectLst>
                    <a:glow rad="139700">
                      <a:srgbClr val="1D3764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E11800E-6E26-75B4-DA94-D2B08C991D38}"/>
                </a:ext>
              </a:extLst>
            </p:cNvPr>
            <p:cNvSpPr/>
            <p:nvPr/>
          </p:nvSpPr>
          <p:spPr>
            <a:xfrm>
              <a:off x="9501881" y="2598173"/>
              <a:ext cx="1114408" cy="186204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11500" b="0" cap="none" spc="0" dirty="0">
                  <a:ln w="0"/>
                  <a:solidFill>
                    <a:schemeClr val="bg1"/>
                  </a:solidFill>
                  <a:effectLst>
                    <a:glow rad="139700">
                      <a:srgbClr val="1D3764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31252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C5B7E4-CB07-BC72-68AA-0BBA510A8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3B847-32B4-9416-6857-DA5E5AAFF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Must operationalize ethical principles.</a:t>
            </a:r>
          </a:p>
          <a:p>
            <a:r>
              <a:rPr lang="en-US" dirty="0"/>
              <a:t>Use various policies, tools, techniques.</a:t>
            </a:r>
          </a:p>
          <a:p>
            <a:pPr lvl="1"/>
            <a:r>
              <a:rPr lang="en-US" dirty="0"/>
              <a:t>Example: Encrypt data to uphold privacy.</a:t>
            </a:r>
          </a:p>
          <a:p>
            <a:pPr lvl="1"/>
            <a:r>
              <a:rPr lang="en-US" dirty="0"/>
              <a:t>Build guardrails into agentic solutions.</a:t>
            </a:r>
          </a:p>
          <a:p>
            <a:r>
              <a:rPr lang="en-US" dirty="0"/>
              <a:t>If possible, consult with regulatory bodies.</a:t>
            </a:r>
          </a:p>
          <a:p>
            <a:pPr lvl="1"/>
            <a:r>
              <a:rPr lang="en-US" dirty="0"/>
              <a:t>Can influence future regulations regarding generative AI.</a:t>
            </a:r>
          </a:p>
          <a:p>
            <a:r>
              <a:rPr lang="en-US" dirty="0"/>
              <a:t>Ensure org can align business with new regulations.</a:t>
            </a:r>
          </a:p>
          <a:p>
            <a:pPr lvl="1"/>
            <a:r>
              <a:rPr lang="en-US" dirty="0"/>
              <a:t>Plan </a:t>
            </a:r>
            <a:r>
              <a:rPr lang="en-US" i="1" dirty="0"/>
              <a:t>before</a:t>
            </a:r>
            <a:r>
              <a:rPr lang="en-US" dirty="0"/>
              <a:t> the regulations go into effect.</a:t>
            </a:r>
          </a:p>
          <a:p>
            <a:r>
              <a:rPr lang="en-US" dirty="0"/>
              <a:t>Ensure supervisory personnel are informed of risks.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B7C827-F6B6-B8AA-78AD-2E700D570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 to Ethics and Compliance Initiatives</a:t>
            </a:r>
          </a:p>
        </p:txBody>
      </p:sp>
      <p:pic>
        <p:nvPicPr>
          <p:cNvPr id="6" name="Picture 5" descr="A statue of a person holding a sword and scales&#10;&#10;Description automatically generated with medium confidence">
            <a:extLst>
              <a:ext uri="{FF2B5EF4-FFF2-40B4-BE49-F238E27FC236}">
                <a16:creationId xmlns:a16="http://schemas.microsoft.com/office/drawing/2014/main" id="{C7AFF38E-AA90-89E0-A091-E54A1CFA8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6154" y="1594964"/>
            <a:ext cx="3478126" cy="4210594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4176117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F5B1D1-8A16-15B8-1AB0-1B8EDC240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13AC2-81FF-E6BD-233A-D63977842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Talent resources</a:t>
            </a:r>
          </a:p>
          <a:p>
            <a:r>
              <a:rPr lang="en-US" dirty="0"/>
              <a:t>Data resources</a:t>
            </a:r>
          </a:p>
          <a:p>
            <a:r>
              <a:rPr lang="en-US" dirty="0"/>
              <a:t>Computing resources</a:t>
            </a:r>
          </a:p>
          <a:p>
            <a:r>
              <a:rPr lang="en-US" dirty="0"/>
              <a:t>Budget resources</a:t>
            </a:r>
          </a:p>
          <a:p>
            <a:r>
              <a:rPr lang="en-US" dirty="0"/>
              <a:t>Stakeholders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2B9B25-522B-B961-6B90-82E9059F9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Acquire Resources and Job Expertise</a:t>
            </a:r>
          </a:p>
        </p:txBody>
      </p:sp>
      <p:pic>
        <p:nvPicPr>
          <p:cNvPr id="6" name="Picture 5" descr="A group of people standing in front of a world map&#10;&#10;Description automatically generated with medium confidence">
            <a:extLst>
              <a:ext uri="{FF2B5EF4-FFF2-40B4-BE49-F238E27FC236}">
                <a16:creationId xmlns:a16="http://schemas.microsoft.com/office/drawing/2014/main" id="{42511232-E60E-CED3-CFE6-647AA9EF5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1929384"/>
            <a:ext cx="5577841" cy="3346704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2013283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2F2428-3CD5-ED65-C95E-5ED4DAC77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DC719-0F96-13FE-37B5-F09421BB1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Employees become:</a:t>
            </a:r>
          </a:p>
          <a:p>
            <a:pPr lvl="1"/>
            <a:r>
              <a:rPr lang="en-US" dirty="0"/>
              <a:t>Better equipped to make decisions.</a:t>
            </a:r>
          </a:p>
          <a:p>
            <a:pPr lvl="1"/>
            <a:r>
              <a:rPr lang="en-US" dirty="0"/>
              <a:t>More creative and innovative in their thinking.</a:t>
            </a:r>
          </a:p>
          <a:p>
            <a:r>
              <a:rPr lang="en-US" dirty="0"/>
              <a:t>End users become:</a:t>
            </a:r>
          </a:p>
          <a:p>
            <a:pPr lvl="1"/>
            <a:r>
              <a:rPr lang="en-US" dirty="0"/>
              <a:t>Empowered to make ethical decisions.</a:t>
            </a:r>
          </a:p>
          <a:p>
            <a:pPr lvl="1"/>
            <a:r>
              <a:rPr lang="en-US" dirty="0"/>
              <a:t>More effective at providing feedback.</a:t>
            </a:r>
          </a:p>
          <a:p>
            <a:r>
              <a:rPr lang="en-US" dirty="0"/>
              <a:t>Approaches:</a:t>
            </a:r>
          </a:p>
          <a:p>
            <a:pPr lvl="1"/>
            <a:r>
              <a:rPr lang="en-US" dirty="0"/>
              <a:t>Deliver end-user training.</a:t>
            </a:r>
          </a:p>
          <a:p>
            <a:pPr lvl="1"/>
            <a:r>
              <a:rPr lang="en-US" dirty="0"/>
              <a:t>Deliver agentic-workflow training.</a:t>
            </a:r>
          </a:p>
          <a:p>
            <a:pPr lvl="1"/>
            <a:r>
              <a:rPr lang="en-US" dirty="0"/>
              <a:t>Deliver practitioner training.</a:t>
            </a:r>
          </a:p>
          <a:p>
            <a:pPr lvl="1"/>
            <a:r>
              <a:rPr lang="en-US" dirty="0"/>
              <a:t>Deliver workshops/webinars.</a:t>
            </a:r>
          </a:p>
          <a:p>
            <a:pPr lvl="1"/>
            <a:r>
              <a:rPr lang="en-US" dirty="0"/>
              <a:t>Promote knowledge sharing on social media.</a:t>
            </a:r>
          </a:p>
          <a:p>
            <a:pPr lvl="1"/>
            <a:r>
              <a:rPr lang="en-US" dirty="0"/>
              <a:t>Be transparent about generated content.</a:t>
            </a:r>
          </a:p>
          <a:p>
            <a:pPr lvl="1"/>
            <a:r>
              <a:rPr lang="en-US" dirty="0"/>
              <a:t>Demonstrate use cases.</a:t>
            </a:r>
          </a:p>
          <a:p>
            <a:pPr lvl="1"/>
            <a:r>
              <a:rPr lang="en-US" dirty="0"/>
              <a:t>Provide support resources.</a:t>
            </a:r>
          </a:p>
          <a:p>
            <a:pPr lvl="1"/>
            <a:r>
              <a:rPr lang="en-US" dirty="0"/>
              <a:t>Promote continuous learning.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22122BB-EB9A-8157-8074-E258B48A7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Educate End Users and Employees</a:t>
            </a:r>
          </a:p>
        </p:txBody>
      </p:sp>
      <p:pic>
        <p:nvPicPr>
          <p:cNvPr id="6" name="Picture 5" descr="A group of people putting fists together&#10;&#10;Description automatically generated with low confidence">
            <a:extLst>
              <a:ext uri="{FF2B5EF4-FFF2-40B4-BE49-F238E27FC236}">
                <a16:creationId xmlns:a16="http://schemas.microsoft.com/office/drawing/2014/main" id="{82716337-A412-8A7A-E06B-49F8C6BDA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1929384"/>
            <a:ext cx="5306087" cy="3346704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1051320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5765C5-4955-EA89-C475-E68E3813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2AD5F-0B96-2353-87D3-42490BE7B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up front to end users about the use of generative AI.</a:t>
            </a:r>
          </a:p>
          <a:p>
            <a:r>
              <a:rPr lang="en-US" dirty="0"/>
              <a:t>No hard rules for what this means.</a:t>
            </a:r>
          </a:p>
          <a:p>
            <a:pPr lvl="1"/>
            <a:r>
              <a:rPr lang="en-US" dirty="0"/>
              <a:t>Example: generated images with watermarks.</a:t>
            </a:r>
          </a:p>
          <a:p>
            <a:pPr lvl="1"/>
            <a:r>
              <a:rPr lang="en-US" dirty="0"/>
              <a:t>How should watermark appear, if at all?</a:t>
            </a:r>
          </a:p>
          <a:p>
            <a:pPr lvl="1"/>
            <a:r>
              <a:rPr lang="en-US" dirty="0"/>
              <a:t>Example: generated text has disclaimer.</a:t>
            </a:r>
          </a:p>
          <a:p>
            <a:pPr lvl="1"/>
            <a:r>
              <a:rPr lang="en-US" dirty="0"/>
              <a:t>Where should disclaimer be, if at all?</a:t>
            </a:r>
          </a:p>
          <a:p>
            <a:r>
              <a:rPr lang="en-US" dirty="0"/>
              <a:t>Unless required by future regulations, this is up to you.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0F54F1F-196D-D829-F759-872CF5FD1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 Transparent About AI-Generated Content</a:t>
            </a:r>
          </a:p>
        </p:txBody>
      </p:sp>
      <p:pic>
        <p:nvPicPr>
          <p:cNvPr id="6" name="Picture 5" descr="A handshake between two people&#10;&#10;Description automatically generated">
            <a:extLst>
              <a:ext uri="{FF2B5EF4-FFF2-40B4-BE49-F238E27FC236}">
                <a16:creationId xmlns:a16="http://schemas.microsoft.com/office/drawing/2014/main" id="{A1E56F39-5732-9DC3-686F-09E674F1B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1920240"/>
            <a:ext cx="4851674" cy="3236976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560126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6524EA-F8DC-71AE-406E-9CB9AE034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966E2-CFBB-5205-C42A-B9EC74CA0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goals and objectives influence choice of modality.</a:t>
            </a:r>
          </a:p>
          <a:p>
            <a:r>
              <a:rPr lang="en-US" dirty="0"/>
              <a:t>Other factors:</a:t>
            </a:r>
          </a:p>
          <a:p>
            <a:pPr lvl="1"/>
            <a:r>
              <a:rPr lang="en-US" dirty="0"/>
              <a:t>Supplemental modalities.</a:t>
            </a:r>
          </a:p>
          <a:p>
            <a:pPr lvl="1"/>
            <a:r>
              <a:rPr lang="en-US" dirty="0"/>
              <a:t>Available data for fine tuning.</a:t>
            </a:r>
          </a:p>
          <a:p>
            <a:pPr lvl="1"/>
            <a:r>
              <a:rPr lang="en-US" dirty="0"/>
              <a:t>Deliverability of modality.</a:t>
            </a:r>
          </a:p>
          <a:p>
            <a:pPr lvl="1"/>
            <a:r>
              <a:rPr lang="en-US" dirty="0"/>
              <a:t>Ethical/legal ramifications.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39ADAC9-0D65-1B54-B85E-4FA11D7F0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Appropriate Generative AI Modalities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DF99077-2AB2-C5D3-9D97-C5D7F8BABD7F}"/>
              </a:ext>
            </a:extLst>
          </p:cNvPr>
          <p:cNvGrpSpPr/>
          <p:nvPr/>
        </p:nvGrpSpPr>
        <p:grpSpPr>
          <a:xfrm>
            <a:off x="6011906" y="2114938"/>
            <a:ext cx="5944961" cy="3170646"/>
            <a:chOff x="6011906" y="2114938"/>
            <a:chExt cx="5944961" cy="3170646"/>
          </a:xfrm>
        </p:grpSpPr>
        <p:pic>
          <p:nvPicPr>
            <p:cNvPr id="6" name="Picture 5" descr="A row of doors in a room&#10;&#10;Description automatically generated with low confidence">
              <a:extLst>
                <a:ext uri="{FF2B5EF4-FFF2-40B4-BE49-F238E27FC236}">
                  <a16:creationId xmlns:a16="http://schemas.microsoft.com/office/drawing/2014/main" id="{5B5A29D6-8E88-D7C9-A99A-530F54F523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11906" y="2114938"/>
              <a:ext cx="5944961" cy="3170646"/>
            </a:xfrm>
            <a:prstGeom prst="rect">
              <a:avLst/>
            </a:prstGeom>
            <a:effectLst>
              <a:softEdge rad="31750"/>
            </a:effec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EFD9DB1-01B3-0782-B706-F73B78C04655}"/>
                </a:ext>
              </a:extLst>
            </p:cNvPr>
            <p:cNvSpPr txBox="1"/>
            <p:nvPr/>
          </p:nvSpPr>
          <p:spPr>
            <a:xfrm>
              <a:off x="9445843" y="3077176"/>
              <a:ext cx="7315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Text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8802303-2B3B-DA0C-0280-502B6CBA6739}"/>
                </a:ext>
              </a:extLst>
            </p:cNvPr>
            <p:cNvSpPr txBox="1"/>
            <p:nvPr/>
          </p:nvSpPr>
          <p:spPr>
            <a:xfrm>
              <a:off x="8618626" y="3077176"/>
              <a:ext cx="7315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Video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4B1FA56-BF3B-B7AB-CA3F-373556C7B101}"/>
                </a:ext>
              </a:extLst>
            </p:cNvPr>
            <p:cNvSpPr txBox="1"/>
            <p:nvPr/>
          </p:nvSpPr>
          <p:spPr>
            <a:xfrm>
              <a:off x="7758120" y="3077176"/>
              <a:ext cx="7315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Image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667654B-6535-6795-449F-C552BCD536A3}"/>
                </a:ext>
              </a:extLst>
            </p:cNvPr>
            <p:cNvSpPr txBox="1"/>
            <p:nvPr/>
          </p:nvSpPr>
          <p:spPr>
            <a:xfrm>
              <a:off x="6913485" y="3077175"/>
              <a:ext cx="7315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Audio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274DEE4-87CE-4C63-0A02-CAE9C134EE99}"/>
                </a:ext>
              </a:extLst>
            </p:cNvPr>
            <p:cNvSpPr txBox="1"/>
            <p:nvPr/>
          </p:nvSpPr>
          <p:spPr>
            <a:xfrm>
              <a:off x="10317799" y="3077174"/>
              <a:ext cx="7315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Code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66778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5D5A0D-8967-9DFE-2100-2E75A8635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8178A-B91A-4E21-431B-4952116FD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Finding the right tool is a challenge.</a:t>
            </a:r>
          </a:p>
          <a:p>
            <a:r>
              <a:rPr lang="en-US" dirty="0"/>
              <a:t>Factors when selecting a tool:</a:t>
            </a:r>
          </a:p>
          <a:p>
            <a:pPr lvl="1"/>
            <a:r>
              <a:rPr lang="en-US" dirty="0"/>
              <a:t>Can it implement the chosen modality?</a:t>
            </a:r>
          </a:p>
          <a:p>
            <a:pPr lvl="1"/>
            <a:r>
              <a:rPr lang="en-US" dirty="0"/>
              <a:t>Can it support project needs?</a:t>
            </a:r>
          </a:p>
          <a:p>
            <a:pPr lvl="1"/>
            <a:r>
              <a:rPr lang="en-US" dirty="0"/>
              <a:t>Does it support advanced techniques?</a:t>
            </a:r>
          </a:p>
          <a:p>
            <a:pPr lvl="1"/>
            <a:r>
              <a:rPr lang="en-US" dirty="0"/>
              <a:t>How is it available?</a:t>
            </a:r>
          </a:p>
          <a:p>
            <a:pPr lvl="1"/>
            <a:r>
              <a:rPr lang="en-US" dirty="0"/>
              <a:t>How well supported is it?</a:t>
            </a:r>
          </a:p>
          <a:p>
            <a:pPr lvl="1"/>
            <a:r>
              <a:rPr lang="en-US" dirty="0"/>
              <a:t>How well established is the provider?</a:t>
            </a:r>
          </a:p>
          <a:p>
            <a:pPr lvl="1"/>
            <a:r>
              <a:rPr lang="en-US" dirty="0"/>
              <a:t>Are costs justifiable?</a:t>
            </a:r>
          </a:p>
          <a:p>
            <a:pPr lvl="1"/>
            <a:r>
              <a:rPr lang="en-US" dirty="0"/>
              <a:t>Does it fit with company policy?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C988EA7-1721-9C27-D3D9-3FB8858C3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Appropriate Generative AI Tools</a:t>
            </a:r>
          </a:p>
        </p:txBody>
      </p:sp>
      <p:pic>
        <p:nvPicPr>
          <p:cNvPr id="6" name="Picture 5" descr="A hand reaching out to a blue toolbox full of tools&#10;&#10;Description automatically generated with low confidence">
            <a:extLst>
              <a:ext uri="{FF2B5EF4-FFF2-40B4-BE49-F238E27FC236}">
                <a16:creationId xmlns:a16="http://schemas.microsoft.com/office/drawing/2014/main" id="{C737D12F-F23E-5AC0-7BCA-0EB06EBE7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1920240"/>
            <a:ext cx="4855464" cy="3236976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301599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394490-EFCF-6F9C-B455-320024E7E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E198A-F236-96CF-9F9A-2B542BE6F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must establish tech stack.</a:t>
            </a:r>
          </a:p>
          <a:p>
            <a:pPr lvl="1"/>
            <a:r>
              <a:rPr lang="en-US" dirty="0"/>
              <a:t>Set up servers that process requests.</a:t>
            </a:r>
          </a:p>
          <a:p>
            <a:pPr lvl="1"/>
            <a:r>
              <a:rPr lang="en-US" dirty="0"/>
              <a:t>Construct network architecture.</a:t>
            </a:r>
          </a:p>
          <a:p>
            <a:pPr lvl="1"/>
            <a:r>
              <a:rPr lang="en-US" dirty="0"/>
              <a:t>Create development environments.</a:t>
            </a:r>
          </a:p>
          <a:p>
            <a:pPr lvl="1"/>
            <a:r>
              <a:rPr lang="en-US" dirty="0"/>
              <a:t>Establish inter-agent communication channels.</a:t>
            </a:r>
          </a:p>
          <a:p>
            <a:r>
              <a:rPr lang="en-US" dirty="0"/>
              <a:t>May also need to support training/fine tuning.</a:t>
            </a:r>
          </a:p>
          <a:p>
            <a:pPr lvl="1"/>
            <a:r>
              <a:rPr lang="en-US" dirty="0"/>
              <a:t>Providing data.</a:t>
            </a:r>
          </a:p>
          <a:p>
            <a:pPr lvl="1"/>
            <a:r>
              <a:rPr lang="en-US" dirty="0"/>
              <a:t>Cleaning data.</a:t>
            </a:r>
          </a:p>
          <a:p>
            <a:pPr lvl="1"/>
            <a:r>
              <a:rPr lang="en-US" dirty="0"/>
              <a:t>Providing auto-labeling tools.</a:t>
            </a:r>
          </a:p>
          <a:p>
            <a:r>
              <a:rPr lang="en-US" dirty="0"/>
              <a:t>Choice of cloud vs. on-premises hosting.</a:t>
            </a:r>
          </a:p>
          <a:p>
            <a:pPr lvl="1"/>
            <a:r>
              <a:rPr lang="en-US" dirty="0"/>
              <a:t>Your input and requirements influence choice.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6E71285-9287-7849-7260-C0564B701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 IT Strategy and Infrastructure</a:t>
            </a:r>
          </a:p>
        </p:txBody>
      </p:sp>
      <p:pic>
        <p:nvPicPr>
          <p:cNvPr id="7" name="Picture 6" descr="A picture containing text, indoor&#10;&#10;Description automatically generated">
            <a:extLst>
              <a:ext uri="{FF2B5EF4-FFF2-40B4-BE49-F238E27FC236}">
                <a16:creationId xmlns:a16="http://schemas.microsoft.com/office/drawing/2014/main" id="{ED30974A-22D2-D779-DB44-59E7BAF3F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264" y="1764792"/>
            <a:ext cx="5059680" cy="3794760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577326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9B6E2F-DD01-B301-64D5-C4E0236C7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6EE2E54-AFF6-C063-EBE1-8BCCA6445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Infrastructure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2E0B403-E2F5-97F3-35B5-51FFAF5049A2}"/>
              </a:ext>
            </a:extLst>
          </p:cNvPr>
          <p:cNvGrpSpPr/>
          <p:nvPr/>
        </p:nvGrpSpPr>
        <p:grpSpPr>
          <a:xfrm>
            <a:off x="1110084" y="2411671"/>
            <a:ext cx="9971833" cy="1986746"/>
            <a:chOff x="923678" y="2411671"/>
            <a:chExt cx="9971833" cy="1986746"/>
          </a:xfrm>
        </p:grpSpPr>
        <p:pic>
          <p:nvPicPr>
            <p:cNvPr id="6" name="Graphic 5" descr="Robot with solid fill">
              <a:extLst>
                <a:ext uri="{FF2B5EF4-FFF2-40B4-BE49-F238E27FC236}">
                  <a16:creationId xmlns:a16="http://schemas.microsoft.com/office/drawing/2014/main" id="{091EDE65-A549-7879-E68E-7EB790B7DE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612969" y="2827243"/>
              <a:ext cx="1282542" cy="1282541"/>
            </a:xfrm>
            <a:prstGeom prst="rect">
              <a:avLst/>
            </a:prstGeom>
          </p:spPr>
        </p:pic>
        <p:pic>
          <p:nvPicPr>
            <p:cNvPr id="7" name="Graphic 6" descr="Chat bubble outline">
              <a:extLst>
                <a:ext uri="{FF2B5EF4-FFF2-40B4-BE49-F238E27FC236}">
                  <a16:creationId xmlns:a16="http://schemas.microsoft.com/office/drawing/2014/main" id="{47BBDFC6-84BC-2C43-7C46-8E8B819DD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3223342" y="3478644"/>
              <a:ext cx="749808" cy="749808"/>
            </a:xfrm>
            <a:prstGeom prst="rect">
              <a:avLst/>
            </a:prstGeom>
          </p:spPr>
        </p:pic>
        <p:pic>
          <p:nvPicPr>
            <p:cNvPr id="22" name="Graphic 21" descr="Chat bubble with solid fill">
              <a:extLst>
                <a:ext uri="{FF2B5EF4-FFF2-40B4-BE49-F238E27FC236}">
                  <a16:creationId xmlns:a16="http://schemas.microsoft.com/office/drawing/2014/main" id="{C814A3AA-A265-030C-1DBD-CC6AF77ED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1963912" y="2836101"/>
              <a:ext cx="746063" cy="746063"/>
            </a:xfrm>
            <a:prstGeom prst="rect">
              <a:avLst/>
            </a:prstGeom>
          </p:spPr>
        </p:pic>
        <p:sp>
          <p:nvSpPr>
            <p:cNvPr id="11" name="Text Box 307">
              <a:extLst>
                <a:ext uri="{FF2B5EF4-FFF2-40B4-BE49-F238E27FC236}">
                  <a16:creationId xmlns:a16="http://schemas.microsoft.com/office/drawing/2014/main" id="{398754FE-F8BB-7A7F-1EBE-0F8E395769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6656" y="2411671"/>
              <a:ext cx="117420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User</a:t>
              </a:r>
            </a:p>
          </p:txBody>
        </p:sp>
        <p:sp>
          <p:nvSpPr>
            <p:cNvPr id="12" name="Text Box 307">
              <a:extLst>
                <a:ext uri="{FF2B5EF4-FFF2-40B4-BE49-F238E27FC236}">
                  <a16:creationId xmlns:a16="http://schemas.microsoft.com/office/drawing/2014/main" id="{E44E2A66-3CB0-4124-5AD0-4E0E506AE6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67138" y="2417834"/>
              <a:ext cx="117420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Model</a:t>
              </a:r>
            </a:p>
          </p:txBody>
        </p:sp>
        <p:pic>
          <p:nvPicPr>
            <p:cNvPr id="14" name="Graphic 13" descr="User with solid fill">
              <a:extLst>
                <a:ext uri="{FF2B5EF4-FFF2-40B4-BE49-F238E27FC236}">
                  <a16:creationId xmlns:a16="http://schemas.microsoft.com/office/drawing/2014/main" id="{DB36D0E6-6143-BD1E-065D-8EB1CDBBF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923678" y="2838564"/>
              <a:ext cx="1280160" cy="1280160"/>
            </a:xfrm>
            <a:prstGeom prst="rect">
              <a:avLst/>
            </a:prstGeom>
          </p:spPr>
        </p:pic>
        <p:pic>
          <p:nvPicPr>
            <p:cNvPr id="18" name="Graphic 17" descr="Web design with solid fill">
              <a:extLst>
                <a:ext uri="{FF2B5EF4-FFF2-40B4-BE49-F238E27FC236}">
                  <a16:creationId xmlns:a16="http://schemas.microsoft.com/office/drawing/2014/main" id="{6C1B306B-E1E0-0770-0DBD-7DB52731F2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616009" y="2763775"/>
              <a:ext cx="1280160" cy="1280160"/>
            </a:xfrm>
            <a:prstGeom prst="rect">
              <a:avLst/>
            </a:prstGeom>
          </p:spPr>
        </p:pic>
        <p:sp>
          <p:nvSpPr>
            <p:cNvPr id="21" name="Text Box 307">
              <a:extLst>
                <a:ext uri="{FF2B5EF4-FFF2-40B4-BE49-F238E27FC236}">
                  <a16:creationId xmlns:a16="http://schemas.microsoft.com/office/drawing/2014/main" id="{FDE8E3B3-3400-BFDA-51AB-A14BC43A72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31046" y="2417834"/>
              <a:ext cx="117420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API</a:t>
              </a:r>
            </a:p>
          </p:txBody>
        </p:sp>
        <p:pic>
          <p:nvPicPr>
            <p:cNvPr id="25" name="Graphic 24" descr="Call center with solid fill">
              <a:extLst>
                <a:ext uri="{FF2B5EF4-FFF2-40B4-BE49-F238E27FC236}">
                  <a16:creationId xmlns:a16="http://schemas.microsoft.com/office/drawing/2014/main" id="{39CA1258-FE7A-1BA6-41D9-15D66D3AC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729479" y="2829624"/>
              <a:ext cx="1280160" cy="1280160"/>
            </a:xfrm>
            <a:prstGeom prst="rect">
              <a:avLst/>
            </a:prstGeom>
          </p:spPr>
        </p:pic>
        <p:sp>
          <p:nvSpPr>
            <p:cNvPr id="33" name="AutoShape 304">
              <a:extLst>
                <a:ext uri="{FF2B5EF4-FFF2-40B4-BE49-F238E27FC236}">
                  <a16:creationId xmlns:a16="http://schemas.microsoft.com/office/drawing/2014/main" id="{ABBB08CD-C888-F544-8401-809A3EC798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3723" y="3007852"/>
              <a:ext cx="1068785" cy="307737"/>
            </a:xfrm>
            <a:prstGeom prst="rightArrow">
              <a:avLst>
                <a:gd name="adj1" fmla="val 52602"/>
                <a:gd name="adj2" fmla="val 59572"/>
              </a:avLst>
            </a:prstGeom>
            <a:solidFill>
              <a:srgbClr val="009DDC"/>
            </a:solidFill>
            <a:ln w="9525">
              <a:noFill/>
              <a:miter lim="800000"/>
              <a:headEnd/>
              <a:tailEnd/>
            </a:ln>
            <a:effectLst>
              <a:outerShdw blurRad="38100" dist="25400" dir="2700000" sx="99000" sy="99000" algn="ctr" rotWithShape="0">
                <a:srgbClr val="000000">
                  <a:alpha val="75000"/>
                </a:srgbClr>
              </a:outerShdw>
            </a:effectLst>
          </p:spPr>
          <p:txBody>
            <a:bodyPr wrap="none" anchor="ctr"/>
            <a:lstStyle/>
            <a:p>
              <a:pPr defTabSz="914400">
                <a:defRPr/>
              </a:pPr>
              <a:endParaRPr lang="en-US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Text Box 307">
              <a:extLst>
                <a:ext uri="{FF2B5EF4-FFF2-40B4-BE49-F238E27FC236}">
                  <a16:creationId xmlns:a16="http://schemas.microsoft.com/office/drawing/2014/main" id="{A52C5986-F91B-37D4-5B72-497B75E4F6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3770" y="2417834"/>
              <a:ext cx="117420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Chatbot</a:t>
              </a:r>
            </a:p>
          </p:txBody>
        </p:sp>
        <p:sp>
          <p:nvSpPr>
            <p:cNvPr id="35" name="AutoShape 304">
              <a:extLst>
                <a:ext uri="{FF2B5EF4-FFF2-40B4-BE49-F238E27FC236}">
                  <a16:creationId xmlns:a16="http://schemas.microsoft.com/office/drawing/2014/main" id="{113AFE65-A113-F5F4-D072-4E0DCE81D9E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175582" y="3664755"/>
              <a:ext cx="1068785" cy="307737"/>
            </a:xfrm>
            <a:prstGeom prst="rightArrow">
              <a:avLst>
                <a:gd name="adj1" fmla="val 52602"/>
                <a:gd name="adj2" fmla="val 59572"/>
              </a:avLst>
            </a:prstGeom>
            <a:solidFill>
              <a:srgbClr val="009DDC"/>
            </a:solidFill>
            <a:ln w="9525">
              <a:noFill/>
              <a:miter lim="800000"/>
              <a:headEnd/>
              <a:tailEnd/>
            </a:ln>
            <a:effectLst>
              <a:outerShdw blurRad="38100" dist="25400" dir="2700000" sx="99000" sy="99000" algn="ctr" rotWithShape="0">
                <a:srgbClr val="000000">
                  <a:alpha val="75000"/>
                </a:srgbClr>
              </a:outerShdw>
            </a:effectLst>
          </p:spPr>
          <p:txBody>
            <a:bodyPr wrap="none" anchor="ctr"/>
            <a:lstStyle/>
            <a:p>
              <a:pPr defTabSz="914400">
                <a:defRPr/>
              </a:pPr>
              <a:endParaRPr lang="en-US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Text Box 307">
              <a:extLst>
                <a:ext uri="{FF2B5EF4-FFF2-40B4-BE49-F238E27FC236}">
                  <a16:creationId xmlns:a16="http://schemas.microsoft.com/office/drawing/2014/main" id="{705CE76D-0E90-872D-2823-AAF218DD0C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8283" y="2644977"/>
              <a:ext cx="117420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2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Request</a:t>
              </a:r>
            </a:p>
          </p:txBody>
        </p:sp>
        <p:pic>
          <p:nvPicPr>
            <p:cNvPr id="47" name="Graphic 46" descr="Chat bubble outline">
              <a:extLst>
                <a:ext uri="{FF2B5EF4-FFF2-40B4-BE49-F238E27FC236}">
                  <a16:creationId xmlns:a16="http://schemas.microsoft.com/office/drawing/2014/main" id="{E89E988D-CF7D-E2DF-CCA5-C678D67D02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5997993" y="3473651"/>
              <a:ext cx="749808" cy="749808"/>
            </a:xfrm>
            <a:prstGeom prst="rect">
              <a:avLst/>
            </a:prstGeom>
          </p:spPr>
        </p:pic>
        <p:pic>
          <p:nvPicPr>
            <p:cNvPr id="48" name="Graphic 47" descr="Chat bubble with solid fill">
              <a:extLst>
                <a:ext uri="{FF2B5EF4-FFF2-40B4-BE49-F238E27FC236}">
                  <a16:creationId xmlns:a16="http://schemas.microsoft.com/office/drawing/2014/main" id="{D5868925-0BCA-85F5-6393-960C35227B4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4738563" y="2831108"/>
              <a:ext cx="746063" cy="746063"/>
            </a:xfrm>
            <a:prstGeom prst="rect">
              <a:avLst/>
            </a:prstGeom>
          </p:spPr>
        </p:pic>
        <p:sp>
          <p:nvSpPr>
            <p:cNvPr id="49" name="AutoShape 304">
              <a:extLst>
                <a:ext uri="{FF2B5EF4-FFF2-40B4-BE49-F238E27FC236}">
                  <a16:creationId xmlns:a16="http://schemas.microsoft.com/office/drawing/2014/main" id="{C76FDB39-1A0A-2178-91AE-F2DC8497F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8374" y="3002859"/>
              <a:ext cx="1068785" cy="307737"/>
            </a:xfrm>
            <a:prstGeom prst="rightArrow">
              <a:avLst>
                <a:gd name="adj1" fmla="val 52602"/>
                <a:gd name="adj2" fmla="val 59572"/>
              </a:avLst>
            </a:prstGeom>
            <a:solidFill>
              <a:srgbClr val="009DDC"/>
            </a:solidFill>
            <a:ln w="9525">
              <a:noFill/>
              <a:miter lim="800000"/>
              <a:headEnd/>
              <a:tailEnd/>
            </a:ln>
            <a:effectLst>
              <a:outerShdw blurRad="38100" dist="25400" dir="2700000" sx="99000" sy="99000" algn="ctr" rotWithShape="0">
                <a:srgbClr val="000000">
                  <a:alpha val="75000"/>
                </a:srgbClr>
              </a:outerShdw>
            </a:effectLst>
          </p:spPr>
          <p:txBody>
            <a:bodyPr wrap="none" anchor="ctr"/>
            <a:lstStyle/>
            <a:p>
              <a:pPr defTabSz="914400">
                <a:defRPr/>
              </a:pPr>
              <a:endParaRPr lang="en-US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AutoShape 304">
              <a:extLst>
                <a:ext uri="{FF2B5EF4-FFF2-40B4-BE49-F238E27FC236}">
                  <a16:creationId xmlns:a16="http://schemas.microsoft.com/office/drawing/2014/main" id="{74D64218-8B4D-C28F-7B7E-1A1016DB120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950233" y="3659762"/>
              <a:ext cx="1068785" cy="307737"/>
            </a:xfrm>
            <a:prstGeom prst="rightArrow">
              <a:avLst>
                <a:gd name="adj1" fmla="val 52602"/>
                <a:gd name="adj2" fmla="val 59572"/>
              </a:avLst>
            </a:prstGeom>
            <a:solidFill>
              <a:srgbClr val="009DDC"/>
            </a:solidFill>
            <a:ln w="9525">
              <a:noFill/>
              <a:miter lim="800000"/>
              <a:headEnd/>
              <a:tailEnd/>
            </a:ln>
            <a:effectLst>
              <a:outerShdw blurRad="38100" dist="25400" dir="2700000" sx="99000" sy="99000" algn="ctr" rotWithShape="0">
                <a:srgbClr val="000000">
                  <a:alpha val="75000"/>
                </a:srgbClr>
              </a:outerShdw>
            </a:effectLst>
          </p:spPr>
          <p:txBody>
            <a:bodyPr wrap="none" anchor="ctr"/>
            <a:lstStyle/>
            <a:p>
              <a:pPr defTabSz="914400">
                <a:defRPr/>
              </a:pPr>
              <a:endParaRPr lang="en-US" kern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55" name="Graphic 54" descr="Chat bubble outline">
              <a:extLst>
                <a:ext uri="{FF2B5EF4-FFF2-40B4-BE49-F238E27FC236}">
                  <a16:creationId xmlns:a16="http://schemas.microsoft.com/office/drawing/2014/main" id="{7FA51B7B-E677-461B-4C69-1778E600BD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9057221" y="3473651"/>
              <a:ext cx="749808" cy="749808"/>
            </a:xfrm>
            <a:prstGeom prst="rect">
              <a:avLst/>
            </a:prstGeom>
          </p:spPr>
        </p:pic>
        <p:pic>
          <p:nvPicPr>
            <p:cNvPr id="56" name="Graphic 55" descr="Chat bubble with solid fill">
              <a:extLst>
                <a:ext uri="{FF2B5EF4-FFF2-40B4-BE49-F238E27FC236}">
                  <a16:creationId xmlns:a16="http://schemas.microsoft.com/office/drawing/2014/main" id="{45FE1FDE-FEC9-E568-9705-00A844A544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7797791" y="2831108"/>
              <a:ext cx="746063" cy="746063"/>
            </a:xfrm>
            <a:prstGeom prst="rect">
              <a:avLst/>
            </a:prstGeom>
          </p:spPr>
        </p:pic>
        <p:sp>
          <p:nvSpPr>
            <p:cNvPr id="57" name="AutoShape 304">
              <a:extLst>
                <a:ext uri="{FF2B5EF4-FFF2-40B4-BE49-F238E27FC236}">
                  <a16:creationId xmlns:a16="http://schemas.microsoft.com/office/drawing/2014/main" id="{C0E4A0C2-64CF-6276-83E6-84D16DF35B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7602" y="3002859"/>
              <a:ext cx="1068785" cy="307737"/>
            </a:xfrm>
            <a:prstGeom prst="rightArrow">
              <a:avLst>
                <a:gd name="adj1" fmla="val 52602"/>
                <a:gd name="adj2" fmla="val 59572"/>
              </a:avLst>
            </a:prstGeom>
            <a:solidFill>
              <a:srgbClr val="009DDC"/>
            </a:solidFill>
            <a:ln w="9525">
              <a:noFill/>
              <a:miter lim="800000"/>
              <a:headEnd/>
              <a:tailEnd/>
            </a:ln>
            <a:effectLst>
              <a:outerShdw blurRad="38100" dist="25400" dir="2700000" sx="99000" sy="99000" algn="ctr" rotWithShape="0">
                <a:srgbClr val="000000">
                  <a:alpha val="75000"/>
                </a:srgbClr>
              </a:outerShdw>
            </a:effectLst>
          </p:spPr>
          <p:txBody>
            <a:bodyPr wrap="none" anchor="ctr"/>
            <a:lstStyle/>
            <a:p>
              <a:pPr defTabSz="914400">
                <a:defRPr/>
              </a:pPr>
              <a:endParaRPr lang="en-US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8" name="AutoShape 304">
              <a:extLst>
                <a:ext uri="{FF2B5EF4-FFF2-40B4-BE49-F238E27FC236}">
                  <a16:creationId xmlns:a16="http://schemas.microsoft.com/office/drawing/2014/main" id="{095C908D-8CEA-B236-A6F2-AB7A18D8D5C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8009461" y="3659762"/>
              <a:ext cx="1068785" cy="307737"/>
            </a:xfrm>
            <a:prstGeom prst="rightArrow">
              <a:avLst>
                <a:gd name="adj1" fmla="val 52602"/>
                <a:gd name="adj2" fmla="val 59572"/>
              </a:avLst>
            </a:prstGeom>
            <a:solidFill>
              <a:srgbClr val="009DDC"/>
            </a:solidFill>
            <a:ln w="9525">
              <a:noFill/>
              <a:miter lim="800000"/>
              <a:headEnd/>
              <a:tailEnd/>
            </a:ln>
            <a:effectLst>
              <a:outerShdw blurRad="38100" dist="25400" dir="2700000" sx="99000" sy="99000" algn="ctr" rotWithShape="0">
                <a:srgbClr val="000000">
                  <a:alpha val="75000"/>
                </a:srgbClr>
              </a:outerShdw>
            </a:effectLst>
          </p:spPr>
          <p:txBody>
            <a:bodyPr wrap="none" anchor="ctr"/>
            <a:lstStyle/>
            <a:p>
              <a:pPr defTabSz="914400">
                <a:defRPr/>
              </a:pPr>
              <a:endParaRPr lang="en-US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0" name="Text Box 307">
              <a:extLst>
                <a:ext uri="{FF2B5EF4-FFF2-40B4-BE49-F238E27FC236}">
                  <a16:creationId xmlns:a16="http://schemas.microsoft.com/office/drawing/2014/main" id="{82F57BF1-DED9-EC8C-E1F8-72B89A5344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5023" y="4121418"/>
              <a:ext cx="117420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2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Response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75208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645213-B2FF-4AB2-3BD6-587822E3F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27265-2FCB-1D7A-EDED-7C2D80A12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the design efficient and effective?</a:t>
            </a:r>
          </a:p>
          <a:p>
            <a:r>
              <a:rPr lang="en-US" dirty="0"/>
              <a:t>Is the system scalable?</a:t>
            </a:r>
          </a:p>
          <a:p>
            <a:r>
              <a:rPr lang="en-US" dirty="0"/>
              <a:t>On-premises vs. cloud resources?</a:t>
            </a:r>
          </a:p>
          <a:p>
            <a:r>
              <a:rPr lang="en-US" dirty="0"/>
              <a:t>Can the model be used elsewhere?</a:t>
            </a:r>
          </a:p>
          <a:p>
            <a:r>
              <a:rPr lang="en-US" dirty="0"/>
              <a:t>Can the model be improved later?</a:t>
            </a:r>
          </a:p>
          <a:p>
            <a:r>
              <a:rPr lang="en-US" dirty="0"/>
              <a:t>Is an agentic approach viable?</a:t>
            </a:r>
          </a:p>
          <a:p>
            <a:r>
              <a:rPr lang="en-US" dirty="0"/>
              <a:t>What are the maintenance costs?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5FCC41E-AB39-6DD2-B5B7-9A1168460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 Generative AI Systems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E7E612-7E7B-2584-7BE5-2821B5E890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21424" y="1920240"/>
            <a:ext cx="4877044" cy="3236976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1463511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AE1304-5819-B84E-9201-26A6138AE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6C423-77DC-A380-0843-AA7B13A21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Minimizes disruption due to changes.</a:t>
            </a:r>
          </a:p>
          <a:p>
            <a:r>
              <a:rPr lang="en-US" dirty="0"/>
              <a:t>Important for generative AI.</a:t>
            </a:r>
          </a:p>
          <a:p>
            <a:r>
              <a:rPr lang="en-US" dirty="0"/>
              <a:t>Key roles:</a:t>
            </a:r>
          </a:p>
          <a:p>
            <a:pPr lvl="1"/>
            <a:r>
              <a:rPr lang="en-US" dirty="0"/>
              <a:t>Change agents</a:t>
            </a:r>
          </a:p>
          <a:p>
            <a:pPr lvl="1"/>
            <a:r>
              <a:rPr lang="en-US" dirty="0"/>
              <a:t>Knowledge translators</a:t>
            </a:r>
          </a:p>
          <a:p>
            <a:pPr lvl="1"/>
            <a:r>
              <a:rPr lang="en-US" dirty="0"/>
              <a:t>Humans in the loop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1C42EC8-1FB4-2522-D435-C500B13FF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 Change Management</a:t>
            </a:r>
          </a:p>
        </p:txBody>
      </p:sp>
      <p:pic>
        <p:nvPicPr>
          <p:cNvPr id="6" name="Picture 5" descr="A picture containing grass, outdoor, nature, sky&#10;&#10;Description automatically generated">
            <a:extLst>
              <a:ext uri="{FF2B5EF4-FFF2-40B4-BE49-F238E27FC236}">
                <a16:creationId xmlns:a16="http://schemas.microsoft.com/office/drawing/2014/main" id="{D818E77E-981B-9D15-B214-9F714DC98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1920240"/>
            <a:ext cx="4855464" cy="3236976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976257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3EBBAB-3FB6-F1F3-A305-5D28EAE3F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D3ED4-C6D6-3010-B279-09CF627BF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Define all necessary factors that affect the success of a generative AI project.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Ensure generative AI aligns with organizational initiatives.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Ensure generative AI aligns with ESG initiatives.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Ensure generative AI aligns with ethical and compliance initiatives.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Acquire the necessary resources and talent.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Educate employees and end users.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Be transparent about the use of generative AI.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Select the appropriate generative AI modalities.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Select the appropriate generative AI tools.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Incorporate generative AI into an IT strategy.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Prototype generative AI solutions before public release.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Implement change-management processes and roles.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C543CE-B9B3-C3AB-214D-C616D87A2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Guidelines for Applying Best Practices for Generative AI in the Organization</a:t>
            </a:r>
          </a:p>
        </p:txBody>
      </p:sp>
      <p:pic>
        <p:nvPicPr>
          <p:cNvPr id="6" name="Graphic 5" descr="Checklist with solid fill">
            <a:extLst>
              <a:ext uri="{FF2B5EF4-FFF2-40B4-BE49-F238E27FC236}">
                <a16:creationId xmlns:a16="http://schemas.microsoft.com/office/drawing/2014/main" id="{A785A972-F6F5-5594-534E-D60BED2097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7843" y="1728651"/>
            <a:ext cx="3400698" cy="3400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2037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313FC6-9A59-0DE0-7027-6B202C884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E5D47E-9F1E-053F-4778-15C8A706A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Read the question scenario in the text. How can you help the sales team select the right generative AI tool for their needs?</a:t>
            </a:r>
          </a:p>
          <a:p>
            <a:pPr>
              <a:buFont typeface="+mj-lt"/>
              <a:buAutoNum type="arabicPeriod"/>
            </a:pPr>
            <a:r>
              <a:rPr lang="en-US" dirty="0"/>
              <a:t>Read the question scenario in the text. How might you ensure that all employees in the organizations are properly educated on the basics and use of generative AI?</a:t>
            </a:r>
          </a:p>
          <a:p>
            <a:pPr>
              <a:buFont typeface="+mj-lt"/>
              <a:buAutoNum type="arabicPeriod"/>
            </a:pPr>
            <a:r>
              <a:rPr lang="en-US" dirty="0"/>
              <a:t>Read the question scenario in the text. How might you assess the design of this prototype to ensure any issues will be addressed in the final release?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3537832-B89B-F9BF-9242-C5BEABDBE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222" y="290945"/>
            <a:ext cx="9214777" cy="792482"/>
          </a:xfrm>
        </p:spPr>
        <p:txBody>
          <a:bodyPr/>
          <a:lstStyle/>
          <a:p>
            <a:r>
              <a:rPr lang="en-US" dirty="0"/>
              <a:t>Activity: Applying Best Practices for Generative AI in the Organization</a:t>
            </a:r>
          </a:p>
        </p:txBody>
      </p:sp>
    </p:spTree>
    <p:extLst>
      <p:ext uri="{BB962C8B-B14F-4D97-AF65-F5344CB8AC3E}">
        <p14:creationId xmlns:p14="http://schemas.microsoft.com/office/powerpoint/2010/main" val="27539093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A9574-4728-752D-B1EC-9E9957D40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A4BED5-ADAD-5769-7D33-03E761D17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D7AA9-D104-5ED8-38B3-6DBB2A9D96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Evaluate the Results of Generative AI Projects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F64BC721-1B91-D215-708B-AA45607C6C6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72567" b="-72567"/>
          <a:stretch/>
        </p:blipFill>
        <p:spPr/>
      </p:pic>
    </p:spTree>
    <p:extLst>
      <p:ext uri="{BB962C8B-B14F-4D97-AF65-F5344CB8AC3E}">
        <p14:creationId xmlns:p14="http://schemas.microsoft.com/office/powerpoint/2010/main" val="33722491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8001EB-29EF-81F3-F5F6-A803FF9AA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20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8F0F03-FE60-874D-2EF2-C338D4879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generative AI accomplishing goals and providing value?</a:t>
            </a:r>
          </a:p>
          <a:p>
            <a:r>
              <a:rPr lang="en-US" dirty="0"/>
              <a:t>Aspects of impact analysis:</a:t>
            </a:r>
          </a:p>
          <a:p>
            <a:pPr lvl="1"/>
            <a:r>
              <a:rPr lang="en-US" dirty="0"/>
              <a:t>Degree to which goals/objectives are achieved.</a:t>
            </a:r>
          </a:p>
          <a:p>
            <a:pPr lvl="1"/>
            <a:r>
              <a:rPr lang="en-US" dirty="0"/>
              <a:t>Tracing goal outcomes to objectives.</a:t>
            </a:r>
          </a:p>
          <a:p>
            <a:pPr lvl="1"/>
            <a:r>
              <a:rPr lang="en-US" dirty="0"/>
              <a:t>Identifying ROI.</a:t>
            </a:r>
          </a:p>
          <a:p>
            <a:pPr lvl="1"/>
            <a:r>
              <a:rPr lang="en-US" dirty="0"/>
              <a:t>Identifying ethical and brand impacts.</a:t>
            </a:r>
          </a:p>
          <a:p>
            <a:pPr lvl="1"/>
            <a:r>
              <a:rPr lang="en-US" dirty="0"/>
              <a:t>Finding out what decision makers think.</a:t>
            </a:r>
          </a:p>
          <a:p>
            <a:r>
              <a:rPr lang="en-US" dirty="0"/>
              <a:t>Conclusions could prompt different actions.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77DAFE6-B9F7-5671-8136-EE287453F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 Business Impact</a:t>
            </a:r>
          </a:p>
        </p:txBody>
      </p:sp>
      <p:pic>
        <p:nvPicPr>
          <p:cNvPr id="8" name="Picture 7" descr="A picture containing text, tablet computer, communication device, mobile phone&#10;&#10;Description automatically generated">
            <a:extLst>
              <a:ext uri="{FF2B5EF4-FFF2-40B4-BE49-F238E27FC236}">
                <a16:creationId xmlns:a16="http://schemas.microsoft.com/office/drawing/2014/main" id="{A8F711CB-4CB0-9845-20E7-A53009F0E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1920240"/>
            <a:ext cx="4855464" cy="3236976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4942254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E20549-F3D6-308E-FC8B-2DFEF103B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CA197-FDDB-D14B-F2FD-897A42803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Evaluate generative AI solution against alternatives.</a:t>
            </a:r>
          </a:p>
          <a:p>
            <a:r>
              <a:rPr lang="en-US" dirty="0"/>
              <a:t>Is the solution worth the time, effort, and money?</a:t>
            </a:r>
          </a:p>
          <a:p>
            <a:r>
              <a:rPr lang="en-US" dirty="0"/>
              <a:t>General best practices:</a:t>
            </a:r>
          </a:p>
          <a:p>
            <a:pPr lvl="1"/>
            <a:r>
              <a:rPr lang="en-US" dirty="0"/>
              <a:t>Create a baseline of acceptable results.</a:t>
            </a:r>
          </a:p>
          <a:p>
            <a:pPr lvl="1"/>
            <a:r>
              <a:rPr lang="en-US" dirty="0"/>
              <a:t>Perform A/B testing.</a:t>
            </a:r>
          </a:p>
          <a:p>
            <a:pPr lvl="1"/>
            <a:r>
              <a:rPr lang="en-US" dirty="0"/>
              <a:t>Track efficiency gains/losses.</a:t>
            </a:r>
          </a:p>
          <a:p>
            <a:r>
              <a:rPr lang="en-US" dirty="0"/>
              <a:t>Can also compare two generative solutions.</a:t>
            </a:r>
          </a:p>
          <a:p>
            <a:pPr lvl="1"/>
            <a:r>
              <a:rPr lang="en-US" dirty="0"/>
              <a:t>System vs. system.</a:t>
            </a:r>
          </a:p>
          <a:p>
            <a:pPr lvl="1"/>
            <a:r>
              <a:rPr lang="en-US" dirty="0"/>
              <a:t>Modality vs. modality.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21955AE-5D66-1E46-9BCD-466F59CED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 Comparative Analysis</a:t>
            </a:r>
          </a:p>
        </p:txBody>
      </p:sp>
      <p:pic>
        <p:nvPicPr>
          <p:cNvPr id="6" name="Picture 5" descr="A picture containing person, laboratory equipment, medical, medical equipment&#10;&#10;Description automatically generated">
            <a:extLst>
              <a:ext uri="{FF2B5EF4-FFF2-40B4-BE49-F238E27FC236}">
                <a16:creationId xmlns:a16="http://schemas.microsoft.com/office/drawing/2014/main" id="{1D89A258-C0F2-B99E-0C39-4AADEB6A9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1920240"/>
            <a:ext cx="4855464" cy="3236976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5181604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99CBF4-FF54-AC32-3E00-F1C816C37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90C28-579B-6E1C-75C9-EE446F7D7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First, identify who your users are.</a:t>
            </a:r>
          </a:p>
          <a:p>
            <a:r>
              <a:rPr lang="en-US" dirty="0"/>
              <a:t>Methods of collecting feedback:</a:t>
            </a:r>
          </a:p>
          <a:p>
            <a:pPr lvl="1"/>
            <a:r>
              <a:rPr lang="en-US" dirty="0"/>
              <a:t>Surveys and questionnaires</a:t>
            </a:r>
          </a:p>
          <a:p>
            <a:pPr lvl="1"/>
            <a:r>
              <a:rPr lang="en-US" dirty="0"/>
              <a:t>Interviews and focus groups</a:t>
            </a:r>
          </a:p>
          <a:p>
            <a:pPr lvl="1"/>
            <a:r>
              <a:rPr lang="en-US" dirty="0"/>
              <a:t>Online reviews and feedback</a:t>
            </a:r>
          </a:p>
          <a:p>
            <a:pPr lvl="1"/>
            <a:r>
              <a:rPr lang="en-US" dirty="0"/>
              <a:t>Customer support channels</a:t>
            </a:r>
          </a:p>
          <a:p>
            <a:pPr lvl="1"/>
            <a:r>
              <a:rPr lang="en-US" dirty="0"/>
              <a:t>Beta testing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1B6D99E-3F42-EDCC-51DD-70B8B7AA4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 User Feedback</a:t>
            </a:r>
          </a:p>
        </p:txBody>
      </p:sp>
      <p:pic>
        <p:nvPicPr>
          <p:cNvPr id="6" name="Picture 5" descr="A picture containing clothing, person, balloon, indoor&#10;&#10;Description automatically generated">
            <a:extLst>
              <a:ext uri="{FF2B5EF4-FFF2-40B4-BE49-F238E27FC236}">
                <a16:creationId xmlns:a16="http://schemas.microsoft.com/office/drawing/2014/main" id="{0095628C-D331-8EF8-112E-407A884D5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1920240"/>
            <a:ext cx="4855464" cy="3236976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33008466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558848-19EC-523F-AF4C-B7EC35028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26B74-A22A-866C-1695-C0AFFF6EB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Usage data reveals factors like:</a:t>
            </a:r>
          </a:p>
          <a:p>
            <a:pPr lvl="1"/>
            <a:r>
              <a:rPr lang="en-US" dirty="0"/>
              <a:t>Performance</a:t>
            </a:r>
          </a:p>
          <a:p>
            <a:pPr lvl="1"/>
            <a:r>
              <a:rPr lang="en-US" dirty="0"/>
              <a:t>Areas for improvement</a:t>
            </a:r>
          </a:p>
          <a:p>
            <a:pPr lvl="1"/>
            <a:r>
              <a:rPr lang="en-US" dirty="0"/>
              <a:t>User behavior</a:t>
            </a:r>
          </a:p>
          <a:p>
            <a:r>
              <a:rPr lang="en-US" dirty="0"/>
              <a:t>Useful tactics:</a:t>
            </a:r>
          </a:p>
          <a:p>
            <a:pPr lvl="1"/>
            <a:r>
              <a:rPr lang="en-US" dirty="0"/>
              <a:t>Track user/system behavior.</a:t>
            </a:r>
          </a:p>
          <a:p>
            <a:pPr lvl="1"/>
            <a:r>
              <a:rPr lang="en-US" dirty="0"/>
              <a:t>Monitor system performance.</a:t>
            </a:r>
          </a:p>
          <a:p>
            <a:pPr lvl="1"/>
            <a:r>
              <a:rPr lang="en-US" dirty="0"/>
              <a:t>Continuously monitor usage.</a:t>
            </a:r>
          </a:p>
          <a:p>
            <a:pPr lvl="1"/>
            <a:r>
              <a:rPr lang="en-US" dirty="0"/>
              <a:t>Process and store usage data.</a:t>
            </a:r>
          </a:p>
          <a:p>
            <a:pPr lvl="1"/>
            <a:r>
              <a:rPr lang="en-US" dirty="0"/>
              <a:t>Perform data analysis.</a:t>
            </a:r>
          </a:p>
          <a:p>
            <a:pPr lvl="1"/>
            <a:r>
              <a:rPr lang="en-US" dirty="0"/>
              <a:t>Define relevant metrics.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069491-2030-F147-8E28-A137F090A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 and Analyze Usage of Generative AI Systems</a:t>
            </a:r>
          </a:p>
        </p:txBody>
      </p:sp>
      <p:pic>
        <p:nvPicPr>
          <p:cNvPr id="6" name="Picture 5" descr="A picture containing text, computer, tablet computer, electronics&#10;&#10;Description automatically generated">
            <a:extLst>
              <a:ext uri="{FF2B5EF4-FFF2-40B4-BE49-F238E27FC236}">
                <a16:creationId xmlns:a16="http://schemas.microsoft.com/office/drawing/2014/main" id="{AD098707-017B-B110-9B02-828827CA8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1920240"/>
            <a:ext cx="4855464" cy="3236976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28724491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31B0BF-106C-74E1-0FEB-02AE0564E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029AA-9AF5-6E11-D9A9-E36D2CC0B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Metrics that align with business goals/objectives.</a:t>
            </a:r>
          </a:p>
          <a:p>
            <a:r>
              <a:rPr lang="en-US" dirty="0"/>
              <a:t>Potential generative AI KPIs:</a:t>
            </a:r>
          </a:p>
          <a:p>
            <a:pPr lvl="1"/>
            <a:r>
              <a:rPr lang="en-US" dirty="0"/>
              <a:t>User-engagement metrics</a:t>
            </a:r>
          </a:p>
          <a:p>
            <a:pPr lvl="1"/>
            <a:r>
              <a:rPr lang="en-US" dirty="0"/>
              <a:t>Quality metrics</a:t>
            </a:r>
          </a:p>
          <a:p>
            <a:pPr lvl="1"/>
            <a:r>
              <a:rPr lang="en-US" dirty="0"/>
              <a:t>Efficiency metrics</a:t>
            </a:r>
          </a:p>
          <a:p>
            <a:pPr lvl="1"/>
            <a:r>
              <a:rPr lang="en-US" dirty="0"/>
              <a:t>User-feedback metrics</a:t>
            </a:r>
          </a:p>
          <a:p>
            <a:pPr lvl="1"/>
            <a:r>
              <a:rPr lang="en-US" dirty="0"/>
              <a:t>Error metrics</a:t>
            </a:r>
          </a:p>
          <a:p>
            <a:pPr lvl="1"/>
            <a:r>
              <a:rPr lang="en-US" dirty="0"/>
              <a:t>Scalability metrics</a:t>
            </a:r>
          </a:p>
          <a:p>
            <a:pPr lvl="1"/>
            <a:r>
              <a:rPr lang="en-US" dirty="0"/>
              <a:t>Cost metrics</a:t>
            </a:r>
          </a:p>
          <a:p>
            <a:pPr lvl="1"/>
            <a:r>
              <a:rPr lang="en-US" dirty="0"/>
              <a:t>Productivity metrics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041CDE9-C3FB-C413-A789-4226F81B9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 Key Performance Indicators (KPIs)</a:t>
            </a:r>
          </a:p>
        </p:txBody>
      </p:sp>
      <p:pic>
        <p:nvPicPr>
          <p:cNvPr id="6" name="Picture 5" descr="A hand drawing a graph&#10;&#10;Description automatically generated with medium confidence">
            <a:extLst>
              <a:ext uri="{FF2B5EF4-FFF2-40B4-BE49-F238E27FC236}">
                <a16:creationId xmlns:a16="http://schemas.microsoft.com/office/drawing/2014/main" id="{2AFB0B24-FA31-DFE6-DB0A-4483B5140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1929384"/>
            <a:ext cx="5350268" cy="3346704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976765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9B3491-DED8-08F1-4F9F-71B8E8579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FEF3A-4B8B-9694-E029-2E61559DA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limitations using aforementioned techniques.</a:t>
            </a:r>
          </a:p>
          <a:p>
            <a:r>
              <a:rPr lang="en-US" dirty="0"/>
              <a:t>Additional techniques:</a:t>
            </a:r>
          </a:p>
          <a:p>
            <a:pPr lvl="1"/>
            <a:r>
              <a:rPr lang="en-US" dirty="0"/>
              <a:t>Perform extensive testing.</a:t>
            </a:r>
          </a:p>
          <a:p>
            <a:pPr lvl="1"/>
            <a:r>
              <a:rPr lang="en-US" dirty="0"/>
              <a:t>Consult AI experts.</a:t>
            </a:r>
          </a:p>
          <a:p>
            <a:pPr lvl="1"/>
            <a:r>
              <a:rPr lang="en-US" dirty="0"/>
              <a:t>Consult business stakeholders.</a:t>
            </a:r>
          </a:p>
          <a:p>
            <a:r>
              <a:rPr lang="en-US" dirty="0"/>
              <a:t>Recall common limitations/challenges.</a:t>
            </a:r>
          </a:p>
          <a:p>
            <a:pPr lvl="1"/>
            <a:r>
              <a:rPr lang="en-US" dirty="0"/>
              <a:t>Confabulation, output delays, ethics, etc.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4C048DB-5A4D-41C1-BD4F-78AA5FC8D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Project Limitations</a:t>
            </a:r>
          </a:p>
        </p:txBody>
      </p:sp>
      <p:pic>
        <p:nvPicPr>
          <p:cNvPr id="6" name="Picture 5" descr="A picture containing outdoor, sky, plant, grass&#10;&#10;Description automatically generated">
            <a:extLst>
              <a:ext uri="{FF2B5EF4-FFF2-40B4-BE49-F238E27FC236}">
                <a16:creationId xmlns:a16="http://schemas.microsoft.com/office/drawing/2014/main" id="{2DD64BD8-F9C1-0723-7E28-3BC366C99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1929384"/>
            <a:ext cx="5413371" cy="3346704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6707812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A13109-BC72-BCAC-6A3F-5A90067D0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0A67F-3841-B00C-1F2D-DD5ED4939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Outcomes include:</a:t>
            </a:r>
          </a:p>
          <a:p>
            <a:pPr lvl="1"/>
            <a:r>
              <a:rPr lang="en-US" dirty="0"/>
              <a:t>Brand damage, workforce disruption, financial loss, etc.</a:t>
            </a:r>
          </a:p>
          <a:p>
            <a:r>
              <a:rPr lang="en-US" dirty="0"/>
              <a:t>Tactics:</a:t>
            </a:r>
          </a:p>
          <a:p>
            <a:pPr lvl="1"/>
            <a:r>
              <a:rPr lang="en-US" dirty="0"/>
              <a:t>Define criteria.</a:t>
            </a:r>
          </a:p>
          <a:p>
            <a:pPr lvl="1"/>
            <a:r>
              <a:rPr lang="en-US" dirty="0"/>
              <a:t>Monitor public perceptions.</a:t>
            </a:r>
          </a:p>
          <a:p>
            <a:pPr lvl="1"/>
            <a:r>
              <a:rPr lang="en-US" dirty="0"/>
              <a:t>Solicit stakeholder feedback.</a:t>
            </a:r>
          </a:p>
          <a:p>
            <a:pPr lvl="1"/>
            <a:r>
              <a:rPr lang="en-US" dirty="0"/>
              <a:t>Conduct audits.</a:t>
            </a:r>
          </a:p>
          <a:p>
            <a:pPr lvl="1"/>
            <a:r>
              <a:rPr lang="en-US" dirty="0"/>
              <a:t>Watch for agentic drift.</a:t>
            </a:r>
          </a:p>
          <a:p>
            <a:pPr lvl="1"/>
            <a:r>
              <a:rPr lang="en-US" dirty="0"/>
              <a:t>Review/update policies.</a:t>
            </a:r>
          </a:p>
          <a:p>
            <a:pPr lvl="1"/>
            <a:r>
              <a:rPr lang="en-US" dirty="0"/>
              <a:t>Support governance measures.</a:t>
            </a:r>
          </a:p>
          <a:p>
            <a:pPr lvl="1"/>
            <a:r>
              <a:rPr lang="en-US" dirty="0"/>
              <a:t>Participate in ethics-driven communities.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FF7032-C60D-B691-2DF0-E7B87D6E2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Undesirable Outcomes</a:t>
            </a:r>
          </a:p>
        </p:txBody>
      </p:sp>
      <p:pic>
        <p:nvPicPr>
          <p:cNvPr id="6" name="Picture 5" descr="A group of light bulbs&#10;&#10;Description automatically generated with medium confidence">
            <a:extLst>
              <a:ext uri="{FF2B5EF4-FFF2-40B4-BE49-F238E27FC236}">
                <a16:creationId xmlns:a16="http://schemas.microsoft.com/office/drawing/2014/main" id="{C9F81EEC-7B6B-BC39-4864-DB367B76D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920240"/>
            <a:ext cx="4783429" cy="3383280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6260811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37B02C-B949-4318-E267-760864176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5593F-716E-6907-F9F1-B04D51413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Long-term viability is crucial in most instances.</a:t>
            </a:r>
          </a:p>
          <a:p>
            <a:r>
              <a:rPr lang="en-US" dirty="0"/>
              <a:t>Questions to ask about the solution:</a:t>
            </a:r>
          </a:p>
          <a:p>
            <a:pPr lvl="1"/>
            <a:r>
              <a:rPr lang="en-US" dirty="0"/>
              <a:t>Will it be cost effective over a long period of time?</a:t>
            </a:r>
          </a:p>
          <a:p>
            <a:pPr lvl="1"/>
            <a:r>
              <a:rPr lang="en-US" dirty="0"/>
              <a:t>Does it have enough maintenance resources?</a:t>
            </a:r>
          </a:p>
          <a:p>
            <a:pPr lvl="1"/>
            <a:r>
              <a:rPr lang="en-US" dirty="0"/>
              <a:t>Is there an update plan?</a:t>
            </a:r>
          </a:p>
          <a:p>
            <a:pPr lvl="1"/>
            <a:r>
              <a:rPr lang="en-US" dirty="0"/>
              <a:t>Is there a steady flow of training data?</a:t>
            </a:r>
          </a:p>
          <a:p>
            <a:pPr lvl="1"/>
            <a:r>
              <a:rPr lang="en-US" dirty="0"/>
              <a:t>Can it meet user needs/satisfaction?</a:t>
            </a:r>
          </a:p>
          <a:p>
            <a:pPr lvl="1"/>
            <a:r>
              <a:rPr lang="en-US" dirty="0"/>
              <a:t>Is it forward compatible?</a:t>
            </a:r>
          </a:p>
          <a:p>
            <a:pPr lvl="1"/>
            <a:r>
              <a:rPr lang="en-US" dirty="0"/>
              <a:t>Can it sustain ethics/security principles?</a:t>
            </a:r>
          </a:p>
          <a:p>
            <a:pPr lvl="1"/>
            <a:r>
              <a:rPr lang="en-US" dirty="0"/>
              <a:t>Can it adapt to changing needs?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9831DB1-D321-DB31-56E4-4309C20EC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 Long-Term Sustainability</a:t>
            </a:r>
          </a:p>
        </p:txBody>
      </p:sp>
      <p:pic>
        <p:nvPicPr>
          <p:cNvPr id="6" name="Picture 5" descr="A close-up of a calendar&#10;&#10;Description automatically generated">
            <a:extLst>
              <a:ext uri="{FF2B5EF4-FFF2-40B4-BE49-F238E27FC236}">
                <a16:creationId xmlns:a16="http://schemas.microsoft.com/office/drawing/2014/main" id="{0A93BBF7-8B09-549E-5917-32020CE68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264" y="1764792"/>
            <a:ext cx="5059680" cy="3794760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28622125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706C32-BF19-F3E3-ADD9-CD41FAF5D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7F4B2-B670-B752-73E2-22C6EF73F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Assess the business impact of solutions.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Perform comparative analysis of solutions and alternatives.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Collect feedback from users.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Monitor and analyze usage.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Define and measure KPIs.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Identify limitations of solutions.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Identify undesired outcomes from solutions.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Assess the long-term sustainability of solutions.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09E74C-E23C-B149-FC6C-9ED167A67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Guidelines for Evaluating the Results of Generative AI Projects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AE25C9CB-BA13-E20A-4A21-F92A4F3C44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7843" y="1728651"/>
            <a:ext cx="3400698" cy="3400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9676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E263AB-AA8D-812C-989D-E2A05BF1C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F05DC2-F3F5-2F65-6F94-7E4163272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Read the question scenario in the text. What are some KPIs that could help you evaluate the success of this generative AI project?</a:t>
            </a:r>
          </a:p>
          <a:p>
            <a:pPr>
              <a:buFont typeface="+mj-lt"/>
              <a:buAutoNum type="arabicPeriod"/>
            </a:pPr>
            <a:r>
              <a:rPr lang="en-US" dirty="0"/>
              <a:t>Read the question scenario in the text. How might you evaluate usage of the app and collect user feedback?</a:t>
            </a:r>
          </a:p>
          <a:p>
            <a:pPr>
              <a:buFont typeface="+mj-lt"/>
              <a:buAutoNum type="arabicPeriod"/>
            </a:pPr>
            <a:r>
              <a:rPr lang="en-US" dirty="0"/>
              <a:t>Read the question scenario in the text. How might you assess the long-term sustainability of this chatbot?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C3F426-D780-B57E-044B-598B24AB7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222" y="290945"/>
            <a:ext cx="7903335" cy="792482"/>
          </a:xfrm>
        </p:spPr>
        <p:txBody>
          <a:bodyPr/>
          <a:lstStyle/>
          <a:p>
            <a:r>
              <a:rPr lang="en-US" dirty="0"/>
              <a:t>Activity: Evaluating the Results of Generative AI Projects</a:t>
            </a:r>
          </a:p>
        </p:txBody>
      </p:sp>
    </p:spTree>
    <p:extLst>
      <p:ext uri="{BB962C8B-B14F-4D97-AF65-F5344CB8AC3E}">
        <p14:creationId xmlns:p14="http://schemas.microsoft.com/office/powerpoint/2010/main" val="3417499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66C9B1-39AE-C744-9CCB-B1B902A6F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0E2B-4E33-CB49-95F1-AC0E74888D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What best practices for implementing generative AI do you think will be most challenging for your organization? Why?</a:t>
            </a:r>
          </a:p>
          <a:p>
            <a:r>
              <a:rPr lang="en-US" dirty="0"/>
              <a:t>What techniques for evaluating the results of generative AI is your organization most likely to implement? Why?</a:t>
            </a:r>
          </a:p>
        </p:txBody>
      </p:sp>
    </p:spTree>
    <p:extLst>
      <p:ext uri="{BB962C8B-B14F-4D97-AF65-F5344CB8AC3E}">
        <p14:creationId xmlns:p14="http://schemas.microsoft.com/office/powerpoint/2010/main" val="4093992310"/>
      </p:ext>
    </p:extLst>
  </p:cSld>
  <p:clrMapOvr>
    <a:masterClrMapping/>
  </p:clrMapOvr>
</p:sld>
</file>

<file path=ppt/theme/theme1.xml><?xml version="1.0" encoding="utf-8"?>
<a:theme xmlns:a="http://schemas.openxmlformats.org/drawingml/2006/main" name="CNX">
  <a:themeElements>
    <a:clrScheme name="CNX 1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9DDC"/>
      </a:accent1>
      <a:accent2>
        <a:srgbClr val="1D76BB"/>
      </a:accent2>
      <a:accent3>
        <a:srgbClr val="F05323"/>
      </a:accent3>
      <a:accent4>
        <a:srgbClr val="1D3764"/>
      </a:accent4>
      <a:accent5>
        <a:srgbClr val="C1C5C9"/>
      </a:accent5>
      <a:accent6>
        <a:srgbClr val="009DDC"/>
      </a:accent6>
      <a:hlink>
        <a:srgbClr val="009DDC"/>
      </a:hlink>
      <a:folHlink>
        <a:srgbClr val="009DD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 cap="flat" cmpd="sng" algn="ctr">
          <a:solidFill>
            <a:srgbClr val="FF0000"/>
          </a:solidFill>
          <a:prstDash val="solid"/>
        </a:ln>
        <a:effectLst/>
      </a:spPr>
      <a:bodyPr rtlCol="0" anchor="ctr"/>
      <a:lstStyle>
        <a:defPPr algn="ctr" defTabSz="914400">
          <a:defRPr sz="1100" b="1" kern="0" dirty="0" err="1" smtClean="0">
            <a:solidFill>
              <a:srgbClr val="FF0000"/>
            </a:solidFill>
            <a:latin typeface="Arial"/>
          </a:defRPr>
        </a:defPPr>
      </a:lstStyle>
    </a:spDef>
    <a:lnDef>
      <a:spPr>
        <a:ln w="1905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NX_OV_Template_BIZ_1.4.potx" id="{FC8E00D4-5C18-4A7B-A267-D7664A2A2578}" vid="{0731E515-B91B-47E2-8213-240CAD63641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A3E69E70E30E468993238898FCF574" ma:contentTypeVersion="4" ma:contentTypeDescription="Create a new document." ma:contentTypeScope="" ma:versionID="dc0a16b6a225e328636b89082a0fd4a9">
  <xsd:schema xmlns:xsd="http://www.w3.org/2001/XMLSchema" xmlns:xs="http://www.w3.org/2001/XMLSchema" xmlns:p="http://schemas.microsoft.com/office/2006/metadata/properties" xmlns:ns2="64dd2cb5-7863-47d4-b3f2-5b70c1925be2" targetNamespace="http://schemas.microsoft.com/office/2006/metadata/properties" ma:root="true" ma:fieldsID="b5d20a745309770a795a0694b6cd691c" ns2:_="">
    <xsd:import namespace="64dd2cb5-7863-47d4-b3f2-5b70c1925b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dd2cb5-7863-47d4-b3f2-5b70c1925b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77BBCB1-D0C3-46F8-A7FC-B2722C0802B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5412840-34B3-43D0-9071-24C4F0CCE5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dd2cb5-7863-47d4-b3f2-5b70c1925b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EE0D89E-233E-41F5-B369-92342F4EEEF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CNX_OV_Template_BIZ_1.4</Template>
  <TotalTime>85</TotalTime>
  <Words>1450</Words>
  <Application>Microsoft Office PowerPoint</Application>
  <PresentationFormat>Widescreen</PresentationFormat>
  <Paragraphs>273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Wingdings</vt:lpstr>
      <vt:lpstr>CNX</vt:lpstr>
      <vt:lpstr>Implementing Business Strategies for Generative AI</vt:lpstr>
      <vt:lpstr>Implementing Business Strategies for Generative AI</vt:lpstr>
      <vt:lpstr>PowerPoint Presentation</vt:lpstr>
      <vt:lpstr>Define Project Factors</vt:lpstr>
      <vt:lpstr>Align to Organizational Initiatives</vt:lpstr>
      <vt:lpstr>Align to Environmental, Social, and Governance (ESG) Initiatives</vt:lpstr>
      <vt:lpstr>Align to Ethics and Compliance Initiatives</vt:lpstr>
      <vt:lpstr>Acquire Resources and Job Expertise</vt:lpstr>
      <vt:lpstr>Educate End Users and Employees</vt:lpstr>
      <vt:lpstr>Be Transparent About AI-Generated Content</vt:lpstr>
      <vt:lpstr>Select Appropriate Generative AI Modalities</vt:lpstr>
      <vt:lpstr>Select Appropriate Generative AI Tools</vt:lpstr>
      <vt:lpstr>Apply IT Strategy and Infrastructure</vt:lpstr>
      <vt:lpstr>Example Infrastructure</vt:lpstr>
      <vt:lpstr>Prototype Generative AI Systems</vt:lpstr>
      <vt:lpstr>Implement Change Management</vt:lpstr>
      <vt:lpstr>Guidelines for Applying Best Practices for Generative AI in the Organization</vt:lpstr>
      <vt:lpstr>Activity: Applying Best Practices for Generative AI in the Organization</vt:lpstr>
      <vt:lpstr>PowerPoint Presentation</vt:lpstr>
      <vt:lpstr>Assess Business Impact</vt:lpstr>
      <vt:lpstr>Perform Comparative Analysis</vt:lpstr>
      <vt:lpstr>Collect User Feedback</vt:lpstr>
      <vt:lpstr>Monitor and Analyze Usage of Generative AI Systems</vt:lpstr>
      <vt:lpstr>Measure Key Performance Indicators (KPIs)</vt:lpstr>
      <vt:lpstr>Identify Project Limitations</vt:lpstr>
      <vt:lpstr>Identify Undesirable Outcomes</vt:lpstr>
      <vt:lpstr>Assess Long-Term Sustainability</vt:lpstr>
      <vt:lpstr>Guidelines for Evaluating the Results of Generative AI Projects</vt:lpstr>
      <vt:lpstr>Activity: Evaluating the Results of Generative AI Projects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Nufryk</dc:creator>
  <cp:lastModifiedBy>Jason Nufryk</cp:lastModifiedBy>
  <cp:revision>12</cp:revision>
  <dcterms:created xsi:type="dcterms:W3CDTF">2025-07-16T12:39:20Z</dcterms:created>
  <dcterms:modified xsi:type="dcterms:W3CDTF">2025-09-17T15:54:39Z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0x0101000FA3E69E70E30E468993238898FCF574</vt:lpwstr>
  </property>
</Properties>
</file>