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40"/>
  </p:notesMasterIdLst>
  <p:handoutMasterIdLst>
    <p:handoutMasterId r:id="rId41"/>
  </p:handoutMasterIdLst>
  <p:sldIdLst>
    <p:sldId id="274" r:id="rId5"/>
    <p:sldId id="272" r:id="rId6"/>
    <p:sldId id="275" r:id="rId7"/>
    <p:sldId id="342" r:id="rId8"/>
    <p:sldId id="343" r:id="rId9"/>
    <p:sldId id="303" r:id="rId10"/>
    <p:sldId id="302" r:id="rId11"/>
    <p:sldId id="304" r:id="rId12"/>
    <p:sldId id="314" r:id="rId13"/>
    <p:sldId id="306" r:id="rId14"/>
    <p:sldId id="305" r:id="rId15"/>
    <p:sldId id="308" r:id="rId16"/>
    <p:sldId id="312" r:id="rId17"/>
    <p:sldId id="344" r:id="rId18"/>
    <p:sldId id="315" r:id="rId19"/>
    <p:sldId id="345" r:id="rId20"/>
    <p:sldId id="340" r:id="rId21"/>
    <p:sldId id="338" r:id="rId22"/>
    <p:sldId id="276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9" r:id="rId38"/>
    <p:sldId id="34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6AC"/>
    <a:srgbClr val="F05323"/>
    <a:srgbClr val="1D76BB"/>
    <a:srgbClr val="FAAF41"/>
    <a:srgbClr val="198CA8"/>
    <a:srgbClr val="E71854"/>
    <a:srgbClr val="1D3764"/>
    <a:srgbClr val="FAD02C"/>
    <a:srgbClr val="009DDC"/>
    <a:srgbClr val="C1C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51" d="100"/>
          <a:sy n="151" d="100"/>
        </p:scale>
        <p:origin x="2946" y="3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9AB39-49BA-0A53-3DD3-3C03E896E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5706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2D1A8F-30B0-61E3-A62C-B4E601433CDC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56FEA-E1F8-A943-34A7-D4AE081AD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63CA8-A72F-6BDC-F6DB-10B64F534DB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2164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44C451-2A23-712B-69C9-72B95AABEF4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54BA7C-0CF2-7491-2AF6-A9807C75BDD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B59A8-0284-7432-CE8D-4D17DDCF291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B0B4EB-6E3F-B864-1C37-2341FA1B9631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7E4E289-495F-C56C-3DB1-9244A1D22084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72" r:id="rId10"/>
    <p:sldLayoutId id="2147483951" r:id="rId11"/>
    <p:sldLayoutId id="2147483973" r:id="rId12"/>
    <p:sldLayoutId id="2147483936" r:id="rId13"/>
    <p:sldLayoutId id="2147483937" r:id="rId14"/>
    <p:sldLayoutId id="2147483934" r:id="rId15"/>
    <p:sldLayoutId id="2147483935" r:id="rId16"/>
    <p:sldLayoutId id="2147483939" r:id="rId17"/>
    <p:sldLayoutId id="2147483940" r:id="rId18"/>
    <p:sldLayoutId id="2147483955" r:id="rId19"/>
    <p:sldLayoutId id="2147483950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0264-38DA-BC9C-68BC-0CF65B4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Text Using 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0B37D-3949-E27E-3673-0005E744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0D2C956-A91F-C643-216C-09D65627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Text Generation Concepts</a:t>
            </a:r>
          </a:p>
          <a:p>
            <a:r>
              <a:rPr lang="en-US" dirty="0"/>
              <a:t>Solve Business Problems Using Text Generation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Text Using AI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Text Generation Concepts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653528-72C9-FF13-9DEF-8130F8485E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106364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FB1B1-526D-53BB-FA32-00753674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A68A7-D99D-39D3-ADD8-42EB58CA6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Answers questions, solves problems, etc.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Based on GPT architecture.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Foundational models.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Trillions of parameters.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E400C1-4A1A-E759-C803-48806E46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EFC55-0B3D-5BC0-A7A6-C14E742596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LLM</a:t>
            </a:r>
            <a:r>
              <a:rPr lang="en-US" dirty="0"/>
              <a:t>: A deep learning model that analyzes patterns in very large bodies of text in order to determine how best to predict some kind of textual output.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F67A1-2651-3DAD-AB07-EB34B9DF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2423" y="2522690"/>
            <a:ext cx="4323697" cy="288133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70180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B7955-E94E-0928-03A8-2BD5F841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1F5A-D5CB-97E7-4B52-B234F50A6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1 token = ~4 characters.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100 tokens = ~75 words.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APIs usually charge by the token.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ED06F9-D021-60A7-DB89-2274F12C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0E893-98B9-5ADC-E061-299A39F2C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Token</a:t>
            </a:r>
            <a:r>
              <a:rPr lang="en-US" dirty="0"/>
              <a:t>: A small sequence of written language that has been partitioned from the whole.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742767-28CF-4D4F-1528-EFD7E331FF70}"/>
              </a:ext>
            </a:extLst>
          </p:cNvPr>
          <p:cNvGrpSpPr/>
          <p:nvPr/>
        </p:nvGrpSpPr>
        <p:grpSpPr>
          <a:xfrm>
            <a:off x="1800225" y="4240931"/>
            <a:ext cx="8591550" cy="338140"/>
            <a:chOff x="1795464" y="3796431"/>
            <a:chExt cx="8591550" cy="3381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5A1CAD-24FD-01B3-7D63-6F64764FA33F}"/>
                </a:ext>
              </a:extLst>
            </p:cNvPr>
            <p:cNvSpPr/>
            <p:nvPr/>
          </p:nvSpPr>
          <p:spPr>
            <a:xfrm>
              <a:off x="1795464" y="3796434"/>
              <a:ext cx="552450" cy="338137"/>
            </a:xfrm>
            <a:prstGeom prst="rect">
              <a:avLst/>
            </a:prstGeom>
            <a:solidFill>
              <a:srgbClr val="009DDC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1AACBB-3E72-566F-72C2-3511D5DB4A1D}"/>
                </a:ext>
              </a:extLst>
            </p:cNvPr>
            <p:cNvSpPr/>
            <p:nvPr/>
          </p:nvSpPr>
          <p:spPr>
            <a:xfrm>
              <a:off x="2347913" y="3796434"/>
              <a:ext cx="1281112" cy="338137"/>
            </a:xfrm>
            <a:prstGeom prst="rect">
              <a:avLst/>
            </a:prstGeom>
            <a:solidFill>
              <a:srgbClr val="FAD02C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ificial</a:t>
              </a:r>
              <a:endParaRPr lang="en-US" sz="2400" b="1" kern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BDE15E-4E64-4B0E-FBB9-93E41CBFCAA6}"/>
                </a:ext>
              </a:extLst>
            </p:cNvPr>
            <p:cNvSpPr/>
            <p:nvPr/>
          </p:nvSpPr>
          <p:spPr>
            <a:xfrm>
              <a:off x="3629024" y="3796434"/>
              <a:ext cx="1281113" cy="338137"/>
            </a:xfrm>
            <a:prstGeom prst="rect">
              <a:avLst/>
            </a:prstGeom>
            <a:solidFill>
              <a:srgbClr val="1D3764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neural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2314E1-E61D-EE38-51FD-1EBA2F475DE2}"/>
                </a:ext>
              </a:extLst>
            </p:cNvPr>
            <p:cNvSpPr/>
            <p:nvPr/>
          </p:nvSpPr>
          <p:spPr>
            <a:xfrm>
              <a:off x="4910136" y="3796434"/>
              <a:ext cx="1643063" cy="338137"/>
            </a:xfrm>
            <a:prstGeom prst="rect">
              <a:avLst/>
            </a:prstGeom>
            <a:solidFill>
              <a:srgbClr val="E71854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networks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53EC37-10BC-31C1-F61D-61A65B81710C}"/>
                </a:ext>
              </a:extLst>
            </p:cNvPr>
            <p:cNvSpPr/>
            <p:nvPr/>
          </p:nvSpPr>
          <p:spPr>
            <a:xfrm>
              <a:off x="6553200" y="3796433"/>
              <a:ext cx="1095376" cy="338137"/>
            </a:xfrm>
            <a:prstGeom prst="rect">
              <a:avLst/>
            </a:prstGeom>
            <a:solidFill>
              <a:srgbClr val="198CA8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power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717D93-42C1-ACB7-0923-04EB91DB4CE5}"/>
                </a:ext>
              </a:extLst>
            </p:cNvPr>
            <p:cNvSpPr/>
            <p:nvPr/>
          </p:nvSpPr>
          <p:spPr>
            <a:xfrm>
              <a:off x="7648576" y="3796433"/>
              <a:ext cx="1095376" cy="338137"/>
            </a:xfrm>
            <a:prstGeom prst="rect">
              <a:avLst/>
            </a:prstGeom>
            <a:solidFill>
              <a:srgbClr val="FAAF41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kern="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gener</a:t>
              </a:r>
              <a:endParaRPr lang="en-US" sz="2400" b="1" kern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D731EB-F6F3-D740-FCD7-B70602E89FD5}"/>
                </a:ext>
              </a:extLst>
            </p:cNvPr>
            <p:cNvSpPr/>
            <p:nvPr/>
          </p:nvSpPr>
          <p:spPr>
            <a:xfrm>
              <a:off x="8743952" y="3796432"/>
              <a:ext cx="914398" cy="338137"/>
            </a:xfrm>
            <a:prstGeom prst="rect">
              <a:avLst/>
            </a:prstGeom>
            <a:solidFill>
              <a:srgbClr val="1D76BB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ative</a:t>
              </a:r>
              <a:endParaRPr lang="en-US" sz="2400" b="1" kern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CA7BB6-877C-679B-2A51-473ADF8DB367}"/>
                </a:ext>
              </a:extLst>
            </p:cNvPr>
            <p:cNvSpPr/>
            <p:nvPr/>
          </p:nvSpPr>
          <p:spPr>
            <a:xfrm>
              <a:off x="9658353" y="3796432"/>
              <a:ext cx="552447" cy="338137"/>
            </a:xfrm>
            <a:prstGeom prst="rect">
              <a:avLst/>
            </a:prstGeom>
            <a:solidFill>
              <a:srgbClr val="F05323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AI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09139D-6546-0EBB-AC6C-9DB41D844B04}"/>
                </a:ext>
              </a:extLst>
            </p:cNvPr>
            <p:cNvSpPr/>
            <p:nvPr/>
          </p:nvSpPr>
          <p:spPr>
            <a:xfrm>
              <a:off x="10210801" y="3796431"/>
              <a:ext cx="176213" cy="338137"/>
            </a:xfrm>
            <a:prstGeom prst="rect">
              <a:avLst/>
            </a:prstGeom>
            <a:solidFill>
              <a:srgbClr val="2466AC"/>
            </a:solidFill>
            <a:ln w="28575" cap="flat" cmpd="sng" algn="ctr">
              <a:noFill/>
              <a:prstDash val="solid"/>
            </a:ln>
            <a:effectLst/>
          </p:spPr>
          <p:txBody>
            <a:bodyPr wrap="square" lIns="0" rIns="0" rtlCol="0" anchor="ctr"/>
            <a:lstStyle/>
            <a:p>
              <a:pPr algn="ctr" defTabSz="914400"/>
              <a:r>
                <a:rPr lang="en-US" sz="2400" b="1" kern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98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293120-DDC9-55FA-A7A3-1FE2C9A7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FB58DB-B178-8785-AD6F-42094DB6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Completion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667A9-9180-0C97-EBBE-E5E6B71B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Predicts tokens following prompt.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also continue ideas/themes.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Suitable for telling stories/finishing ideas.</a:t>
            </a:r>
          </a:p>
          <a:p>
            <a:r>
              <a:rPr lang="en-US" dirty="0"/>
              <a:t>Limited at answering questions.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3442EB-81FC-4803-9414-D734F1265D3C}"/>
              </a:ext>
            </a:extLst>
          </p:cNvPr>
          <p:cNvGrpSpPr/>
          <p:nvPr/>
        </p:nvGrpSpPr>
        <p:grpSpPr>
          <a:xfrm>
            <a:off x="708659" y="3375555"/>
            <a:ext cx="8244841" cy="1791334"/>
            <a:chOff x="708659" y="4792868"/>
            <a:chExt cx="8244841" cy="179133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3655A2D-F786-8F21-FC06-0CCE3FE9DCC5}"/>
                </a:ext>
              </a:extLst>
            </p:cNvPr>
            <p:cNvSpPr/>
            <p:nvPr/>
          </p:nvSpPr>
          <p:spPr>
            <a:xfrm>
              <a:off x="836024" y="4792868"/>
              <a:ext cx="8117476" cy="179133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ECE19B-8783-7012-E303-B5D11274E372}"/>
                </a:ext>
              </a:extLst>
            </p:cNvPr>
            <p:cNvSpPr txBox="1"/>
            <p:nvPr/>
          </p:nvSpPr>
          <p:spPr>
            <a:xfrm>
              <a:off x="708659" y="4898939"/>
              <a:ext cx="1394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u="sng" dirty="0"/>
                <a:t>Prompt</a:t>
              </a:r>
            </a:p>
            <a:p>
              <a:pPr algn="r"/>
              <a:endParaRPr lang="en-US" sz="1600" b="1" dirty="0"/>
            </a:p>
            <a:p>
              <a:pPr algn="r"/>
              <a:r>
                <a:rPr lang="en-US" sz="1600" b="1" u="sng" dirty="0"/>
                <a:t>Completion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1353CC-0F17-C395-81EB-A1C7876173EC}"/>
                </a:ext>
              </a:extLst>
            </p:cNvPr>
            <p:cNvSpPr txBox="1"/>
            <p:nvPr/>
          </p:nvSpPr>
          <p:spPr>
            <a:xfrm>
              <a:off x="2103120" y="4928638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 the planets in the solar system from largest to smallest.</a:t>
              </a:r>
              <a:endParaRPr lang="en-US" sz="1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F67B9C-1D00-6464-B8CB-B3F0DDA74ACE}"/>
                </a:ext>
              </a:extLst>
            </p:cNvPr>
            <p:cNvSpPr txBox="1"/>
            <p:nvPr/>
          </p:nvSpPr>
          <p:spPr>
            <a:xfrm>
              <a:off x="2103120" y="5414651"/>
              <a:ext cx="685038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 the planets in the solar system from biggest to smallest.</a:t>
              </a:r>
            </a:p>
            <a:p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 the planets in the solar system by distance from the Sun.</a:t>
              </a:r>
            </a:p>
            <a:p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 the stars in the sky from largest to smallest. </a:t>
              </a:r>
              <a:endParaRPr lang="en-US" sz="1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9BCAC4-D3E9-E844-4AC4-AB1C02C9DA29}"/>
              </a:ext>
            </a:extLst>
          </p:cNvPr>
          <p:cNvGrpSpPr/>
          <p:nvPr/>
        </p:nvGrpSpPr>
        <p:grpSpPr>
          <a:xfrm>
            <a:off x="708659" y="1778726"/>
            <a:ext cx="8244841" cy="1086401"/>
            <a:chOff x="708659" y="4792868"/>
            <a:chExt cx="8244841" cy="108640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2737EC6-44E3-31AA-5D53-201474127137}"/>
                </a:ext>
              </a:extLst>
            </p:cNvPr>
            <p:cNvSpPr/>
            <p:nvPr/>
          </p:nvSpPr>
          <p:spPr>
            <a:xfrm>
              <a:off x="836024" y="4792868"/>
              <a:ext cx="8117476" cy="1086401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26FF37-D64F-E351-A39D-D659F246D7B6}"/>
                </a:ext>
              </a:extLst>
            </p:cNvPr>
            <p:cNvSpPr txBox="1"/>
            <p:nvPr/>
          </p:nvSpPr>
          <p:spPr>
            <a:xfrm>
              <a:off x="708659" y="4898939"/>
              <a:ext cx="1394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u="sng" dirty="0"/>
                <a:t>Prompt</a:t>
              </a:r>
            </a:p>
            <a:p>
              <a:pPr algn="r"/>
              <a:endParaRPr lang="en-US" sz="1600" b="1" dirty="0"/>
            </a:p>
            <a:p>
              <a:pPr algn="r"/>
              <a:r>
                <a:rPr lang="en-US" sz="1600" b="1" u="sng" dirty="0"/>
                <a:t>Completion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CDE7C3-9B35-CA70-BED5-27F3404D0D3B}"/>
                </a:ext>
              </a:extLst>
            </p:cNvPr>
            <p:cNvSpPr txBox="1"/>
            <p:nvPr/>
          </p:nvSpPr>
          <p:spPr>
            <a:xfrm>
              <a:off x="2103120" y="4928638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Think outside of</a:t>
              </a:r>
              <a:endParaRPr 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48E5D7-D043-7A19-3EF1-73400147D2CB}"/>
                </a:ext>
              </a:extLst>
            </p:cNvPr>
            <p:cNvSpPr txBox="1"/>
            <p:nvPr/>
          </p:nvSpPr>
          <p:spPr>
            <a:xfrm>
              <a:off x="2103120" y="5414651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Think outside of the box.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76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31-6F71-1772-09B9-6B649779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5D2DA9-E4C0-7326-8690-E5AE305D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Following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3081B-AF55-E48E-150E-35CB3FFB8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prompt includes instructions.</a:t>
            </a:r>
          </a:p>
          <a:p>
            <a:r>
              <a:rPr lang="en-US" dirty="0"/>
              <a:t>Outputs factual info and/or direct response to query.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14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be more useful than text completion.</a:t>
            </a:r>
          </a:p>
          <a:p>
            <a:r>
              <a:rPr lang="en-US" dirty="0"/>
              <a:t>Better alternative than traditional search engines.</a:t>
            </a:r>
          </a:p>
          <a:p>
            <a:r>
              <a:rPr lang="en-US" dirty="0"/>
              <a:t>Humanlike qualities are limited.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DA536E-688B-D8F0-A7AF-AC17EC46FF89}"/>
              </a:ext>
            </a:extLst>
          </p:cNvPr>
          <p:cNvGrpSpPr/>
          <p:nvPr/>
        </p:nvGrpSpPr>
        <p:grpSpPr>
          <a:xfrm>
            <a:off x="708659" y="2522108"/>
            <a:ext cx="8244841" cy="1129262"/>
            <a:chOff x="708659" y="4792868"/>
            <a:chExt cx="8244841" cy="112926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0FC6EA4-80C1-BDC2-A3BB-DE36D0E320D1}"/>
                </a:ext>
              </a:extLst>
            </p:cNvPr>
            <p:cNvSpPr/>
            <p:nvPr/>
          </p:nvSpPr>
          <p:spPr>
            <a:xfrm>
              <a:off x="905690" y="4792868"/>
              <a:ext cx="8047809" cy="1129262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55E59A-3C63-9504-59F7-944D2CFFBE12}"/>
                </a:ext>
              </a:extLst>
            </p:cNvPr>
            <p:cNvSpPr txBox="1"/>
            <p:nvPr/>
          </p:nvSpPr>
          <p:spPr>
            <a:xfrm>
              <a:off x="708659" y="4898939"/>
              <a:ext cx="1394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u="sng" dirty="0"/>
                <a:t>Prompt</a:t>
              </a:r>
            </a:p>
            <a:p>
              <a:pPr algn="r"/>
              <a:endParaRPr lang="en-US" sz="1600" b="1" dirty="0"/>
            </a:p>
            <a:p>
              <a:pPr algn="r"/>
              <a:r>
                <a:rPr lang="en-US" sz="1600" b="1" u="sng" dirty="0"/>
                <a:t>Response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4CA697-78F2-BCC2-8533-9E4D6652B1FE}"/>
                </a:ext>
              </a:extLst>
            </p:cNvPr>
            <p:cNvSpPr txBox="1"/>
            <p:nvPr/>
          </p:nvSpPr>
          <p:spPr>
            <a:xfrm>
              <a:off x="2103120" y="4928638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List the planets in the solar system from largest to smallest.</a:t>
              </a:r>
              <a:endParaRPr 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1C708B-CA20-A3ED-9093-380FD9ABAECE}"/>
                </a:ext>
              </a:extLst>
            </p:cNvPr>
            <p:cNvSpPr txBox="1"/>
            <p:nvPr/>
          </p:nvSpPr>
          <p:spPr>
            <a:xfrm>
              <a:off x="2103120" y="5414651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Jupiter, Saturn, Uranus, Neptune, Earth, Venus, Mars, Mercury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550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D578B6-9D1E-0E82-05A0-2F541D60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Chatbots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F12AE-F989-8AD4-BFD1-AE896FF5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DBCF8C-3CCE-35B0-856C-7D442D09A94C}"/>
              </a:ext>
            </a:extLst>
          </p:cNvPr>
          <p:cNvGrpSpPr>
            <a:grpSpLocks noChangeAspect="1"/>
          </p:cNvGrpSpPr>
          <p:nvPr/>
        </p:nvGrpSpPr>
        <p:grpSpPr>
          <a:xfrm>
            <a:off x="2420983" y="1059511"/>
            <a:ext cx="7350034" cy="5448382"/>
            <a:chOff x="1471748" y="-818605"/>
            <a:chExt cx="8482149" cy="628758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43DD26F-BC10-AF57-648C-DC7A2AF4B101}"/>
                </a:ext>
              </a:extLst>
            </p:cNvPr>
            <p:cNvSpPr/>
            <p:nvPr/>
          </p:nvSpPr>
          <p:spPr>
            <a:xfrm>
              <a:off x="1471748" y="-818605"/>
              <a:ext cx="8482149" cy="6287588"/>
            </a:xfrm>
            <a:prstGeom prst="roundRect">
              <a:avLst>
                <a:gd name="adj" fmla="val 3869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B510A73B-3170-6976-D694-6AC934695ADC}"/>
                </a:ext>
              </a:extLst>
            </p:cNvPr>
            <p:cNvSpPr/>
            <p:nvPr/>
          </p:nvSpPr>
          <p:spPr>
            <a:xfrm>
              <a:off x="4033682" y="172107"/>
              <a:ext cx="4733390" cy="663128"/>
            </a:xfrm>
            <a:prstGeom prst="flowChartAlternateProcess">
              <a:avLst/>
            </a:prstGeom>
            <a:solidFill>
              <a:srgbClr val="009DDC"/>
            </a:solidFill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CF92B8-AA1F-364B-0AF0-0EACAEEAF715}"/>
                </a:ext>
              </a:extLst>
            </p:cNvPr>
            <p:cNvSpPr txBox="1"/>
            <p:nvPr/>
          </p:nvSpPr>
          <p:spPr>
            <a:xfrm>
              <a:off x="4049487" y="230320"/>
              <a:ext cx="4630499" cy="49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Of course! Please provide me with the details of the bet and the specific question or issue you need assistance with.</a:t>
              </a:r>
            </a:p>
          </p:txBody>
        </p:sp>
        <p:pic>
          <p:nvPicPr>
            <p:cNvPr id="15" name="Graphic 14" descr="Robot with solid fill">
              <a:extLst>
                <a:ext uri="{FF2B5EF4-FFF2-40B4-BE49-F238E27FC236}">
                  <a16:creationId xmlns:a16="http://schemas.microsoft.com/office/drawing/2014/main" id="{62E8A838-D192-21AF-C8B2-925BDB15B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85267" y="47661"/>
              <a:ext cx="1092003" cy="1092003"/>
            </a:xfrm>
            <a:prstGeom prst="rect">
              <a:avLst/>
            </a:prstGeom>
          </p:spPr>
        </p:pic>
        <p:sp>
          <p:nvSpPr>
            <p:cNvPr id="16" name="Flowchart: Alternate Process 15">
              <a:extLst>
                <a:ext uri="{FF2B5EF4-FFF2-40B4-BE49-F238E27FC236}">
                  <a16:creationId xmlns:a16="http://schemas.microsoft.com/office/drawing/2014/main" id="{10536A01-90A2-F339-2ADA-D97B4E1BDEC9}"/>
                </a:ext>
              </a:extLst>
            </p:cNvPr>
            <p:cNvSpPr/>
            <p:nvPr/>
          </p:nvSpPr>
          <p:spPr>
            <a:xfrm>
              <a:off x="2631601" y="-508725"/>
              <a:ext cx="3734366" cy="475032"/>
            </a:xfrm>
            <a:prstGeom prst="flowChartAlternateProcess">
              <a:avLst/>
            </a:prstGeom>
            <a:solidFill>
              <a:srgbClr val="FAAF41"/>
            </a:solidFill>
            <a:ln w="28575" cap="flat" cmpd="sng" algn="ctr">
              <a:solidFill>
                <a:srgbClr val="FAAF4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FE217D-827C-149F-817B-B969087D5AC1}"/>
                </a:ext>
              </a:extLst>
            </p:cNvPr>
            <p:cNvSpPr txBox="1"/>
            <p:nvPr/>
          </p:nvSpPr>
          <p:spPr>
            <a:xfrm>
              <a:off x="2631601" y="-427679"/>
              <a:ext cx="3937480" cy="31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Can you help me settle a bet with a friend?</a:t>
              </a:r>
            </a:p>
          </p:txBody>
        </p:sp>
        <p:pic>
          <p:nvPicPr>
            <p:cNvPr id="18" name="Graphic 17" descr="Office worker male with solid fill">
              <a:extLst>
                <a:ext uri="{FF2B5EF4-FFF2-40B4-BE49-F238E27FC236}">
                  <a16:creationId xmlns:a16="http://schemas.microsoft.com/office/drawing/2014/main" id="{423C92C4-B268-5E6C-6F54-620286EBB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4199" y="-811527"/>
              <a:ext cx="1088136" cy="1088136"/>
            </a:xfrm>
            <a:prstGeom prst="rect">
              <a:avLst/>
            </a:prstGeom>
          </p:spPr>
        </p:pic>
        <p:sp>
          <p:nvSpPr>
            <p:cNvPr id="20" name="Flowchart: Alternate Process 19">
              <a:extLst>
                <a:ext uri="{FF2B5EF4-FFF2-40B4-BE49-F238E27FC236}">
                  <a16:creationId xmlns:a16="http://schemas.microsoft.com/office/drawing/2014/main" id="{C52436A1-7DF4-4B1A-455C-C8EE5B5B0EA7}"/>
                </a:ext>
              </a:extLst>
            </p:cNvPr>
            <p:cNvSpPr/>
            <p:nvPr/>
          </p:nvSpPr>
          <p:spPr>
            <a:xfrm>
              <a:off x="2631601" y="1127357"/>
              <a:ext cx="3734366" cy="613256"/>
            </a:xfrm>
            <a:prstGeom prst="flowChartAlternateProcess">
              <a:avLst/>
            </a:prstGeom>
            <a:solidFill>
              <a:srgbClr val="FAAF41"/>
            </a:solidFill>
            <a:ln w="28575" cap="flat" cmpd="sng" algn="ctr">
              <a:solidFill>
                <a:srgbClr val="FAAF4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53E7A7-ED06-9674-6B3C-234EF00DFFDD}"/>
                </a:ext>
              </a:extLst>
            </p:cNvPr>
            <p:cNvSpPr txBox="1"/>
            <p:nvPr/>
          </p:nvSpPr>
          <p:spPr>
            <a:xfrm>
              <a:off x="2631601" y="1164862"/>
              <a:ext cx="3734365" cy="532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 need to know the size of the planets from largest to smallest.</a:t>
              </a:r>
            </a:p>
          </p:txBody>
        </p:sp>
        <p:pic>
          <p:nvPicPr>
            <p:cNvPr id="22" name="Graphic 21" descr="Office worker male with solid fill">
              <a:extLst>
                <a:ext uri="{FF2B5EF4-FFF2-40B4-BE49-F238E27FC236}">
                  <a16:creationId xmlns:a16="http://schemas.microsoft.com/office/drawing/2014/main" id="{B29C8094-AE25-711E-4CF1-8F113D7EB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4199" y="920351"/>
              <a:ext cx="1088136" cy="1088136"/>
            </a:xfrm>
            <a:prstGeom prst="rect">
              <a:avLst/>
            </a:prstGeom>
          </p:spPr>
        </p:pic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FA03C89A-7CE5-75C7-F11F-5C048A3274BA}"/>
                </a:ext>
              </a:extLst>
            </p:cNvPr>
            <p:cNvSpPr/>
            <p:nvPr/>
          </p:nvSpPr>
          <p:spPr>
            <a:xfrm>
              <a:off x="4033682" y="2013777"/>
              <a:ext cx="4733390" cy="1063229"/>
            </a:xfrm>
            <a:prstGeom prst="flowChartAlternateProcess">
              <a:avLst/>
            </a:prstGeom>
            <a:solidFill>
              <a:srgbClr val="009DDC"/>
            </a:solidFill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9A7B9A-35DA-4BEE-5712-0CCBC102299F}"/>
                </a:ext>
              </a:extLst>
            </p:cNvPr>
            <p:cNvSpPr txBox="1"/>
            <p:nvPr/>
          </p:nvSpPr>
          <p:spPr>
            <a:xfrm>
              <a:off x="4136573" y="2063282"/>
              <a:ext cx="4630499" cy="88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Certainly! Here's a list of the planets in our solar system, arranged in order from largest to smallest based on their approximate equatorial diameter: 1. Jupiter; 2. Saturn; 3. Uranus; 4. Neptune; 5. Earth; 6. Venus; 7. Mars; 8. Mercury</a:t>
              </a:r>
            </a:p>
          </p:txBody>
        </p:sp>
        <p:pic>
          <p:nvPicPr>
            <p:cNvPr id="25" name="Graphic 24" descr="Robot with solid fill">
              <a:extLst>
                <a:ext uri="{FF2B5EF4-FFF2-40B4-BE49-F238E27FC236}">
                  <a16:creationId xmlns:a16="http://schemas.microsoft.com/office/drawing/2014/main" id="{5527382E-CE0C-0F9B-72E8-1BBFF6767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85267" y="2001870"/>
              <a:ext cx="1092003" cy="1092003"/>
            </a:xfrm>
            <a:prstGeom prst="rect">
              <a:avLst/>
            </a:prstGeom>
          </p:spPr>
        </p:pic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C1D50FE5-6EAF-081D-62A3-4B8882323A4E}"/>
                </a:ext>
              </a:extLst>
            </p:cNvPr>
            <p:cNvSpPr/>
            <p:nvPr/>
          </p:nvSpPr>
          <p:spPr>
            <a:xfrm>
              <a:off x="2631601" y="3335707"/>
              <a:ext cx="3734366" cy="475488"/>
            </a:xfrm>
            <a:prstGeom prst="flowChartAlternateProcess">
              <a:avLst/>
            </a:prstGeom>
            <a:solidFill>
              <a:srgbClr val="FAAF41"/>
            </a:solidFill>
            <a:ln w="28575" cap="flat" cmpd="sng" algn="ctr">
              <a:solidFill>
                <a:srgbClr val="FAAF4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1D1B51-FA25-B957-7814-4BA1C330EF67}"/>
                </a:ext>
              </a:extLst>
            </p:cNvPr>
            <p:cNvSpPr txBox="1"/>
            <p:nvPr/>
          </p:nvSpPr>
          <p:spPr>
            <a:xfrm>
              <a:off x="2631601" y="3416755"/>
              <a:ext cx="3937480" cy="31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Sorry, I meant to say smallest to largest.</a:t>
              </a:r>
            </a:p>
          </p:txBody>
        </p:sp>
        <p:pic>
          <p:nvPicPr>
            <p:cNvPr id="28" name="Graphic 27" descr="Office worker male with solid fill">
              <a:extLst>
                <a:ext uri="{FF2B5EF4-FFF2-40B4-BE49-F238E27FC236}">
                  <a16:creationId xmlns:a16="http://schemas.microsoft.com/office/drawing/2014/main" id="{10843C9D-28F0-095F-1A26-68E56A74D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4199" y="3076449"/>
              <a:ext cx="1088136" cy="1088136"/>
            </a:xfrm>
            <a:prstGeom prst="rect">
              <a:avLst/>
            </a:prstGeom>
          </p:spPr>
        </p:pic>
        <p:sp>
          <p:nvSpPr>
            <p:cNvPr id="29" name="Flowchart: Alternate Process 28">
              <a:extLst>
                <a:ext uri="{FF2B5EF4-FFF2-40B4-BE49-F238E27FC236}">
                  <a16:creationId xmlns:a16="http://schemas.microsoft.com/office/drawing/2014/main" id="{81F15BD2-AC39-FED7-1444-5C3607EC60A2}"/>
                </a:ext>
              </a:extLst>
            </p:cNvPr>
            <p:cNvSpPr/>
            <p:nvPr/>
          </p:nvSpPr>
          <p:spPr>
            <a:xfrm>
              <a:off x="4033682" y="4080284"/>
              <a:ext cx="4733390" cy="1063229"/>
            </a:xfrm>
            <a:prstGeom prst="flowChartAlternateProcess">
              <a:avLst/>
            </a:prstGeom>
            <a:solidFill>
              <a:srgbClr val="009DDC"/>
            </a:solidFill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53B0E7-4B2E-E62E-E4EA-054D5D5D1CB0}"/>
                </a:ext>
              </a:extLst>
            </p:cNvPr>
            <p:cNvSpPr txBox="1"/>
            <p:nvPr/>
          </p:nvSpPr>
          <p:spPr>
            <a:xfrm>
              <a:off x="4136574" y="4129789"/>
              <a:ext cx="4630498" cy="88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No problem! Here's the revised list of the planets in our solar system, arranged in order from smallest to largest based on their approximate equatorial diameter: 1. Mercury; 2. Mars; 3. Venus; 4. Earth; 5. Neptune; 6. Uranus; 7. Saturn; 8. Jupiter</a:t>
              </a:r>
            </a:p>
          </p:txBody>
        </p:sp>
        <p:pic>
          <p:nvPicPr>
            <p:cNvPr id="31" name="Graphic 30" descr="Robot with solid fill">
              <a:extLst>
                <a:ext uri="{FF2B5EF4-FFF2-40B4-BE49-F238E27FC236}">
                  <a16:creationId xmlns:a16="http://schemas.microsoft.com/office/drawing/2014/main" id="{02065C80-7C17-15F7-BE1A-A9C25BEB3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85267" y="4064781"/>
              <a:ext cx="1092003" cy="1092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804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0F24-62F3-FF2D-D4E2-67580342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AI for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1DCE2-366C-7F03-4C29-A463C251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552871-0A1B-71C1-CEF3-A535E6E7EC86}"/>
              </a:ext>
            </a:extLst>
          </p:cNvPr>
          <p:cNvGrpSpPr/>
          <p:nvPr/>
        </p:nvGrpSpPr>
        <p:grpSpPr>
          <a:xfrm>
            <a:off x="2229394" y="1315739"/>
            <a:ext cx="7498080" cy="4789714"/>
            <a:chOff x="2229394" y="1315739"/>
            <a:chExt cx="7498080" cy="478971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55A014E-E927-B354-5118-A38A49EC2BC5}"/>
                </a:ext>
              </a:extLst>
            </p:cNvPr>
            <p:cNvSpPr/>
            <p:nvPr/>
          </p:nvSpPr>
          <p:spPr>
            <a:xfrm>
              <a:off x="4360815" y="2282870"/>
              <a:ext cx="3189516" cy="2442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3DA9FD1-67F0-D17C-F283-754630A521BD}"/>
                </a:ext>
              </a:extLst>
            </p:cNvPr>
            <p:cNvGrpSpPr/>
            <p:nvPr/>
          </p:nvGrpSpPr>
          <p:grpSpPr>
            <a:xfrm>
              <a:off x="2229394" y="1315739"/>
              <a:ext cx="7498080" cy="4789714"/>
              <a:chOff x="2229394" y="1315739"/>
              <a:chExt cx="7498080" cy="478971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1E32EB3-E2D4-D3AD-1C59-3C9A90B3D4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29394" y="1315739"/>
                <a:ext cx="7498080" cy="4789714"/>
              </a:xfrm>
              <a:prstGeom prst="roundRect">
                <a:avLst>
                  <a:gd name="adj" fmla="val 1031"/>
                </a:avLst>
              </a:prstGeom>
              <a:noFill/>
              <a:ln w="2857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2B6AF2E-8DF5-8AF3-C286-3AA739624B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38375" y="1315739"/>
                <a:ext cx="7489099" cy="428625"/>
              </a:xfrm>
              <a:prstGeom prst="roundRect">
                <a:avLst>
                  <a:gd name="adj" fmla="val 11652"/>
                </a:avLst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0CD56640-6189-B8EC-1CEB-EF40CADC12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08860" y="1374385"/>
                <a:ext cx="311331" cy="311331"/>
              </a:xfrm>
              <a:prstGeom prst="rect">
                <a:avLst/>
              </a:prstGeom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0D92A03-2367-3482-C4C2-5508FF478042}"/>
                  </a:ext>
                </a:extLst>
              </p:cNvPr>
              <p:cNvSpPr/>
              <p:nvPr/>
            </p:nvSpPr>
            <p:spPr>
              <a:xfrm>
                <a:off x="9492343" y="1479758"/>
                <a:ext cx="95794" cy="100584"/>
              </a:xfrm>
              <a:prstGeom prst="ellipse">
                <a:avLst/>
              </a:prstGeom>
              <a:solidFill>
                <a:srgbClr val="E71854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02F14F4-D973-A409-3425-E6FFC0AE0534}"/>
                  </a:ext>
                </a:extLst>
              </p:cNvPr>
              <p:cNvSpPr/>
              <p:nvPr/>
            </p:nvSpPr>
            <p:spPr>
              <a:xfrm>
                <a:off x="9344162" y="1479758"/>
                <a:ext cx="95794" cy="100584"/>
              </a:xfrm>
              <a:prstGeom prst="ellipse">
                <a:avLst/>
              </a:prstGeom>
              <a:solidFill>
                <a:srgbClr val="198CA8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FF89031-A089-C284-948E-0689D2B0FAFF}"/>
                  </a:ext>
                </a:extLst>
              </p:cNvPr>
              <p:cNvSpPr/>
              <p:nvPr/>
            </p:nvSpPr>
            <p:spPr>
              <a:xfrm>
                <a:off x="9195844" y="1479549"/>
                <a:ext cx="95794" cy="100584"/>
              </a:xfrm>
              <a:prstGeom prst="ellipse">
                <a:avLst/>
              </a:prstGeom>
              <a:solidFill>
                <a:srgbClr val="009DDC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02EDFA5-2B99-91BD-E309-5A2072467ECF}"/>
                  </a:ext>
                </a:extLst>
              </p:cNvPr>
              <p:cNvSpPr/>
              <p:nvPr/>
            </p:nvSpPr>
            <p:spPr>
              <a:xfrm>
                <a:off x="2717074" y="2847702"/>
                <a:ext cx="6526667" cy="2869653"/>
              </a:xfrm>
              <a:prstGeom prst="roundRect">
                <a:avLst>
                  <a:gd name="adj" fmla="val 2646"/>
                </a:avLst>
              </a:prstGeom>
              <a:noFill/>
              <a:ln w="28575" cap="flat" cmpd="sng" algn="ctr">
                <a:solidFill>
                  <a:schemeClr val="bg1">
                    <a:lumMod val="9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B5C73C4-0FE2-B85C-20E4-451F550F913A}"/>
                  </a:ext>
                </a:extLst>
              </p:cNvPr>
              <p:cNvSpPr/>
              <p:nvPr/>
            </p:nvSpPr>
            <p:spPr>
              <a:xfrm>
                <a:off x="4312920" y="1993409"/>
                <a:ext cx="3566160" cy="605247"/>
              </a:xfrm>
              <a:prstGeom prst="roundRect">
                <a:avLst>
                  <a:gd name="adj" fmla="val 6580"/>
                </a:avLst>
              </a:prstGeom>
              <a:noFill/>
              <a:ln w="28575" cap="flat" cmpd="sng" algn="ctr">
                <a:solidFill>
                  <a:srgbClr val="009DD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5B5E6F-B4DA-7766-14B7-8B7783BC9DC7}"/>
                  </a:ext>
                </a:extLst>
              </p:cNvPr>
              <p:cNvSpPr txBox="1"/>
              <p:nvPr/>
            </p:nvSpPr>
            <p:spPr>
              <a:xfrm>
                <a:off x="4312920" y="2263626"/>
                <a:ext cx="27584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50" i="1" dirty="0"/>
                  <a:t>Summarize meeting notes for the team.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911C28-2779-7167-D2FA-4156D34C8852}"/>
                  </a:ext>
                </a:extLst>
              </p:cNvPr>
              <p:cNvSpPr txBox="1"/>
              <p:nvPr/>
            </p:nvSpPr>
            <p:spPr>
              <a:xfrm>
                <a:off x="4312920" y="2014580"/>
                <a:ext cx="27584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What do you want to say?</a:t>
                </a:r>
              </a:p>
            </p:txBody>
          </p:sp>
          <p:pic>
            <p:nvPicPr>
              <p:cNvPr id="31" name="Graphic 30" descr="Close with solid fill">
                <a:extLst>
                  <a:ext uri="{FF2B5EF4-FFF2-40B4-BE49-F238E27FC236}">
                    <a16:creationId xmlns:a16="http://schemas.microsoft.com/office/drawing/2014/main" id="{621FD810-EFC9-92D0-2ED6-AACB8D4B83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672512" y="2033592"/>
                <a:ext cx="169074" cy="169074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F137694-7250-BED3-8C90-353410371C07}"/>
                  </a:ext>
                </a:extLst>
              </p:cNvPr>
              <p:cNvSpPr txBox="1"/>
              <p:nvPr/>
            </p:nvSpPr>
            <p:spPr>
              <a:xfrm>
                <a:off x="2830286" y="2943497"/>
                <a:ext cx="28825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To</a:t>
                </a:r>
                <a:r>
                  <a:rPr lang="en-US" sz="1200" dirty="0"/>
                  <a:t>: sales@mixedmessagesmedia.net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9ACF31-AA36-1FBB-E3FA-20DB042946F6}"/>
                  </a:ext>
                </a:extLst>
              </p:cNvPr>
              <p:cNvSpPr txBox="1"/>
              <p:nvPr/>
            </p:nvSpPr>
            <p:spPr>
              <a:xfrm>
                <a:off x="2830286" y="3187699"/>
                <a:ext cx="28825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Subject</a:t>
                </a:r>
                <a:r>
                  <a:rPr lang="en-US" sz="1200" dirty="0"/>
                  <a:t>: Meeting summary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8A9EC4B-5220-1129-2FBE-78476E0A1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8663" y="3483036"/>
                <a:ext cx="424107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F927C9-FD6D-C63F-8E26-BCBD29F35F3A}"/>
                  </a:ext>
                </a:extLst>
              </p:cNvPr>
              <p:cNvSpPr txBox="1"/>
              <p:nvPr/>
            </p:nvSpPr>
            <p:spPr>
              <a:xfrm>
                <a:off x="2830546" y="3570684"/>
                <a:ext cx="484196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Hi everyone,</a:t>
                </a:r>
              </a:p>
              <a:p>
                <a:endParaRPr lang="en-US" sz="1100" dirty="0"/>
              </a:p>
              <a:p>
                <a:r>
                  <a:rPr lang="en-US" sz="1100" dirty="0"/>
                  <a:t>Here's a summary of what we discussed in the meeting: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We're switching to a new CRM system July 1.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We're focusing on new opportunities in EMEA.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Leaps &amp; Bounds Travel was recently added as a new client.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Our revenue in Q2 was 105% of expectations.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We're currently hiring for a new Sales Associate position.</a:t>
                </a:r>
              </a:p>
              <a:p>
                <a:endParaRPr lang="en-US" sz="1100" dirty="0"/>
              </a:p>
              <a:p>
                <a:r>
                  <a:rPr lang="en-US" sz="1100" dirty="0"/>
                  <a:t>Thanks,</a:t>
                </a:r>
              </a:p>
              <a:p>
                <a:r>
                  <a:rPr lang="en-US" sz="1100" dirty="0"/>
                  <a:t>John Brady</a:t>
                </a:r>
              </a:p>
              <a:p>
                <a:r>
                  <a:rPr lang="en-US" sz="1100" dirty="0"/>
                  <a:t>Sales Manager</a:t>
                </a:r>
              </a:p>
            </p:txBody>
          </p:sp>
          <p:pic>
            <p:nvPicPr>
              <p:cNvPr id="40" name="Graphic 39">
                <a:extLst>
                  <a:ext uri="{FF2B5EF4-FFF2-40B4-BE49-F238E27FC236}">
                    <a16:creationId xmlns:a16="http://schemas.microsoft.com/office/drawing/2014/main" id="{D1158785-9A5C-479C-3776-E0CE2DAA8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499566" y="5038456"/>
                <a:ext cx="582182" cy="582182"/>
              </a:xfrm>
              <a:prstGeom prst="rect">
                <a:avLst/>
              </a:prstGeom>
            </p:spPr>
          </p:pic>
          <p:pic>
            <p:nvPicPr>
              <p:cNvPr id="42" name="Graphic 41">
                <a:extLst>
                  <a:ext uri="{FF2B5EF4-FFF2-40B4-BE49-F238E27FC236}">
                    <a16:creationId xmlns:a16="http://schemas.microsoft.com/office/drawing/2014/main" id="{8E53E68B-EB82-C547-6ED7-79A8B4936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656270" y="2297175"/>
                <a:ext cx="211443" cy="2114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1940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2387A-B88D-2D15-254A-4571ABB4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to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3FC2D-559D-AAAE-277A-83C1FD02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jabberwocky">
            <a:hlinkClick r:id="" action="ppaction://media"/>
            <a:extLst>
              <a:ext uri="{FF2B5EF4-FFF2-40B4-BE49-F238E27FC236}">
                <a16:creationId xmlns:a16="http://schemas.microsoft.com/office/drawing/2014/main" id="{DE317E87-D36B-AF98-0872-324B47800B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1212850"/>
            <a:ext cx="609600" cy="609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3777665-A54F-22AE-4E36-083096CD05B4}"/>
              </a:ext>
            </a:extLst>
          </p:cNvPr>
          <p:cNvGrpSpPr/>
          <p:nvPr/>
        </p:nvGrpSpPr>
        <p:grpSpPr>
          <a:xfrm>
            <a:off x="455901" y="2194032"/>
            <a:ext cx="9959549" cy="3394524"/>
            <a:chOff x="455901" y="2194032"/>
            <a:chExt cx="9959549" cy="339452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47049B-A87A-3FAF-05EE-6ABBD55F9B05}"/>
                </a:ext>
              </a:extLst>
            </p:cNvPr>
            <p:cNvSpPr/>
            <p:nvPr/>
          </p:nvSpPr>
          <p:spPr>
            <a:xfrm>
              <a:off x="6799533" y="3029675"/>
              <a:ext cx="3615917" cy="1129262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463234C0-917E-4525-7156-8BD011A19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55901" y="2194032"/>
              <a:ext cx="5130581" cy="3394524"/>
            </a:xfrm>
            <a:prstGeom prst="rect">
              <a:avLst/>
            </a:prstGeom>
          </p:spPr>
        </p:pic>
        <p:sp>
          <p:nvSpPr>
            <p:cNvPr id="6" name="AutoShape 304">
              <a:extLst>
                <a:ext uri="{FF2B5EF4-FFF2-40B4-BE49-F238E27FC236}">
                  <a16:creationId xmlns:a16="http://schemas.microsoft.com/office/drawing/2014/main" id="{9A995FBA-F135-AAB5-71FB-4F8672902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429000"/>
              <a:ext cx="762000" cy="330614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373C78-A561-FAF4-B94E-66A751D8ADA3}"/>
                </a:ext>
              </a:extLst>
            </p:cNvPr>
            <p:cNvSpPr txBox="1"/>
            <p:nvPr/>
          </p:nvSpPr>
          <p:spPr>
            <a:xfrm>
              <a:off x="6921453" y="3262256"/>
              <a:ext cx="3493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'Twas brillig, and the slithy toves did gyre and gimble in the wade.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93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A93D-563A-FD0F-5B86-468D0648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Text-Generation Approaches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FFE03-6E14-4F7F-EC5F-07F42747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DE3332-60C7-BA90-253B-608F5CA996B4}"/>
              </a:ext>
            </a:extLst>
          </p:cNvPr>
          <p:cNvGrpSpPr/>
          <p:nvPr/>
        </p:nvGrpSpPr>
        <p:grpSpPr>
          <a:xfrm>
            <a:off x="720664" y="1381392"/>
            <a:ext cx="10750672" cy="5127477"/>
            <a:chOff x="865035" y="1381392"/>
            <a:chExt cx="10750672" cy="512747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A5C02F5-697D-B20B-17BA-D847E11C00D3}"/>
                </a:ext>
              </a:extLst>
            </p:cNvPr>
            <p:cNvGrpSpPr/>
            <p:nvPr/>
          </p:nvGrpSpPr>
          <p:grpSpPr>
            <a:xfrm>
              <a:off x="1645040" y="4110487"/>
              <a:ext cx="2735363" cy="2312833"/>
              <a:chOff x="2114734" y="4632998"/>
              <a:chExt cx="2735363" cy="2312833"/>
            </a:xfrm>
          </p:grpSpPr>
          <p:pic>
            <p:nvPicPr>
              <p:cNvPr id="35" name="Graphic 34" descr="Tools with solid fill">
                <a:extLst>
                  <a:ext uri="{FF2B5EF4-FFF2-40B4-BE49-F238E27FC236}">
                    <a16:creationId xmlns:a16="http://schemas.microsoft.com/office/drawing/2014/main" id="{92DAACB7-7C20-75C4-94AE-6093D7988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2595150" y="5117031"/>
                <a:ext cx="1828800" cy="1828800"/>
              </a:xfrm>
              <a:prstGeom prst="rect">
                <a:avLst/>
              </a:prstGeom>
            </p:spPr>
          </p:pic>
          <p:sp>
            <p:nvSpPr>
              <p:cNvPr id="36" name="Text Box 307">
                <a:extLst>
                  <a:ext uri="{FF2B5EF4-FFF2-40B4-BE49-F238E27FC236}">
                    <a16:creationId xmlns:a16="http://schemas.microsoft.com/office/drawing/2014/main" id="{8DF2D7D0-B798-FDB0-313F-B321D39AEC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4734" y="4632998"/>
                <a:ext cx="273536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defTabSz="914400" eaLnBrk="1" hangingPunct="1">
                  <a:spcBef>
                    <a:spcPct val="50000"/>
                  </a:spcBef>
                  <a:defRPr/>
                </a:pPr>
                <a:r>
                  <a:rPr lang="en-US" sz="2800" b="1" kern="0" dirty="0">
                    <a:solidFill>
                      <a:srgbClr val="000000"/>
                    </a:solidFill>
                    <a:latin typeface="Calibri"/>
                    <a:cs typeface="Calibri"/>
                  </a:rPr>
                  <a:t>Troubleshooting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B413046-1300-619B-CFC2-546004D27EBB}"/>
                </a:ext>
              </a:extLst>
            </p:cNvPr>
            <p:cNvGrpSpPr/>
            <p:nvPr/>
          </p:nvGrpSpPr>
          <p:grpSpPr>
            <a:xfrm>
              <a:off x="865035" y="1381392"/>
              <a:ext cx="10461930" cy="2352020"/>
              <a:chOff x="488834" y="1842949"/>
              <a:chExt cx="10461930" cy="235202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1B7224-6417-DEAD-2A22-F5A500A1C8CB}"/>
                  </a:ext>
                </a:extLst>
              </p:cNvPr>
              <p:cNvGrpSpPr/>
              <p:nvPr/>
            </p:nvGrpSpPr>
            <p:grpSpPr>
              <a:xfrm>
                <a:off x="488834" y="1847994"/>
                <a:ext cx="2453557" cy="2346975"/>
                <a:chOff x="3168622" y="442331"/>
                <a:chExt cx="2453557" cy="2346975"/>
              </a:xfrm>
            </p:grpSpPr>
            <p:pic>
              <p:nvPicPr>
                <p:cNvPr id="33" name="Graphic 32" descr="Closed book with solid fill">
                  <a:extLst>
                    <a:ext uri="{FF2B5EF4-FFF2-40B4-BE49-F238E27FC236}">
                      <a16:creationId xmlns:a16="http://schemas.microsoft.com/office/drawing/2014/main" id="{01F91D8D-479F-26FE-E1F4-5963126F9D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3539485" y="960506"/>
                  <a:ext cx="1828800" cy="1828800"/>
                </a:xfrm>
                <a:prstGeom prst="rect">
                  <a:avLst/>
                </a:prstGeom>
              </p:spPr>
            </p:pic>
            <p:sp>
              <p:nvSpPr>
                <p:cNvPr id="34" name="Text Box 307">
                  <a:extLst>
                    <a:ext uri="{FF2B5EF4-FFF2-40B4-BE49-F238E27FC236}">
                      <a16:creationId xmlns:a16="http://schemas.microsoft.com/office/drawing/2014/main" id="{69ED5B1A-AD1D-40AD-D09F-96A7A7F9BE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8622" y="442331"/>
                  <a:ext cx="2453557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defTabSz="914400" eaLnBrk="1" hangingPunct="1">
                    <a:spcBef>
                      <a:spcPct val="50000"/>
                    </a:spcBef>
                    <a:defRPr/>
                  </a:pPr>
                  <a:r>
                    <a:rPr lang="en-US" sz="2800" b="1" kern="0" dirty="0">
                      <a:solidFill>
                        <a:srgbClr val="000000"/>
                      </a:solidFill>
                      <a:latin typeface="Calibri"/>
                      <a:cs typeface="Calibri"/>
                    </a:rPr>
                    <a:t>Summarization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96C8438-FF8E-F819-4553-336D922C6D87}"/>
                  </a:ext>
                </a:extLst>
              </p:cNvPr>
              <p:cNvGrpSpPr/>
              <p:nvPr/>
            </p:nvGrpSpPr>
            <p:grpSpPr>
              <a:xfrm>
                <a:off x="3457179" y="1842949"/>
                <a:ext cx="7493585" cy="2352020"/>
                <a:chOff x="935614" y="2861854"/>
                <a:chExt cx="7493585" cy="2352020"/>
              </a:xfrm>
            </p:grpSpPr>
            <p:pic>
              <p:nvPicPr>
                <p:cNvPr id="27" name="Graphic 26" descr="Filter with solid fill">
                  <a:extLst>
                    <a:ext uri="{FF2B5EF4-FFF2-40B4-BE49-F238E27FC236}">
                      <a16:creationId xmlns:a16="http://schemas.microsoft.com/office/drawing/2014/main" id="{86ADC0BE-2FF8-3067-2AD0-C7F6FC7487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935614" y="3307481"/>
                  <a:ext cx="1828800" cy="1828800"/>
                </a:xfrm>
                <a:prstGeom prst="rect">
                  <a:avLst/>
                </a:prstGeom>
              </p:spPr>
            </p:pic>
            <p:pic>
              <p:nvPicPr>
                <p:cNvPr id="28" name="Graphic 27" descr="Left Brain with solid fill">
                  <a:extLst>
                    <a:ext uri="{FF2B5EF4-FFF2-40B4-BE49-F238E27FC236}">
                      <a16:creationId xmlns:a16="http://schemas.microsoft.com/office/drawing/2014/main" id="{14FB8290-FDF9-1CB2-8A23-56FC2B19F5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3611646" y="3307481"/>
                  <a:ext cx="1828800" cy="1828800"/>
                </a:xfrm>
                <a:prstGeom prst="rect">
                  <a:avLst/>
                </a:prstGeom>
              </p:spPr>
            </p:pic>
            <p:pic>
              <p:nvPicPr>
                <p:cNvPr id="29" name="Graphic 28" descr="Subtitles with solid fill">
                  <a:extLst>
                    <a:ext uri="{FF2B5EF4-FFF2-40B4-BE49-F238E27FC236}">
                      <a16:creationId xmlns:a16="http://schemas.microsoft.com/office/drawing/2014/main" id="{805DCF07-12E8-5001-A8E3-842C5BC5A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/>
                <a:stretch/>
              </p:blipFill>
              <p:spPr>
                <a:xfrm>
                  <a:off x="6457090" y="3385074"/>
                  <a:ext cx="1828800" cy="1828800"/>
                </a:xfrm>
                <a:prstGeom prst="rect">
                  <a:avLst/>
                </a:prstGeom>
              </p:spPr>
            </p:pic>
            <p:sp>
              <p:nvSpPr>
                <p:cNvPr id="30" name="Text Box 307">
                  <a:extLst>
                    <a:ext uri="{FF2B5EF4-FFF2-40B4-BE49-F238E27FC236}">
                      <a16:creationId xmlns:a16="http://schemas.microsoft.com/office/drawing/2014/main" id="{53AD0A64-9724-18FF-1B21-6E03C47EB6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0047" y="2861854"/>
                  <a:ext cx="1679933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defTabSz="914400" eaLnBrk="1" hangingPunct="1">
                    <a:spcBef>
                      <a:spcPct val="50000"/>
                    </a:spcBef>
                    <a:defRPr/>
                  </a:pPr>
                  <a:r>
                    <a:rPr lang="en-US" sz="2800" b="1" kern="0" dirty="0">
                      <a:solidFill>
                        <a:srgbClr val="000000"/>
                      </a:solidFill>
                      <a:latin typeface="Calibri"/>
                      <a:cs typeface="Calibri"/>
                    </a:rPr>
                    <a:t>Inference</a:t>
                  </a:r>
                </a:p>
              </p:txBody>
            </p:sp>
            <p:sp>
              <p:nvSpPr>
                <p:cNvPr id="31" name="Text Box 307">
                  <a:extLst>
                    <a:ext uri="{FF2B5EF4-FFF2-40B4-BE49-F238E27FC236}">
                      <a16:creationId xmlns:a16="http://schemas.microsoft.com/office/drawing/2014/main" id="{6F5D9FAB-A6A7-79D5-A7D8-3C54ACFCF0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1646" y="2866899"/>
                  <a:ext cx="182880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defTabSz="914400" eaLnBrk="1" hangingPunct="1">
                    <a:spcBef>
                      <a:spcPct val="50000"/>
                    </a:spcBef>
                    <a:defRPr/>
                  </a:pPr>
                  <a:r>
                    <a:rPr lang="en-US" sz="2800" b="1" kern="0" dirty="0">
                      <a:solidFill>
                        <a:srgbClr val="000000"/>
                      </a:solidFill>
                      <a:latin typeface="Calibri"/>
                      <a:cs typeface="Calibri"/>
                    </a:rPr>
                    <a:t>Evaluation</a:t>
                  </a:r>
                </a:p>
              </p:txBody>
            </p:sp>
            <p:sp>
              <p:nvSpPr>
                <p:cNvPr id="32" name="Text Box 307">
                  <a:extLst>
                    <a:ext uri="{FF2B5EF4-FFF2-40B4-BE49-F238E27FC236}">
                      <a16:creationId xmlns:a16="http://schemas.microsoft.com/office/drawing/2014/main" id="{8248755E-704C-77C5-12C0-3807BA157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13780" y="2861854"/>
                  <a:ext cx="2115419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defTabSz="914400" eaLnBrk="1" hangingPunct="1">
                    <a:spcBef>
                      <a:spcPct val="50000"/>
                    </a:spcBef>
                    <a:defRPr/>
                  </a:pPr>
                  <a:r>
                    <a:rPr lang="en-US" sz="2800" b="1" kern="0" dirty="0">
                      <a:solidFill>
                        <a:srgbClr val="000000"/>
                      </a:solidFill>
                      <a:latin typeface="Calibri"/>
                      <a:cs typeface="Calibri"/>
                    </a:rPr>
                    <a:t>Translation</a:t>
                  </a:r>
                </a:p>
              </p:txBody>
            </p:sp>
          </p:grpSp>
        </p:grpSp>
        <p:pic>
          <p:nvPicPr>
            <p:cNvPr id="39" name="Graphic 38" descr="Grinning face with solid fill with solid fill">
              <a:extLst>
                <a:ext uri="{FF2B5EF4-FFF2-40B4-BE49-F238E27FC236}">
                  <a16:creationId xmlns:a16="http://schemas.microsoft.com/office/drawing/2014/main" id="{C1FFC270-77FA-F92D-8466-716787F8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5437203" y="4639126"/>
              <a:ext cx="1828800" cy="1828800"/>
            </a:xfrm>
            <a:prstGeom prst="rect">
              <a:avLst/>
            </a:prstGeom>
          </p:spPr>
        </p:pic>
        <p:sp>
          <p:nvSpPr>
            <p:cNvPr id="40" name="Text Box 307">
              <a:extLst>
                <a:ext uri="{FF2B5EF4-FFF2-40B4-BE49-F238E27FC236}">
                  <a16:creationId xmlns:a16="http://schemas.microsoft.com/office/drawing/2014/main" id="{B3403D54-F858-FE04-EBE3-2B6506A3E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821" y="4105442"/>
              <a:ext cx="3760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8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Sentiment Analysis</a:t>
              </a:r>
            </a:p>
          </p:txBody>
        </p:sp>
        <p:pic>
          <p:nvPicPr>
            <p:cNvPr id="41" name="Graphic 40" descr="Storytelling with solid fill">
              <a:extLst>
                <a:ext uri="{FF2B5EF4-FFF2-40B4-BE49-F238E27FC236}">
                  <a16:creationId xmlns:a16="http://schemas.microsoft.com/office/drawing/2014/main" id="{7AEF26A7-7387-AF46-5B8F-610DD707F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8885887" y="4680069"/>
              <a:ext cx="1828800" cy="1828800"/>
            </a:xfrm>
            <a:prstGeom prst="rect">
              <a:avLst/>
            </a:prstGeom>
          </p:spPr>
        </p:pic>
        <p:sp>
          <p:nvSpPr>
            <p:cNvPr id="42" name="Text Box 307">
              <a:extLst>
                <a:ext uri="{FF2B5EF4-FFF2-40B4-BE49-F238E27FC236}">
                  <a16:creationId xmlns:a16="http://schemas.microsoft.com/office/drawing/2014/main" id="{9F549BFB-0602-E227-9FE4-CDDEB9E7C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5213" y="4110487"/>
              <a:ext cx="3760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8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Content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557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2CE773-21D6-7AB4-A52B-D4E8C639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3A976D-56BD-5151-3979-7977FAD3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In-Context Prompting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24A2E-7209-D74E-9895-88EECF4A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Prime a model using examples.</a:t>
            </a:r>
          </a:p>
          <a:p>
            <a:r>
              <a:rPr lang="en-US" dirty="0"/>
              <a:t>Used for text generation.</a:t>
            </a:r>
          </a:p>
          <a:p>
            <a:r>
              <a:rPr lang="en-US" dirty="0"/>
              <a:t>Example: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9BA354-1518-C01A-C424-17893D993171}"/>
              </a:ext>
            </a:extLst>
          </p:cNvPr>
          <p:cNvGrpSpPr/>
          <p:nvPr/>
        </p:nvGrpSpPr>
        <p:grpSpPr>
          <a:xfrm>
            <a:off x="708659" y="2478561"/>
            <a:ext cx="8244841" cy="3800320"/>
            <a:chOff x="708659" y="2478561"/>
            <a:chExt cx="8244841" cy="38003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6871030-7CC8-0134-D2CC-8E3401DF0574}"/>
                </a:ext>
              </a:extLst>
            </p:cNvPr>
            <p:cNvGrpSpPr/>
            <p:nvPr/>
          </p:nvGrpSpPr>
          <p:grpSpPr>
            <a:xfrm>
              <a:off x="708659" y="2478561"/>
              <a:ext cx="8244841" cy="3800320"/>
              <a:chOff x="708659" y="4792867"/>
              <a:chExt cx="8244841" cy="380032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D837762-C8C9-33ED-3E10-3C987CF538F3}"/>
                  </a:ext>
                </a:extLst>
              </p:cNvPr>
              <p:cNvSpPr/>
              <p:nvPr/>
            </p:nvSpPr>
            <p:spPr>
              <a:xfrm>
                <a:off x="905690" y="4792867"/>
                <a:ext cx="8047809" cy="3800320"/>
              </a:xfrm>
              <a:prstGeom prst="roundRect">
                <a:avLst>
                  <a:gd name="adj" fmla="val 4234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761110-1506-70F3-1522-C9B81DF04877}"/>
                  </a:ext>
                </a:extLst>
              </p:cNvPr>
              <p:cNvSpPr txBox="1"/>
              <p:nvPr/>
            </p:nvSpPr>
            <p:spPr>
              <a:xfrm>
                <a:off x="708659" y="4898939"/>
                <a:ext cx="1394459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b="1" u="sng" dirty="0"/>
                  <a:t>Prompt</a:t>
                </a:r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endParaRPr lang="en-US" sz="1600" b="1" u="sng" dirty="0"/>
              </a:p>
              <a:p>
                <a:pPr algn="r"/>
                <a:r>
                  <a:rPr lang="en-US" sz="1600" b="1" u="sng" dirty="0"/>
                  <a:t>Response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2E561F-D646-C337-DE61-C69C65281AD4}"/>
                  </a:ext>
                </a:extLst>
              </p:cNvPr>
              <p:cNvSpPr txBox="1"/>
              <p:nvPr/>
            </p:nvSpPr>
            <p:spPr>
              <a:xfrm>
                <a:off x="2103120" y="4928638"/>
                <a:ext cx="685038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Use the following format to identify the sentiment of a customer review.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Review: Normally I love Company A's products, but this one was a disappointment.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Sentiment: Negative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Review: Another great product from Company A!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Sentiment: Positive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Review: Overall, the latest product from Company A measures up to expectations.</a:t>
                </a:r>
              </a:p>
              <a:p>
                <a:endPara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US" sz="1400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0C1F50-FFA4-77A3-CF1E-DC1A9C95BBA9}"/>
                </a:ext>
              </a:extLst>
            </p:cNvPr>
            <p:cNvSpPr txBox="1"/>
            <p:nvPr/>
          </p:nvSpPr>
          <p:spPr>
            <a:xfrm>
              <a:off x="2103120" y="5800010"/>
              <a:ext cx="6850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Sentiment: Positive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614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23140-A660-30FE-6C3D-BFA99E6E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0EBC0E-EA48-6F59-4041-9FF257EA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Prompt Engineering with Text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06592-7198-675A-D399-B4CC64B1EE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Assign a chatbot a persona or role.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Write as clearly as you can.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Provide any relevant conditions.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Ask for sources.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Know the model's restrictions.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Keep trying until you get it right.</a:t>
            </a:r>
          </a:p>
        </p:txBody>
      </p:sp>
    </p:spTree>
    <p:extLst>
      <p:ext uri="{BB962C8B-B14F-4D97-AF65-F5344CB8AC3E}">
        <p14:creationId xmlns:p14="http://schemas.microsoft.com/office/powerpoint/2010/main" val="1371168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2EB37-8D6E-39A5-AE7A-99A77849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AEBDB-56A7-50C5-142B-1B3C1CBAD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Explore, evaluate, re-evaluate.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Chain-of-thought prompt engineering not needed.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Slower, but better results.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OpenAI o1 was first.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Trained/fine tuned on logic processes.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541853-02F1-47D9-6D7B-216FC634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7B6E4-F837-D906-E0AA-ECA57597FD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Reasoning model</a:t>
            </a:r>
            <a:r>
              <a:rPr lang="en-US" dirty="0"/>
              <a:t>: A type of LLM that follows a chain of thought to break down a complex problem step by step before providing a response.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484A5-35C9-4999-00C5-88DBE69F8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2423" y="2617834"/>
            <a:ext cx="4323697" cy="269105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0263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0783F-4C6D-617D-DFA2-D8720A73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5EEE1F-2A72-8F9B-9C18-7D4E1B63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Text Models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C130BBA-5CBB-7288-3D98-A42322C86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3"/>
            <a:ext cx="3430299" cy="4481345"/>
          </a:xfrm>
        </p:spPr>
        <p:txBody>
          <a:bodyPr/>
          <a:lstStyle/>
          <a:p>
            <a:r>
              <a:rPr lang="en-US" dirty="0"/>
              <a:t>Make sure data:</a:t>
            </a:r>
          </a:p>
          <a:p>
            <a:pPr lvl="1"/>
            <a:r>
              <a:rPr lang="en-US" dirty="0"/>
              <a:t>Is labeled.</a:t>
            </a:r>
          </a:p>
          <a:p>
            <a:pPr lvl="1"/>
            <a:r>
              <a:rPr lang="en-US" dirty="0"/>
              <a:t>Is high quality.</a:t>
            </a:r>
          </a:p>
          <a:p>
            <a:pPr lvl="1"/>
            <a:r>
              <a:rPr lang="en-US" dirty="0"/>
              <a:t>Is appropriately formatted.</a:t>
            </a:r>
          </a:p>
          <a:p>
            <a:pPr lvl="1"/>
            <a:r>
              <a:rPr lang="en-US" dirty="0"/>
              <a:t>Includes many examples.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60165A-54C2-0ABD-5202-1C870719CA75}"/>
              </a:ext>
            </a:extLst>
          </p:cNvPr>
          <p:cNvGrpSpPr/>
          <p:nvPr/>
        </p:nvGrpSpPr>
        <p:grpSpPr>
          <a:xfrm>
            <a:off x="3843699" y="957467"/>
            <a:ext cx="8244842" cy="5402858"/>
            <a:chOff x="708658" y="1093738"/>
            <a:chExt cx="8244842" cy="54028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DA9A8D-624F-A56F-8354-745964213685}"/>
                </a:ext>
              </a:extLst>
            </p:cNvPr>
            <p:cNvGrpSpPr/>
            <p:nvPr/>
          </p:nvGrpSpPr>
          <p:grpSpPr>
            <a:xfrm>
              <a:off x="708659" y="1485784"/>
              <a:ext cx="8244841" cy="1133726"/>
              <a:chOff x="708659" y="2478562"/>
              <a:chExt cx="8244841" cy="113372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DC3A0E8-D3CA-5808-10C2-4BCE7FB605B8}"/>
                  </a:ext>
                </a:extLst>
              </p:cNvPr>
              <p:cNvGrpSpPr/>
              <p:nvPr/>
            </p:nvGrpSpPr>
            <p:grpSpPr>
              <a:xfrm>
                <a:off x="708659" y="2478562"/>
                <a:ext cx="8244841" cy="1133726"/>
                <a:chOff x="708659" y="4792868"/>
                <a:chExt cx="8244841" cy="1133726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0C295FD5-FF66-FAC3-6F18-7229BA2AC80F}"/>
                    </a:ext>
                  </a:extLst>
                </p:cNvPr>
                <p:cNvSpPr/>
                <p:nvPr/>
              </p:nvSpPr>
              <p:spPr>
                <a:xfrm>
                  <a:off x="905690" y="4792868"/>
                  <a:ext cx="8047809" cy="1133726"/>
                </a:xfrm>
                <a:prstGeom prst="roundRect">
                  <a:avLst>
                    <a:gd name="adj" fmla="val 4234"/>
                  </a:avLst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F05323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860F50B-38AE-5E20-3172-F19E2BBE8B63}"/>
                    </a:ext>
                  </a:extLst>
                </p:cNvPr>
                <p:cNvSpPr txBox="1"/>
                <p:nvPr/>
              </p:nvSpPr>
              <p:spPr>
                <a:xfrm>
                  <a:off x="708659" y="4898939"/>
                  <a:ext cx="139445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b="1" u="sng" dirty="0"/>
                    <a:t>Prompt</a:t>
                  </a:r>
                </a:p>
                <a:p>
                  <a:pPr algn="r"/>
                  <a:endParaRPr lang="en-US" sz="1600" b="1" u="sng" dirty="0"/>
                </a:p>
                <a:p>
                  <a:pPr algn="r"/>
                  <a:r>
                    <a:rPr lang="en-US" sz="1600" b="1" u="sng" dirty="0"/>
                    <a:t>Response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E919FAC-F467-2772-B861-37336199AF83}"/>
                    </a:ext>
                  </a:extLst>
                </p:cNvPr>
                <p:cNvSpPr txBox="1"/>
                <p:nvPr/>
              </p:nvSpPr>
              <p:spPr>
                <a:xfrm>
                  <a:off x="2103120" y="4928638"/>
                  <a:ext cx="685038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i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This T-shirt fits great and looks great, too!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487F7-C834-7D49-CDCF-4C7E5971FEBE}"/>
                  </a:ext>
                </a:extLst>
              </p:cNvPr>
              <p:cNvSpPr txBox="1"/>
              <p:nvPr/>
            </p:nvSpPr>
            <p:spPr>
              <a:xfrm>
                <a:off x="2103120" y="3109059"/>
                <a:ext cx="6850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Sentiment: Positive</a:t>
                </a:r>
                <a:endParaRPr lang="en-US" sz="14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312F196-DBAB-9B2D-A455-5A7C6AD6348B}"/>
                </a:ext>
              </a:extLst>
            </p:cNvPr>
            <p:cNvGrpSpPr/>
            <p:nvPr/>
          </p:nvGrpSpPr>
          <p:grpSpPr>
            <a:xfrm>
              <a:off x="708658" y="3243657"/>
              <a:ext cx="8244841" cy="1502512"/>
              <a:chOff x="708658" y="3774884"/>
              <a:chExt cx="8244841" cy="150251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67B2EE5-820A-6022-725A-B9357DA3C7E3}"/>
                  </a:ext>
                </a:extLst>
              </p:cNvPr>
              <p:cNvGrpSpPr/>
              <p:nvPr/>
            </p:nvGrpSpPr>
            <p:grpSpPr>
              <a:xfrm>
                <a:off x="708658" y="3774884"/>
                <a:ext cx="8244841" cy="1502512"/>
                <a:chOff x="708659" y="4792868"/>
                <a:chExt cx="8244841" cy="1502512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267CF0FA-26C5-9D0B-0125-82506F2A2AFD}"/>
                    </a:ext>
                  </a:extLst>
                </p:cNvPr>
                <p:cNvSpPr/>
                <p:nvPr/>
              </p:nvSpPr>
              <p:spPr>
                <a:xfrm>
                  <a:off x="905690" y="4792868"/>
                  <a:ext cx="8047809" cy="1502512"/>
                </a:xfrm>
                <a:prstGeom prst="roundRect">
                  <a:avLst>
                    <a:gd name="adj" fmla="val 4234"/>
                  </a:avLst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F05323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0590AFD-BBA5-35A5-73CE-24CB583CAA87}"/>
                    </a:ext>
                  </a:extLst>
                </p:cNvPr>
                <p:cNvSpPr txBox="1"/>
                <p:nvPr/>
              </p:nvSpPr>
              <p:spPr>
                <a:xfrm>
                  <a:off x="708659" y="4898939"/>
                  <a:ext cx="1394459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b="1" u="sng" dirty="0"/>
                    <a:t>Prompt</a:t>
                  </a:r>
                </a:p>
                <a:p>
                  <a:pPr algn="r"/>
                  <a:endParaRPr lang="en-US" sz="1600" b="1" u="sng" dirty="0"/>
                </a:p>
                <a:p>
                  <a:pPr algn="r"/>
                  <a:endParaRPr lang="en-US" sz="1600" b="1" u="sng" dirty="0"/>
                </a:p>
                <a:p>
                  <a:pPr algn="r"/>
                  <a:r>
                    <a:rPr lang="en-US" sz="1600" b="1" u="sng" dirty="0"/>
                    <a:t>Response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D9F47BA-B157-1D18-5766-07DFA22D4CC2}"/>
                    </a:ext>
                  </a:extLst>
                </p:cNvPr>
                <p:cNvSpPr txBox="1"/>
                <p:nvPr/>
              </p:nvSpPr>
              <p:spPr>
                <a:xfrm>
                  <a:off x="2103120" y="4928638"/>
                  <a:ext cx="68503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i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Model: T-shirt; Colors: Green, Red, Pink; Sizes: S, M, L, XL; Fabric: Cotton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F7A72B-2686-5BA8-431B-184DAF2A1670}"/>
                  </a:ext>
                </a:extLst>
              </p:cNvPr>
              <p:cNvSpPr txBox="1"/>
              <p:nvPr/>
            </p:nvSpPr>
            <p:spPr>
              <a:xfrm>
                <a:off x="2103119" y="4640201"/>
                <a:ext cx="68503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Our comfortable, stylish T-shirts are 100% cotton and come in a variety of sizes and colors. Pick one out today!</a:t>
                </a:r>
                <a:endParaRPr lang="en-US" sz="1400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3296C61-5FDF-CDFA-0019-36F0888F0F7E}"/>
                </a:ext>
              </a:extLst>
            </p:cNvPr>
            <p:cNvGrpSpPr/>
            <p:nvPr/>
          </p:nvGrpSpPr>
          <p:grpSpPr>
            <a:xfrm>
              <a:off x="708658" y="5364386"/>
              <a:ext cx="8244841" cy="1132210"/>
              <a:chOff x="708658" y="3774884"/>
              <a:chExt cx="8244841" cy="113221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5AAAD5A-1331-F67E-550B-D72FD7515B8A}"/>
                  </a:ext>
                </a:extLst>
              </p:cNvPr>
              <p:cNvGrpSpPr/>
              <p:nvPr/>
            </p:nvGrpSpPr>
            <p:grpSpPr>
              <a:xfrm>
                <a:off x="708658" y="3774884"/>
                <a:ext cx="8244841" cy="1132210"/>
                <a:chOff x="708659" y="4792868"/>
                <a:chExt cx="8244841" cy="1132210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E3D0EB55-5D00-377D-33FD-CCD26FCB6DA7}"/>
                    </a:ext>
                  </a:extLst>
                </p:cNvPr>
                <p:cNvSpPr/>
                <p:nvPr/>
              </p:nvSpPr>
              <p:spPr>
                <a:xfrm>
                  <a:off x="905690" y="4792868"/>
                  <a:ext cx="8047809" cy="1132210"/>
                </a:xfrm>
                <a:prstGeom prst="roundRect">
                  <a:avLst>
                    <a:gd name="adj" fmla="val 4234"/>
                  </a:avLst>
                </a:prstGeom>
                <a:solidFill>
                  <a:schemeClr val="bg1">
                    <a:lumMod val="95000"/>
                  </a:schemeClr>
                </a:solidFill>
                <a:ln w="28575" cap="flat" cmpd="sng" algn="ctr">
                  <a:solidFill>
                    <a:srgbClr val="F05323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F7CFB4B-8346-7083-3749-72FF4730E8FD}"/>
                    </a:ext>
                  </a:extLst>
                </p:cNvPr>
                <p:cNvSpPr txBox="1"/>
                <p:nvPr/>
              </p:nvSpPr>
              <p:spPr>
                <a:xfrm>
                  <a:off x="708659" y="4898939"/>
                  <a:ext cx="139445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b="1" u="sng" dirty="0"/>
                    <a:t>Prompt</a:t>
                  </a:r>
                </a:p>
                <a:p>
                  <a:pPr algn="r"/>
                  <a:endParaRPr lang="en-US" sz="1600" b="1" u="sng" dirty="0"/>
                </a:p>
                <a:p>
                  <a:pPr algn="r"/>
                  <a:r>
                    <a:rPr lang="en-US" sz="1600" b="1" u="sng" dirty="0"/>
                    <a:t>Response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F2FD322-2AF2-0F69-03B1-4188784C6F7E}"/>
                    </a:ext>
                  </a:extLst>
                </p:cNvPr>
                <p:cNvSpPr txBox="1"/>
                <p:nvPr/>
              </p:nvSpPr>
              <p:spPr>
                <a:xfrm>
                  <a:off x="2103120" y="4928638"/>
                  <a:ext cx="685038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i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The shirt is too loose and feels more like an XL than an L.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8FAA9B-D072-3F1A-DAC3-F7269F24F2A3}"/>
                  </a:ext>
                </a:extLst>
              </p:cNvPr>
              <p:cNvSpPr txBox="1"/>
              <p:nvPr/>
            </p:nvSpPr>
            <p:spPr>
              <a:xfrm>
                <a:off x="2103119" y="4405067"/>
                <a:ext cx="6850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Reason for return: Wrong size</a:t>
                </a:r>
                <a:endParaRPr lang="en-US" sz="1400" dirty="0"/>
              </a:p>
            </p:txBody>
          </p:sp>
        </p:grpSp>
        <p:sp>
          <p:nvSpPr>
            <p:cNvPr id="27" name="Text Box 307">
              <a:extLst>
                <a:ext uri="{FF2B5EF4-FFF2-40B4-BE49-F238E27FC236}">
                  <a16:creationId xmlns:a16="http://schemas.microsoft.com/office/drawing/2014/main" id="{FE5856D9-E5E7-3640-EDB9-C48E6FBF8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1010" y="1093738"/>
              <a:ext cx="21971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Sentiment Analysis</a:t>
              </a:r>
            </a:p>
          </p:txBody>
        </p:sp>
        <p:sp>
          <p:nvSpPr>
            <p:cNvPr id="28" name="Text Box 307">
              <a:extLst>
                <a:ext uri="{FF2B5EF4-FFF2-40B4-BE49-F238E27FC236}">
                  <a16:creationId xmlns:a16="http://schemas.microsoft.com/office/drawing/2014/main" id="{4FB209AD-9512-F4C4-A4B3-B8E657224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1010" y="2865940"/>
              <a:ext cx="21971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Product Description</a:t>
              </a:r>
            </a:p>
          </p:txBody>
        </p:sp>
        <p:sp>
          <p:nvSpPr>
            <p:cNvPr id="30" name="Text Box 307">
              <a:extLst>
                <a:ext uri="{FF2B5EF4-FFF2-40B4-BE49-F238E27FC236}">
                  <a16:creationId xmlns:a16="http://schemas.microsoft.com/office/drawing/2014/main" id="{F0BEB8B2-98A3-CCA4-DB1B-345ADA8E1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658" y="4976976"/>
              <a:ext cx="24478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Product-Return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1935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E7023-31AE-E757-09C0-D95472BC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82C7F-0A25-239D-A030-8A0FC521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Cites documentation, database entries, etc.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Minimizes need for fine tuning.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Used by chatbots to search the web.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Results in more accurate, current info.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E3E364-302D-E642-710A-C095C56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Retrieval-Augmented Generation (RAG)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7459C-AFC7-9080-F7A6-5BB24962F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RAG</a:t>
            </a:r>
            <a:r>
              <a:rPr lang="en-US" dirty="0"/>
              <a:t>: A technique that enhances traditional LLMs by retrieving relevant, up-to-date information from a knowledge base before generating a response.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79AB0-D569-42A1-C53D-75D5F2DE3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104" y="2605149"/>
            <a:ext cx="5335273" cy="353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60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62ABE-DF4A-76ED-3339-7B37FF10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30834A-949A-9F10-DE83-CC86E58E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Text-Generation Tools</a:t>
            </a:r>
          </a:p>
        </p:txBody>
      </p:sp>
      <p:graphicFrame>
        <p:nvGraphicFramePr>
          <p:cNvPr id="7" name="Group 23">
            <a:extLst>
              <a:ext uri="{FF2B5EF4-FFF2-40B4-BE49-F238E27FC236}">
                <a16:creationId xmlns:a16="http://schemas.microsoft.com/office/drawing/2014/main" id="{E9D536C9-6FD6-B291-5276-F961A32BE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443277"/>
              </p:ext>
            </p:extLst>
          </p:nvPr>
        </p:nvGraphicFramePr>
        <p:xfrm>
          <a:off x="1841380" y="1498081"/>
          <a:ext cx="8509241" cy="4267200"/>
        </p:xfrm>
        <a:graphic>
          <a:graphicData uri="http://schemas.openxmlformats.org/drawingml/2006/table">
            <a:tbl>
              <a:tblPr/>
              <a:tblGrid>
                <a:gridCol w="260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391521993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Tool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GPT-</a:t>
                      </a: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n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 models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OpenAI's foundational models. GPT-4 released in 2023.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ChatGPT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OpenAI's chatbot. Free and paid tiers.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Microsoft Copilot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Microsoft's chatbot. Based on GPT-4o. Free and paid tiers.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Gemini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Google's chatbot. Based on model of same name. Free and paid tiers.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12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Claude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Chatbot developed by Anthropic. Free and paid tiers.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58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Grok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Chatbot built by </a:t>
                      </a:r>
                      <a:r>
                        <a:rPr kumimoji="0" lang="en-US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xAI</a:t>
                      </a: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 and integrated with X (Twitter). Free and paid tiers.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2678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Llama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Family of open-access LLMs. Developed by Meta.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2016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Microsoft 365 Copilot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AI integrated into Microsoft 365 productivity apps. Paid subscription.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6686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Gemini for Google Workspace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AI integrated into Google Workspace productivity apps. Paid subscription.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94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Whisper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Open-source speech-to-text models. Can transcribe and translate.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8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40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CA3049-5433-8548-76AB-CFC988BC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022B6-4FDB-9F2B-5EDB-EC6CC86E2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Prompting an AI to Generate Text</a:t>
            </a:r>
          </a:p>
        </p:txBody>
      </p:sp>
    </p:spTree>
    <p:extLst>
      <p:ext uri="{BB962C8B-B14F-4D97-AF65-F5344CB8AC3E}">
        <p14:creationId xmlns:p14="http://schemas.microsoft.com/office/powerpoint/2010/main" val="3278619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574-4728-752D-B1EC-9E9957D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4BED5-ADAD-5769-7D33-03E761D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7AA9-D104-5ED8-38B3-6DBB2A9D9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Solve Business Problems Using Text Generation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4BC721-1B91-D215-708B-AA45607C6C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37224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F2B8B-31C1-A09E-E4EA-3B2444FD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A39145-A284-E82D-3762-21B00004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Service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FA02A-0D76-DA5F-C34D-6C33B6AE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customer communication</a:t>
            </a:r>
          </a:p>
          <a:p>
            <a:r>
              <a:rPr lang="en-US" dirty="0"/>
              <a:t>Automated email responses</a:t>
            </a:r>
          </a:p>
          <a:p>
            <a:r>
              <a:rPr lang="en-US" dirty="0"/>
              <a:t>Agent assistance</a:t>
            </a:r>
          </a:p>
          <a:p>
            <a:r>
              <a:rPr lang="en-US" dirty="0"/>
              <a:t>Personalized surveys</a:t>
            </a:r>
          </a:p>
        </p:txBody>
      </p:sp>
      <p:pic>
        <p:nvPicPr>
          <p:cNvPr id="10" name="Picture 9" descr="A person wearing a headset and looking away from the camera&#10;&#10;Description automatically generated with low confidence">
            <a:extLst>
              <a:ext uri="{FF2B5EF4-FFF2-40B4-BE49-F238E27FC236}">
                <a16:creationId xmlns:a16="http://schemas.microsoft.com/office/drawing/2014/main" id="{E919CBA4-2D6E-B522-17A1-AFA889F5F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192" y="1627295"/>
            <a:ext cx="4071445" cy="4071445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12546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DD89A-3536-8391-7F33-C1F86EFA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F04C5F-5C1B-1D79-6076-18C122A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Helpdesk Service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38E03-8231-5715-2C47-8FC15F34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ticket responses</a:t>
            </a:r>
          </a:p>
          <a:p>
            <a:r>
              <a:rPr lang="en-US" dirty="0"/>
              <a:t>Ticket categorization and escalation</a:t>
            </a:r>
          </a:p>
          <a:p>
            <a:r>
              <a:rPr lang="en-US" dirty="0"/>
              <a:t>Knowledge-base generation</a:t>
            </a:r>
          </a:p>
          <a:p>
            <a:r>
              <a:rPr lang="en-US" dirty="0"/>
              <a:t>Automated status updates</a:t>
            </a:r>
          </a:p>
        </p:txBody>
      </p:sp>
      <p:pic>
        <p:nvPicPr>
          <p:cNvPr id="6" name="Picture 5" descr="A person wearing a headset and using a computer&#10;&#10;Description automatically generated with low confidence">
            <a:extLst>
              <a:ext uri="{FF2B5EF4-FFF2-40B4-BE49-F238E27FC236}">
                <a16:creationId xmlns:a16="http://schemas.microsoft.com/office/drawing/2014/main" id="{39079981-7578-3FAF-D2E4-7A5CA86C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103" y="1933301"/>
            <a:ext cx="5360997" cy="335062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16531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94AF8-A748-524D-D457-6126DCEB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6493C0-9FFC-86C3-DD4E-5457A455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Ordering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FA78F-A8B9-58A2-217F-5930D01F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Personalized product recommendations</a:t>
            </a:r>
          </a:p>
          <a:p>
            <a:r>
              <a:rPr lang="en-US" dirty="0"/>
              <a:t>Personalized surveys</a:t>
            </a:r>
          </a:p>
          <a:p>
            <a:r>
              <a:rPr lang="en-US" dirty="0"/>
              <a:t>Automated order updates</a:t>
            </a:r>
          </a:p>
          <a:p>
            <a:r>
              <a:rPr lang="en-US" dirty="0"/>
              <a:t>Natural-language order processing</a:t>
            </a:r>
          </a:p>
        </p:txBody>
      </p:sp>
      <p:pic>
        <p:nvPicPr>
          <p:cNvPr id="6" name="Picture 5" descr="A computer screen with a shopping cart on the screen&#10;&#10;Description automatically generated with medium confidence">
            <a:extLst>
              <a:ext uri="{FF2B5EF4-FFF2-40B4-BE49-F238E27FC236}">
                <a16:creationId xmlns:a16="http://schemas.microsoft.com/office/drawing/2014/main" id="{4DF04DA7-97B0-185D-23BC-7C9A7334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610" y="1718098"/>
            <a:ext cx="5124262" cy="383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96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2DA9B-5849-8BB3-22CD-49E78604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92A93-CB91-B717-A6F9-D6F12AB4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Campaigns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788F4-B97E-3329-F8EE-76A196C1F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Personalized email marketing</a:t>
            </a:r>
          </a:p>
          <a:p>
            <a:r>
              <a:rPr lang="en-US" dirty="0"/>
              <a:t>Social media marketing</a:t>
            </a:r>
          </a:p>
          <a:p>
            <a:r>
              <a:rPr lang="en-US" dirty="0"/>
              <a:t>Landing page optimization</a:t>
            </a:r>
          </a:p>
          <a:p>
            <a:r>
              <a:rPr lang="en-US" dirty="0"/>
              <a:t>Campaign calendars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E0B8C-A567-A144-CD54-DE17C2FE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73368" y="1929384"/>
            <a:ext cx="5224125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02351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86E12B-1830-1B35-2BE7-F8697A9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7F030B-1FB6-1A4D-2BCE-2F4A15B8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Descriptions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CFE55-D973-FF8A-9730-8A7818F0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Personalized descriptions</a:t>
            </a:r>
          </a:p>
          <a:p>
            <a:r>
              <a:rPr lang="en-US" dirty="0"/>
              <a:t>Dynamic price matching and promotions</a:t>
            </a:r>
          </a:p>
          <a:p>
            <a:r>
              <a:rPr lang="en-US" dirty="0"/>
              <a:t>Review testimonials</a:t>
            </a:r>
          </a:p>
          <a:p>
            <a:r>
              <a:rPr lang="en-US" dirty="0"/>
              <a:t>Storytelling descriptions</a:t>
            </a:r>
          </a:p>
        </p:txBody>
      </p:sp>
      <p:pic>
        <p:nvPicPr>
          <p:cNvPr id="6" name="Picture 5" descr="A picture containing person, clothing, outdoor&#10;&#10;Description automatically generated">
            <a:extLst>
              <a:ext uri="{FF2B5EF4-FFF2-40B4-BE49-F238E27FC236}">
                <a16:creationId xmlns:a16="http://schemas.microsoft.com/office/drawing/2014/main" id="{A0DE9300-8285-AA0F-1D81-D6F084853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3616"/>
            <a:ext cx="4855463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38317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C4DD3-15C5-2A52-454A-B9798BDE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F6A9B-BD77-D086-65FF-72A1D260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Note Taking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2C93-3D54-3D4D-2A00-AD993C4F3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Automatic transcription</a:t>
            </a:r>
          </a:p>
          <a:p>
            <a:r>
              <a:rPr lang="en-US" dirty="0"/>
              <a:t>Meeting summarization</a:t>
            </a:r>
          </a:p>
          <a:p>
            <a:r>
              <a:rPr lang="en-US" dirty="0"/>
              <a:t>Contextual suggestions</a:t>
            </a:r>
          </a:p>
          <a:p>
            <a:r>
              <a:rPr lang="en-US" dirty="0"/>
              <a:t>Task assignment</a:t>
            </a:r>
          </a:p>
        </p:txBody>
      </p:sp>
      <p:pic>
        <p:nvPicPr>
          <p:cNvPr id="6" name="Picture 5" descr="A pen on a notebook&#10;&#10;Description automatically generated with low confidence">
            <a:extLst>
              <a:ext uri="{FF2B5EF4-FFF2-40B4-BE49-F238E27FC236}">
                <a16:creationId xmlns:a16="http://schemas.microsoft.com/office/drawing/2014/main" id="{42B5B357-36F2-DA66-D5D1-03705C17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36" y="1763374"/>
            <a:ext cx="5049764" cy="379258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017226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47E6A4-255C-87A9-4D8A-8D8F7D1B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AF708C-30EC-14FC-47FB-E8BB799F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Summarization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2E0B2-9EB7-8C6F-594C-817F38D5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Documentation summarization</a:t>
            </a:r>
          </a:p>
          <a:p>
            <a:r>
              <a:rPr lang="en-US" dirty="0"/>
              <a:t>Social media summarization</a:t>
            </a:r>
          </a:p>
          <a:p>
            <a:r>
              <a:rPr lang="en-US" dirty="0"/>
              <a:t>Email summarization</a:t>
            </a:r>
          </a:p>
          <a:p>
            <a:r>
              <a:rPr lang="en-US" dirty="0"/>
              <a:t>News summarization</a:t>
            </a:r>
          </a:p>
        </p:txBody>
      </p:sp>
      <p:pic>
        <p:nvPicPr>
          <p:cNvPr id="6" name="Picture 5" descr="A picture containing wood, black and white, monochrome, outdoor&#10;&#10;Description automatically generated">
            <a:extLst>
              <a:ext uri="{FF2B5EF4-FFF2-40B4-BE49-F238E27FC236}">
                <a16:creationId xmlns:a16="http://schemas.microsoft.com/office/drawing/2014/main" id="{10433CC2-C7B6-1EA3-8F39-D7DD3735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4854057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06562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C01672-F43D-D9C8-10CD-FFEAAF1B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CA6184-AF08-3646-E964-346B659F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Mining and Inference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68468-064C-DA2A-18E4-A83356D1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Process-documentation retrieval</a:t>
            </a:r>
          </a:p>
          <a:p>
            <a:r>
              <a:rPr lang="en-US" dirty="0"/>
              <a:t>Fact retrieval</a:t>
            </a:r>
          </a:p>
          <a:p>
            <a:r>
              <a:rPr lang="en-US" dirty="0"/>
              <a:t>Automated decision making</a:t>
            </a:r>
          </a:p>
          <a:p>
            <a:r>
              <a:rPr lang="en-US" dirty="0"/>
              <a:t>Customer-needs anticipation</a:t>
            </a:r>
          </a:p>
        </p:txBody>
      </p:sp>
      <p:pic>
        <p:nvPicPr>
          <p:cNvPr id="6" name="Picture 5" descr="A picture containing medical, x-ray film&#10;&#10;Description automatically generated">
            <a:extLst>
              <a:ext uri="{FF2B5EF4-FFF2-40B4-BE49-F238E27FC236}">
                <a16:creationId xmlns:a16="http://schemas.microsoft.com/office/drawing/2014/main" id="{ABB5B006-08C3-C120-8C80-C3882732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341372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88844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3A4539-E228-C1CC-C69D-3D083E1D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719318-7F1D-A612-0D36-D809E7DC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Assistance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8D9DE-D183-2389-DB6A-DB17BED57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 checking</a:t>
            </a:r>
          </a:p>
          <a:p>
            <a:r>
              <a:rPr lang="en-US" dirty="0"/>
              <a:t>Citation and reference generation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Research-materials organization</a:t>
            </a:r>
          </a:p>
        </p:txBody>
      </p:sp>
      <p:pic>
        <p:nvPicPr>
          <p:cNvPr id="8" name="Picture 7" descr="A picture containing scientific instrument, medical equipment, indoor, laboratory&#10;&#10;Description automatically generated">
            <a:extLst>
              <a:ext uri="{FF2B5EF4-FFF2-40B4-BE49-F238E27FC236}">
                <a16:creationId xmlns:a16="http://schemas.microsoft.com/office/drawing/2014/main" id="{C6CC581E-F551-3CB8-A207-B8983F033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728618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FB662-BF73-5BE8-0AB3-B34E892F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03ACDB-FC1B-1D07-93EF-EF82EF33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27717-6534-C4E0-4667-56C15214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Documentation metadata</a:t>
            </a:r>
          </a:p>
          <a:p>
            <a:r>
              <a:rPr lang="en-US" dirty="0"/>
              <a:t>Multimedia metadata</a:t>
            </a:r>
          </a:p>
          <a:p>
            <a:r>
              <a:rPr lang="en-US" dirty="0"/>
              <a:t>Web-content metadata</a:t>
            </a:r>
          </a:p>
          <a:p>
            <a:r>
              <a:rPr lang="en-US" dirty="0"/>
              <a:t>Geographic metadata</a:t>
            </a:r>
          </a:p>
        </p:txBody>
      </p:sp>
      <p:pic>
        <p:nvPicPr>
          <p:cNvPr id="6" name="Picture 5" descr="A close-up of words&#10;&#10;Description automatically generated with medium confidence">
            <a:extLst>
              <a:ext uri="{FF2B5EF4-FFF2-40B4-BE49-F238E27FC236}">
                <a16:creationId xmlns:a16="http://schemas.microsoft.com/office/drawing/2014/main" id="{3CC19D0D-E390-DFF6-7478-2CE8DE2C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36571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08631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F3357-C43B-F39B-D3ED-59FF8D4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FAACF5-96D7-5689-D8F7-FC36D70B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Translation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BA322-90BC-8042-8742-E61D66534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Multilingual product descriptions</a:t>
            </a:r>
          </a:p>
          <a:p>
            <a:r>
              <a:rPr lang="en-US" dirty="0"/>
              <a:t>Cross-language research</a:t>
            </a:r>
          </a:p>
          <a:p>
            <a:r>
              <a:rPr lang="en-US" dirty="0"/>
              <a:t>Real-time language switching</a:t>
            </a:r>
          </a:p>
          <a:p>
            <a:r>
              <a:rPr lang="en-US" dirty="0"/>
              <a:t>Software localization</a:t>
            </a:r>
          </a:p>
        </p:txBody>
      </p:sp>
      <p:pic>
        <p:nvPicPr>
          <p:cNvPr id="6" name="Picture 5" descr="A group of books on a table&#10;&#10;Description automatically generated with medium confidence">
            <a:extLst>
              <a:ext uri="{FF2B5EF4-FFF2-40B4-BE49-F238E27FC236}">
                <a16:creationId xmlns:a16="http://schemas.microsoft.com/office/drawing/2014/main" id="{52770192-691F-DA0D-FA19-D983E9397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68299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3A8352-2FCB-8F3E-CE02-98A9733B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362840-DFA2-8F05-CFA2-F653ABFF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Dialogue and Story Enhancement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B82ED-1243-7958-258A-AA6D78129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storytelling</a:t>
            </a:r>
          </a:p>
          <a:p>
            <a:r>
              <a:rPr lang="en-US" dirty="0"/>
              <a:t>Scene enhancement</a:t>
            </a:r>
          </a:p>
          <a:p>
            <a:r>
              <a:rPr lang="en-US" dirty="0"/>
              <a:t>Dialogue enhancement</a:t>
            </a:r>
          </a:p>
          <a:p>
            <a:r>
              <a:rPr lang="en-US" dirty="0"/>
              <a:t>Idea brainstorming</a:t>
            </a:r>
          </a:p>
        </p:txBody>
      </p:sp>
      <p:pic>
        <p:nvPicPr>
          <p:cNvPr id="6" name="Picture 5" descr="A picture containing grass, cloud, outdoor, sky&#10;&#10;Description automatically generated">
            <a:extLst>
              <a:ext uri="{FF2B5EF4-FFF2-40B4-BE49-F238E27FC236}">
                <a16:creationId xmlns:a16="http://schemas.microsoft.com/office/drawing/2014/main" id="{9ADC94E9-32D7-2C3C-CE64-645A07CB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9384"/>
            <a:ext cx="5354726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613029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FEFD9-581E-C0E5-CAD9-329B7F05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F433BA-3093-3D15-82DE-08115052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Courseware and Syllabus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C3EE7-2848-B7FF-AADE-192F56D4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planning</a:t>
            </a:r>
          </a:p>
          <a:p>
            <a:r>
              <a:rPr lang="en-US" dirty="0"/>
              <a:t>Learning-materials creation</a:t>
            </a:r>
          </a:p>
          <a:p>
            <a:r>
              <a:rPr lang="en-US" dirty="0"/>
              <a:t>Assessment creation</a:t>
            </a:r>
          </a:p>
          <a:p>
            <a:r>
              <a:rPr lang="en-US" dirty="0"/>
              <a:t>Objectives alignment</a:t>
            </a:r>
          </a:p>
        </p:txBody>
      </p:sp>
      <p:pic>
        <p:nvPicPr>
          <p:cNvPr id="6" name="Picture 5" descr="A group of people in a lecture hall&#10;&#10;Description automatically generated with medium confidence">
            <a:extLst>
              <a:ext uri="{FF2B5EF4-FFF2-40B4-BE49-F238E27FC236}">
                <a16:creationId xmlns:a16="http://schemas.microsoft.com/office/drawing/2014/main" id="{02C79DD6-06BF-ED75-2047-29774A436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44086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F6B6FB-125A-566A-178E-E5F441AE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5CE3B6-4F21-0BB9-6D60-D859FBD2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 and Onboarding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310ED-6997-D384-CF90-7E8BBAB5A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 profiling</a:t>
            </a:r>
          </a:p>
          <a:p>
            <a:r>
              <a:rPr lang="en-US" dirty="0"/>
              <a:t>Interview-question generation</a:t>
            </a:r>
          </a:p>
          <a:p>
            <a:r>
              <a:rPr lang="en-US" dirty="0"/>
              <a:t>Onboarding documentation</a:t>
            </a:r>
          </a:p>
          <a:p>
            <a:r>
              <a:rPr lang="en-US" dirty="0"/>
              <a:t>Performance evaluation</a:t>
            </a:r>
          </a:p>
        </p:txBody>
      </p:sp>
      <p:pic>
        <p:nvPicPr>
          <p:cNvPr id="8" name="Picture 7" descr="Close-up of hands shaking in an office&#10;&#10;Description automatically generated with medium confidence">
            <a:extLst>
              <a:ext uri="{FF2B5EF4-FFF2-40B4-BE49-F238E27FC236}">
                <a16:creationId xmlns:a16="http://schemas.microsoft.com/office/drawing/2014/main" id="{5B8270EC-B5C0-ECB1-8E6C-DCBEFAD9D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86002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74496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6978CB-9B90-C1C1-3289-ADE2A6A9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C9B26-53B4-6953-D93D-622000145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 text-generation system help improve the customer experience?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 text-generation system help improve these marketing efforts?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 text-generation system help improve the helpdesk experience?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972A55-A3CE-6DAC-4887-3CA2E22E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23" y="290945"/>
            <a:ext cx="7710830" cy="792482"/>
          </a:xfrm>
        </p:spPr>
        <p:txBody>
          <a:bodyPr/>
          <a:lstStyle/>
          <a:p>
            <a:r>
              <a:rPr lang="en-US" dirty="0"/>
              <a:t>Activity: Solving Business Problems Using Text Generation</a:t>
            </a:r>
          </a:p>
        </p:txBody>
      </p:sp>
    </p:spTree>
    <p:extLst>
      <p:ext uri="{BB962C8B-B14F-4D97-AF65-F5344CB8AC3E}">
        <p14:creationId xmlns:p14="http://schemas.microsoft.com/office/powerpoint/2010/main" val="640104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might you or other personnel use text generation in your own organization?</a:t>
            </a:r>
          </a:p>
          <a:p>
            <a:r>
              <a:rPr lang="en-US" dirty="0"/>
              <a:t>What text-generation tools do you or your organization use or plan to use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3560614103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4.potx" id="{FC8E00D4-5C18-4A7B-A267-D7664A2A2578}" vid="{0731E515-B91B-47E2-8213-240CAD6364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CNX_OV_Template_BIZ_1.4</Template>
  <TotalTime>356</TotalTime>
  <Words>1399</Words>
  <Application>Microsoft Office PowerPoint</Application>
  <PresentationFormat>Widescreen</PresentationFormat>
  <Paragraphs>316</Paragraphs>
  <Slides>35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Courier New</vt:lpstr>
      <vt:lpstr>Segoe UI Semibold</vt:lpstr>
      <vt:lpstr>Wingdings</vt:lpstr>
      <vt:lpstr>CNX</vt:lpstr>
      <vt:lpstr>Generating Text Using AI</vt:lpstr>
      <vt:lpstr>Generating Text Using AI</vt:lpstr>
      <vt:lpstr>PowerPoint Presentation</vt:lpstr>
      <vt:lpstr>Large Language Models (LLMs)</vt:lpstr>
      <vt:lpstr>Tokens</vt:lpstr>
      <vt:lpstr>Text Completion</vt:lpstr>
      <vt:lpstr>Instruction Following</vt:lpstr>
      <vt:lpstr>Chatbots</vt:lpstr>
      <vt:lpstr>Integrated AI for Text</vt:lpstr>
      <vt:lpstr>Speech to Text</vt:lpstr>
      <vt:lpstr>Additional Text-Generation Approaches</vt:lpstr>
      <vt:lpstr>In-Context Prompting Example</vt:lpstr>
      <vt:lpstr>Best Practices for Prompt Engineering with Text Generation</vt:lpstr>
      <vt:lpstr>Reasoning Models</vt:lpstr>
      <vt:lpstr>Fine Tuning Text Models</vt:lpstr>
      <vt:lpstr>Retrieval-Augmented Generation (RAG)</vt:lpstr>
      <vt:lpstr>Text-Generation Tools</vt:lpstr>
      <vt:lpstr>PowerPoint Presentation</vt:lpstr>
      <vt:lpstr>PowerPoint Presentation</vt:lpstr>
      <vt:lpstr>Customer Service</vt:lpstr>
      <vt:lpstr>Helpdesk Service</vt:lpstr>
      <vt:lpstr>Online Ordering Systems</vt:lpstr>
      <vt:lpstr>Marketing Campaigns</vt:lpstr>
      <vt:lpstr>Product Descriptions</vt:lpstr>
      <vt:lpstr>Automated Note Taking</vt:lpstr>
      <vt:lpstr>Information Summarization</vt:lpstr>
      <vt:lpstr>Information Mining and Inference</vt:lpstr>
      <vt:lpstr>Research Assistance</vt:lpstr>
      <vt:lpstr>Metadata Creation</vt:lpstr>
      <vt:lpstr>Language Translation</vt:lpstr>
      <vt:lpstr>Dialogue and Story Enhancement</vt:lpstr>
      <vt:lpstr>Courseware and Syllabus Creation</vt:lpstr>
      <vt:lpstr>Interviews and Onboarding</vt:lpstr>
      <vt:lpstr>Activity: Solving Business Problems Using Text Generation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Nufryk</dc:creator>
  <cp:lastModifiedBy>Jason Nufryk</cp:lastModifiedBy>
  <cp:revision>16</cp:revision>
  <dcterms:created xsi:type="dcterms:W3CDTF">2025-07-16T12:33:59Z</dcterms:created>
  <dcterms:modified xsi:type="dcterms:W3CDTF">2025-07-28T15:27:22Z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