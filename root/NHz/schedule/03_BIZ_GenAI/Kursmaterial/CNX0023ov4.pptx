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27"/>
  </p:notesMasterIdLst>
  <p:handoutMasterIdLst>
    <p:handoutMasterId r:id="rId28"/>
  </p:handoutMasterIdLst>
  <p:sldIdLst>
    <p:sldId id="274" r:id="rId5"/>
    <p:sldId id="272" r:id="rId6"/>
    <p:sldId id="275" r:id="rId7"/>
    <p:sldId id="277" r:id="rId8"/>
    <p:sldId id="278" r:id="rId9"/>
    <p:sldId id="330" r:id="rId10"/>
    <p:sldId id="331" r:id="rId11"/>
    <p:sldId id="279" r:id="rId12"/>
    <p:sldId id="312" r:id="rId13"/>
    <p:sldId id="313" r:id="rId14"/>
    <p:sldId id="332" r:id="rId15"/>
    <p:sldId id="328" r:id="rId16"/>
    <p:sldId id="276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5A0B-1F78-74D0-927E-F2822A141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0814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2D1A8F-30B0-61E3-A62C-B4E601433CDC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56FEA-E1F8-A943-34A7-D4AE081AD0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C5457-7E97-5E91-CA77-E4A419A28D22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85954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44C451-2A23-712B-69C9-72B95AABEF4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54BA7C-0CF2-7491-2AF6-A9807C75BDD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B59A8-0284-7432-CE8D-4D17DDCF291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B0B4EB-6E3F-B864-1C37-2341FA1B9631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7E4E289-495F-C56C-3DB1-9244A1D22084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72" r:id="rId10"/>
    <p:sldLayoutId id="2147483951" r:id="rId11"/>
    <p:sldLayoutId id="2147483973" r:id="rId12"/>
    <p:sldLayoutId id="2147483936" r:id="rId13"/>
    <p:sldLayoutId id="2147483937" r:id="rId14"/>
    <p:sldLayoutId id="2147483934" r:id="rId15"/>
    <p:sldLayoutId id="2147483935" r:id="rId16"/>
    <p:sldLayoutId id="2147483939" r:id="rId17"/>
    <p:sldLayoutId id="2147483940" r:id="rId18"/>
    <p:sldLayoutId id="2147483955" r:id="rId19"/>
    <p:sldLayoutId id="2147483950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4.xml"/><Relationship Id="rId4" Type="http://schemas.openxmlformats.org/officeDocument/2006/relationships/audio" Target="../media/media4.mp3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jpeg"/><Relationship Id="rId2" Type="http://schemas.openxmlformats.org/officeDocument/2006/relationships/image" Target="../media/image20.png"/><Relationship Id="rId16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Relationship Id="rId1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0264-38DA-BC9C-68BC-0CF65B4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Audio Using 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0B37D-3949-E27E-3673-0005E744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0D2C956-A91F-C643-216C-09D65627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Audio Generation Concepts</a:t>
            </a:r>
          </a:p>
          <a:p>
            <a:r>
              <a:rPr lang="en-US" dirty="0"/>
              <a:t>Solve Business Problems Using Audio Generation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Audio Using AI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Audio Generation Concepts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653528-72C9-FF13-9DEF-8130F8485E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106364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C9402-361F-CD40-2A7C-06D5D962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7E72B-F5E4-9287-C76A-0B8BC53D9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Mood/tone ("meditative song," "calming and soothing")</a:t>
            </a:r>
          </a:p>
          <a:p>
            <a:r>
              <a:rPr lang="en-US" dirty="0"/>
              <a:t>Specific instruments ("with flutes and guitars")</a:t>
            </a:r>
          </a:p>
          <a:p>
            <a:r>
              <a:rPr lang="en-US" dirty="0"/>
              <a:t>Tempo ("the music is slow")</a:t>
            </a:r>
          </a:p>
          <a:p>
            <a:r>
              <a:rPr lang="en-US" dirty="0"/>
              <a:t>Additional details ("a sense of peace and tranquility")</a:t>
            </a:r>
          </a:p>
          <a:p>
            <a:r>
              <a:rPr lang="en-US" dirty="0"/>
              <a:t>Other options: genre, era, location, skill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56C221-1246-C0D4-4E0C-0E3DD962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to Audio (Music)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657A3D-EF7A-2DCD-E523-D142E9DC3B9C}"/>
              </a:ext>
            </a:extLst>
          </p:cNvPr>
          <p:cNvGrpSpPr/>
          <p:nvPr/>
        </p:nvGrpSpPr>
        <p:grpSpPr>
          <a:xfrm>
            <a:off x="1924598" y="1865785"/>
            <a:ext cx="7465774" cy="2137916"/>
            <a:chOff x="1924598" y="1865785"/>
            <a:chExt cx="7465774" cy="213791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AD1A278-FB63-7455-13EC-F19506498AEF}"/>
                </a:ext>
              </a:extLst>
            </p:cNvPr>
            <p:cNvGrpSpPr/>
            <p:nvPr/>
          </p:nvGrpSpPr>
          <p:grpSpPr>
            <a:xfrm>
              <a:off x="1924598" y="2615138"/>
              <a:ext cx="5790109" cy="1388563"/>
              <a:chOff x="1524002" y="2458383"/>
              <a:chExt cx="5790109" cy="1388563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C2B7918-3A3D-A690-8917-ADCFBCB23F0F}"/>
                  </a:ext>
                </a:extLst>
              </p:cNvPr>
              <p:cNvSpPr/>
              <p:nvPr/>
            </p:nvSpPr>
            <p:spPr>
              <a:xfrm>
                <a:off x="1524002" y="2458383"/>
                <a:ext cx="4574944" cy="1388563"/>
              </a:xfrm>
              <a:prstGeom prst="roundRect">
                <a:avLst>
                  <a:gd name="adj" fmla="val 7832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8BEF28-2917-97CA-BA35-17D135DFBE15}"/>
                  </a:ext>
                </a:extLst>
              </p:cNvPr>
              <p:cNvSpPr txBox="1"/>
              <p:nvPr/>
            </p:nvSpPr>
            <p:spPr>
              <a:xfrm>
                <a:off x="1567547" y="2497381"/>
                <a:ext cx="457494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Meditative song, calming and soothing, with flutes and guitars. The music is slow, with a focus on creating a sense of peace and tranquility.</a:t>
                </a:r>
              </a:p>
            </p:txBody>
          </p:sp>
          <p:sp>
            <p:nvSpPr>
              <p:cNvPr id="14" name="AutoShape 304">
                <a:extLst>
                  <a:ext uri="{FF2B5EF4-FFF2-40B4-BE49-F238E27FC236}">
                    <a16:creationId xmlns:a16="http://schemas.microsoft.com/office/drawing/2014/main" id="{715A0794-7B6B-9079-0C45-74BAE9961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3563" y="2934651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731505C1-DCE7-F4A1-1DC0-63A3319AD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739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Prompt</a:t>
              </a:r>
            </a:p>
          </p:txBody>
        </p:sp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BEA3C129-C5BC-4D49-4032-9BD1C61DE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9710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</p:grpSp>
      <p:pic>
        <p:nvPicPr>
          <p:cNvPr id="15" name="song">
            <a:hlinkClick r:id="" action="ppaction://media"/>
            <a:extLst>
              <a:ext uri="{FF2B5EF4-FFF2-40B4-BE49-F238E27FC236}">
                <a16:creationId xmlns:a16="http://schemas.microsoft.com/office/drawing/2014/main" id="{497A566A-1024-5093-3365-2E8163E73F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40241" y="30097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6AEA2-E45F-F288-8F63-B6A097D5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691D5C-8E12-9AF2-3F33-66057776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to Audio (Speech Synthesis)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2E16DB-23E9-E6A3-7394-DA79C0142883}"/>
              </a:ext>
            </a:extLst>
          </p:cNvPr>
          <p:cNvGrpSpPr/>
          <p:nvPr/>
        </p:nvGrpSpPr>
        <p:grpSpPr>
          <a:xfrm>
            <a:off x="1924598" y="2297585"/>
            <a:ext cx="7465774" cy="1865570"/>
            <a:chOff x="1924598" y="1865785"/>
            <a:chExt cx="7465774" cy="186557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B0954E1-1C7C-0A3B-7192-E41963F3A980}"/>
                </a:ext>
              </a:extLst>
            </p:cNvPr>
            <p:cNvGrpSpPr/>
            <p:nvPr/>
          </p:nvGrpSpPr>
          <p:grpSpPr>
            <a:xfrm>
              <a:off x="1924598" y="2615139"/>
              <a:ext cx="5790109" cy="1116216"/>
              <a:chOff x="1524002" y="2458384"/>
              <a:chExt cx="5790109" cy="111621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5BE958A1-4260-4757-BDD1-91E5FEC3AD63}"/>
                  </a:ext>
                </a:extLst>
              </p:cNvPr>
              <p:cNvSpPr/>
              <p:nvPr/>
            </p:nvSpPr>
            <p:spPr>
              <a:xfrm>
                <a:off x="1524002" y="2458384"/>
                <a:ext cx="4574944" cy="1116216"/>
              </a:xfrm>
              <a:prstGeom prst="roundRect">
                <a:avLst>
                  <a:gd name="adj" fmla="val 7832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B5B562-42AF-2927-74DB-A2AE08F75306}"/>
                  </a:ext>
                </a:extLst>
              </p:cNvPr>
              <p:cNvSpPr txBox="1"/>
              <p:nvPr/>
            </p:nvSpPr>
            <p:spPr>
              <a:xfrm>
                <a:off x="1567547" y="2497381"/>
                <a:ext cx="457494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computer would deserve to be called intelligent if it could deceive a human into believing that it was human.</a:t>
                </a:r>
              </a:p>
            </p:txBody>
          </p:sp>
          <p:sp>
            <p:nvSpPr>
              <p:cNvPr id="11" name="AutoShape 304">
                <a:extLst>
                  <a:ext uri="{FF2B5EF4-FFF2-40B4-BE49-F238E27FC236}">
                    <a16:creationId xmlns:a16="http://schemas.microsoft.com/office/drawing/2014/main" id="{C50746B7-D2F1-427D-1BD4-339D43529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3563" y="2786604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" name="Text Box 307">
              <a:extLst>
                <a:ext uri="{FF2B5EF4-FFF2-40B4-BE49-F238E27FC236}">
                  <a16:creationId xmlns:a16="http://schemas.microsoft.com/office/drawing/2014/main" id="{2937EF5D-FC0F-F965-B84D-1E2C320A1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739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Script</a:t>
              </a:r>
            </a:p>
          </p:txBody>
        </p:sp>
        <p:sp>
          <p:nvSpPr>
            <p:cNvPr id="8" name="Text Box 307">
              <a:extLst>
                <a:ext uri="{FF2B5EF4-FFF2-40B4-BE49-F238E27FC236}">
                  <a16:creationId xmlns:a16="http://schemas.microsoft.com/office/drawing/2014/main" id="{3177A00A-637C-3D72-C636-025D55EF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9710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</p:grpSp>
      <p:pic>
        <p:nvPicPr>
          <p:cNvPr id="12" name="speech_synth">
            <a:hlinkClick r:id="" action="ppaction://media"/>
            <a:extLst>
              <a:ext uri="{FF2B5EF4-FFF2-40B4-BE49-F238E27FC236}">
                <a16:creationId xmlns:a16="http://schemas.microsoft.com/office/drawing/2014/main" id="{39A92F37-B527-D898-12F0-AA015A0843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40241" y="331974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3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4393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6AEA2-E45F-F288-8F63-B6A097D5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691D5C-8E12-9AF2-3F33-66057776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to Audio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6CA8EC-94E8-00B0-3939-717224324D26}"/>
              </a:ext>
            </a:extLst>
          </p:cNvPr>
          <p:cNvGrpSpPr/>
          <p:nvPr/>
        </p:nvGrpSpPr>
        <p:grpSpPr>
          <a:xfrm>
            <a:off x="916364" y="2513485"/>
            <a:ext cx="10359272" cy="1538463"/>
            <a:chOff x="932089" y="1865785"/>
            <a:chExt cx="10359272" cy="15384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B0954E1-1C7C-0A3B-7192-E41963F3A980}"/>
                </a:ext>
              </a:extLst>
            </p:cNvPr>
            <p:cNvGrpSpPr/>
            <p:nvPr/>
          </p:nvGrpSpPr>
          <p:grpSpPr>
            <a:xfrm>
              <a:off x="3825587" y="2943359"/>
              <a:ext cx="5790109" cy="460889"/>
              <a:chOff x="1524002" y="2786604"/>
              <a:chExt cx="5790109" cy="460889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5BE958A1-4260-4757-BDD1-91E5FEC3AD63}"/>
                  </a:ext>
                </a:extLst>
              </p:cNvPr>
              <p:cNvSpPr/>
              <p:nvPr/>
            </p:nvSpPr>
            <p:spPr>
              <a:xfrm>
                <a:off x="1524002" y="2801284"/>
                <a:ext cx="4574944" cy="446209"/>
              </a:xfrm>
              <a:prstGeom prst="roundRect">
                <a:avLst>
                  <a:gd name="adj" fmla="val 9967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B5B562-42AF-2927-74DB-A2AE08F75306}"/>
                  </a:ext>
                </a:extLst>
              </p:cNvPr>
              <p:cNvSpPr txBox="1"/>
              <p:nvPr/>
            </p:nvSpPr>
            <p:spPr>
              <a:xfrm>
                <a:off x="1567547" y="2840281"/>
                <a:ext cx="45749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country music with acoustic guitars</a:t>
                </a:r>
              </a:p>
            </p:txBody>
          </p:sp>
          <p:sp>
            <p:nvSpPr>
              <p:cNvPr id="11" name="AutoShape 304">
                <a:extLst>
                  <a:ext uri="{FF2B5EF4-FFF2-40B4-BE49-F238E27FC236}">
                    <a16:creationId xmlns:a16="http://schemas.microsoft.com/office/drawing/2014/main" id="{C50746B7-D2F1-427D-1BD4-339D43529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3563" y="2786604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" name="Text Box 307">
              <a:extLst>
                <a:ext uri="{FF2B5EF4-FFF2-40B4-BE49-F238E27FC236}">
                  <a16:creationId xmlns:a16="http://schemas.microsoft.com/office/drawing/2014/main" id="{2937EF5D-FC0F-F965-B84D-1E2C320A1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7728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Text Prompt</a:t>
              </a:r>
            </a:p>
          </p:txBody>
        </p:sp>
        <p:sp>
          <p:nvSpPr>
            <p:cNvPr id="8" name="Text Box 307">
              <a:extLst>
                <a:ext uri="{FF2B5EF4-FFF2-40B4-BE49-F238E27FC236}">
                  <a16:creationId xmlns:a16="http://schemas.microsoft.com/office/drawing/2014/main" id="{3177A00A-637C-3D72-C636-025D55EF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0699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  <p:sp>
          <p:nvSpPr>
            <p:cNvPr id="3" name="Text Box 307">
              <a:extLst>
                <a:ext uri="{FF2B5EF4-FFF2-40B4-BE49-F238E27FC236}">
                  <a16:creationId xmlns:a16="http://schemas.microsoft.com/office/drawing/2014/main" id="{DE8E75AA-AE9D-507D-1314-75CC9CE0F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089" y="186578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Input Audio</a:t>
              </a:r>
            </a:p>
          </p:txBody>
        </p:sp>
        <p:sp>
          <p:nvSpPr>
            <p:cNvPr id="13" name="AutoShape 304">
              <a:extLst>
                <a:ext uri="{FF2B5EF4-FFF2-40B4-BE49-F238E27FC236}">
                  <a16:creationId xmlns:a16="http://schemas.microsoft.com/office/drawing/2014/main" id="{3C6774ED-0626-2D8C-8301-AD01BC33B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966" y="2943358"/>
              <a:ext cx="920548" cy="446209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" name="Für Elise - 02 (Audio-to-Audio Result)">
            <a:hlinkClick r:id="" action="ppaction://media"/>
            <a:extLst>
              <a:ext uri="{FF2B5EF4-FFF2-40B4-BE49-F238E27FC236}">
                <a16:creationId xmlns:a16="http://schemas.microsoft.com/office/drawing/2014/main" id="{33BD75FE-4F7C-CD0E-6429-D0DBED1B7A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15830" y="3535645"/>
            <a:ext cx="609600" cy="609600"/>
          </a:xfrm>
          <a:prstGeom prst="rect">
            <a:avLst/>
          </a:prstGeom>
        </p:spPr>
      </p:pic>
      <p:pic>
        <p:nvPicPr>
          <p:cNvPr id="12" name="Für Elise - 01 (Audio-to-Audio Reference)">
            <a:hlinkClick r:id="" action="ppaction://media"/>
            <a:extLst>
              <a:ext uri="{FF2B5EF4-FFF2-40B4-BE49-F238E27FC236}">
                <a16:creationId xmlns:a16="http://schemas.microsoft.com/office/drawing/2014/main" id="{92BA443B-94CC-B2B0-BE11-FBD4E409CD2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90760" y="3548233"/>
            <a:ext cx="561220" cy="56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2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105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7A02F-08E3-5CC3-5C8A-7CCAD5EF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3C31-DAAA-7536-A2F8-87A43F456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background noise.</a:t>
            </a:r>
          </a:p>
          <a:p>
            <a:r>
              <a:rPr lang="en-US" dirty="0"/>
              <a:t>Separate desirable sounds from undesirable ones.</a:t>
            </a:r>
          </a:p>
          <a:p>
            <a:r>
              <a:rPr lang="en-US" dirty="0"/>
              <a:t>"Upscale" heavily compressed audio.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03731D-A080-83B8-4F33-4BCB2C9D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Editing and Cleaning</a:t>
            </a:r>
          </a:p>
        </p:txBody>
      </p:sp>
      <p:pic>
        <p:nvPicPr>
          <p:cNvPr id="6" name="Picture 5" descr="A picture containing text, screenshot, car&#10;&#10;Description automatically generated">
            <a:extLst>
              <a:ext uri="{FF2B5EF4-FFF2-40B4-BE49-F238E27FC236}">
                <a16:creationId xmlns:a16="http://schemas.microsoft.com/office/drawing/2014/main" id="{E71983E7-3753-EB42-F378-799A3327B3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64406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8BDEB-54AF-0FA3-1FC4-D083E42A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A9B466-5DE3-77E3-B7D1-94C95CDE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AI for Audio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9CEC4A4-5D4B-541D-8D80-831AA94F299F}"/>
              </a:ext>
            </a:extLst>
          </p:cNvPr>
          <p:cNvGrpSpPr/>
          <p:nvPr/>
        </p:nvGrpSpPr>
        <p:grpSpPr>
          <a:xfrm>
            <a:off x="2229394" y="1315739"/>
            <a:ext cx="7498080" cy="4789714"/>
            <a:chOff x="2229394" y="1315739"/>
            <a:chExt cx="7498080" cy="47897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9544CA-A1CA-40B1-B0EC-DC70A4D67458}"/>
                </a:ext>
              </a:extLst>
            </p:cNvPr>
            <p:cNvGrpSpPr/>
            <p:nvPr/>
          </p:nvGrpSpPr>
          <p:grpSpPr>
            <a:xfrm>
              <a:off x="2229394" y="1315739"/>
              <a:ext cx="7498080" cy="4789714"/>
              <a:chOff x="2229394" y="1315739"/>
              <a:chExt cx="7498080" cy="478971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6D4C9A4-4870-6AC5-07CC-A7D0B22C555E}"/>
                  </a:ext>
                </a:extLst>
              </p:cNvPr>
              <p:cNvGrpSpPr/>
              <p:nvPr/>
            </p:nvGrpSpPr>
            <p:grpSpPr>
              <a:xfrm>
                <a:off x="2229394" y="1315739"/>
                <a:ext cx="7498080" cy="4789714"/>
                <a:chOff x="2229394" y="1315739"/>
                <a:chExt cx="7498080" cy="4789714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2052D05A-4381-5E88-86CC-45B9178A76B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29394" y="1315739"/>
                  <a:ext cx="7498080" cy="4789714"/>
                </a:xfrm>
                <a:prstGeom prst="roundRect">
                  <a:avLst>
                    <a:gd name="adj" fmla="val 1031"/>
                  </a:avLst>
                </a:prstGeom>
                <a:noFill/>
                <a:ln w="2857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0E50441-E12A-9514-DC5F-7B65BD18B76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38375" y="1315739"/>
                  <a:ext cx="7489099" cy="428625"/>
                </a:xfrm>
                <a:prstGeom prst="roundRect">
                  <a:avLst>
                    <a:gd name="adj" fmla="val 11652"/>
                  </a:avLst>
                </a:prstGeom>
                <a:solidFill>
                  <a:schemeClr val="bg1">
                    <a:lumMod val="85000"/>
                  </a:schemeClr>
                </a:solidFill>
                <a:ln w="2857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E14DFE42-0D07-E6AC-4627-8E72116A18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2308860" y="1374385"/>
                  <a:ext cx="311331" cy="311331"/>
                </a:xfrm>
                <a:prstGeom prst="rect">
                  <a:avLst/>
                </a:prstGeom>
              </p:spPr>
            </p:pic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FBCAA457-E05E-2073-9FE9-6A603DA722FC}"/>
                    </a:ext>
                  </a:extLst>
                </p:cNvPr>
                <p:cNvSpPr/>
                <p:nvPr/>
              </p:nvSpPr>
              <p:spPr>
                <a:xfrm>
                  <a:off x="9492343" y="1479758"/>
                  <a:ext cx="95794" cy="100584"/>
                </a:xfrm>
                <a:prstGeom prst="ellipse">
                  <a:avLst/>
                </a:prstGeom>
                <a:solidFill>
                  <a:srgbClr val="E71854"/>
                </a:solidFill>
                <a:ln w="28575" cap="flat" cmpd="sng" algn="ctr">
                  <a:noFill/>
                  <a:prstDash val="soli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39700" prst="cross"/>
                </a:sp3d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3629C8-7C0A-B408-CE25-959477080887}"/>
                    </a:ext>
                  </a:extLst>
                </p:cNvPr>
                <p:cNvSpPr/>
                <p:nvPr/>
              </p:nvSpPr>
              <p:spPr>
                <a:xfrm>
                  <a:off x="9344162" y="1479758"/>
                  <a:ext cx="95794" cy="100584"/>
                </a:xfrm>
                <a:prstGeom prst="ellipse">
                  <a:avLst/>
                </a:prstGeom>
                <a:solidFill>
                  <a:srgbClr val="198CA8"/>
                </a:solidFill>
                <a:ln w="28575" cap="flat" cmpd="sng" algn="ctr">
                  <a:noFill/>
                  <a:prstDash val="soli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39700" prst="cross"/>
                </a:sp3d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0492D67-4AAC-E414-8BEF-FA98AA9F1D0B}"/>
                    </a:ext>
                  </a:extLst>
                </p:cNvPr>
                <p:cNvSpPr/>
                <p:nvPr/>
              </p:nvSpPr>
              <p:spPr>
                <a:xfrm>
                  <a:off x="9195844" y="1479549"/>
                  <a:ext cx="95794" cy="100584"/>
                </a:xfrm>
                <a:prstGeom prst="ellipse">
                  <a:avLst/>
                </a:prstGeom>
                <a:solidFill>
                  <a:srgbClr val="009DDC"/>
                </a:solidFill>
                <a:ln w="28575" cap="flat" cmpd="sng" algn="ctr">
                  <a:noFill/>
                  <a:prstDash val="soli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39700" prst="cross"/>
                </a:sp3d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9BDAB0A3-330C-736A-257A-BCEA554C342D}"/>
                    </a:ext>
                  </a:extLst>
                </p:cNvPr>
                <p:cNvSpPr/>
                <p:nvPr/>
              </p:nvSpPr>
              <p:spPr>
                <a:xfrm>
                  <a:off x="5059437" y="2028145"/>
                  <a:ext cx="3895221" cy="2194560"/>
                </a:xfrm>
                <a:prstGeom prst="roundRect">
                  <a:avLst>
                    <a:gd name="adj" fmla="val 2646"/>
                  </a:avLst>
                </a:prstGeom>
                <a:blipFill dpi="0" rotWithShape="1">
                  <a:blip r:embed="rId4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>
                    <a:fillRect/>
                  </a:stretch>
                </a:blipFill>
                <a:ln w="28575" cap="flat" cmpd="sng" algn="ctr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914400"/>
                  <a:endParaRPr lang="en-US" sz="1100" b="1" kern="0" dirty="0">
                    <a:solidFill>
                      <a:srgbClr val="FF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595D58A-B1FD-9806-7527-462039AFA3EF}"/>
                  </a:ext>
                </a:extLst>
              </p:cNvPr>
              <p:cNvSpPr/>
              <p:nvPr/>
            </p:nvSpPr>
            <p:spPr>
              <a:xfrm>
                <a:off x="2542904" y="2103047"/>
                <a:ext cx="1393371" cy="2397516"/>
              </a:xfrm>
              <a:prstGeom prst="roundRect">
                <a:avLst>
                  <a:gd name="adj" fmla="val 2646"/>
                </a:avLst>
              </a:prstGeom>
              <a:noFill/>
              <a:ln w="28575" cap="flat" cmpd="sng" algn="ctr">
                <a:solidFill>
                  <a:schemeClr val="bg1">
                    <a:lumMod val="9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8F3EC23C-1643-9BE8-2464-C1E909A2A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430901" y="4301504"/>
                <a:ext cx="465278" cy="469360"/>
              </a:xfrm>
              <a:prstGeom prst="rect">
                <a:avLst/>
              </a:prstGeom>
            </p:spPr>
          </p:pic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A3DD96C-D3C2-B76F-A6EB-3D46F4EA3085}"/>
                </a:ext>
              </a:extLst>
            </p:cNvPr>
            <p:cNvSpPr/>
            <p:nvPr/>
          </p:nvSpPr>
          <p:spPr>
            <a:xfrm rot="5400000">
              <a:off x="6264643" y="2530779"/>
              <a:ext cx="1393371" cy="5344786"/>
            </a:xfrm>
            <a:prstGeom prst="roundRect">
              <a:avLst>
                <a:gd name="adj" fmla="val 2646"/>
              </a:avLst>
            </a:prstGeom>
            <a:noFill/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86D570A-088E-6E19-A3EC-6B7514D568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6785" y="4559453"/>
              <a:ext cx="1289358" cy="726422"/>
            </a:xfrm>
            <a:prstGeom prst="roundRect">
              <a:avLst>
                <a:gd name="adj" fmla="val 2646"/>
              </a:avLst>
            </a:prstGeom>
            <a:blipFill dpi="0" rotWithShape="1"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9F6F5DE-C818-9DCF-5702-B6F042A36D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8991" y="4559453"/>
              <a:ext cx="1289358" cy="726422"/>
            </a:xfrm>
            <a:prstGeom prst="roundRect">
              <a:avLst>
                <a:gd name="adj" fmla="val 2646"/>
              </a:avLst>
            </a:prstGeom>
            <a:blipFill dpi="0" rotWithShape="1"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0C98870-A5CD-A88A-03FC-C250C46AF2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1197" y="4565840"/>
              <a:ext cx="1289358" cy="726422"/>
            </a:xfrm>
            <a:prstGeom prst="roundRect">
              <a:avLst>
                <a:gd name="adj" fmla="val 2646"/>
              </a:avLst>
            </a:prstGeom>
            <a:blipFill dpi="0" rotWithShape="1"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86EEBB0-7778-B3E9-E228-3945C64F2E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37583" y="4559453"/>
              <a:ext cx="1289358" cy="726422"/>
            </a:xfrm>
            <a:prstGeom prst="roundRect">
              <a:avLst>
                <a:gd name="adj" fmla="val 2646"/>
              </a:avLst>
            </a:prstGeom>
            <a:blipFill dpi="0" rotWithShape="1"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9D878EAC-C1A1-2E2E-1BED-8E5A990EB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281315" y="5290332"/>
              <a:ext cx="5439628" cy="582818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7B6E52C-DC93-B98B-A2D8-AF8354C48DF2}"/>
                </a:ext>
              </a:extLst>
            </p:cNvPr>
            <p:cNvCxnSpPr>
              <a:cxnSpLocks/>
            </p:cNvCxnSpPr>
            <p:nvPr/>
          </p:nvCxnSpPr>
          <p:spPr>
            <a:xfrm>
              <a:off x="7195185" y="4500563"/>
              <a:ext cx="0" cy="1399295"/>
            </a:xfrm>
            <a:prstGeom prst="line">
              <a:avLst/>
            </a:prstGeom>
            <a:ln w="25400">
              <a:solidFill>
                <a:schemeClr val="tx1"/>
              </a:solidFill>
              <a:head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7276A2-34CF-788E-7A40-C9C6F85B2136}"/>
                </a:ext>
              </a:extLst>
            </p:cNvPr>
            <p:cNvSpPr/>
            <p:nvPr/>
          </p:nvSpPr>
          <p:spPr>
            <a:xfrm>
              <a:off x="2364376" y="5418521"/>
              <a:ext cx="1561122" cy="4203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1188E22-25C8-A814-FB74-A229EC248302}"/>
                </a:ext>
              </a:extLst>
            </p:cNvPr>
            <p:cNvSpPr/>
            <p:nvPr/>
          </p:nvSpPr>
          <p:spPr>
            <a:xfrm>
              <a:off x="2316480" y="5350214"/>
              <a:ext cx="1877614" cy="539411"/>
            </a:xfrm>
            <a:prstGeom prst="roundRect">
              <a:avLst>
                <a:gd name="adj" fmla="val 6580"/>
              </a:avLst>
            </a:prstGeom>
            <a:noFill/>
            <a:ln w="28575" cap="flat" cmpd="sng" algn="ctr">
              <a:solidFill>
                <a:srgbClr val="009DDC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EA287B-B447-8B41-5240-BFFF33CA2378}"/>
                </a:ext>
              </a:extLst>
            </p:cNvPr>
            <p:cNvSpPr txBox="1"/>
            <p:nvPr/>
          </p:nvSpPr>
          <p:spPr>
            <a:xfrm>
              <a:off x="2316480" y="5425404"/>
              <a:ext cx="1609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/>
                <a:t>Relaxing piano played at mid tempo. 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A285AC96-2763-6C67-8252-A6125245D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954074" y="5508998"/>
              <a:ext cx="211443" cy="211443"/>
            </a:xfrm>
            <a:prstGeom prst="rect">
              <a:avLst/>
            </a:prstGeom>
          </p:spPr>
        </p:pic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21B17A08-D1FA-90F9-CABC-58083BB694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66879" y="2165527"/>
              <a:ext cx="1145420" cy="645327"/>
            </a:xfrm>
            <a:prstGeom prst="roundRect">
              <a:avLst>
                <a:gd name="adj" fmla="val 2646"/>
              </a:avLst>
            </a:prstGeom>
            <a:blipFill dpi="0"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70F81E12-94FE-19D4-9B55-DCA3DCB224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66879" y="2873334"/>
              <a:ext cx="1145420" cy="645327"/>
            </a:xfrm>
            <a:prstGeom prst="roundRect">
              <a:avLst>
                <a:gd name="adj" fmla="val 2646"/>
              </a:avLst>
            </a:prstGeom>
            <a:blipFill dpi="0" rotWithShape="1"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181F2E7-2BE0-F37A-CC44-C893F94CDD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66879" y="3577378"/>
              <a:ext cx="1145420" cy="645327"/>
            </a:xfrm>
            <a:prstGeom prst="roundRect">
              <a:avLst>
                <a:gd name="adj" fmla="val 2646"/>
              </a:avLst>
            </a:prstGeom>
            <a:blipFill dpi="0" rotWithShape="1"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393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23140-A660-30FE-6C3D-BFA99E6E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0EBC0E-EA48-6F59-4041-9FF257EA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for Audio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06592-7198-675A-D399-B4CC64B1EE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Be descriptive, but experiment with variation.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Provide context clues for speech.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Use text to speech in chunks.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Generate as many audio samples as you can.</a:t>
            </a:r>
          </a:p>
        </p:txBody>
      </p:sp>
    </p:spTree>
    <p:extLst>
      <p:ext uri="{BB962C8B-B14F-4D97-AF65-F5344CB8AC3E}">
        <p14:creationId xmlns:p14="http://schemas.microsoft.com/office/powerpoint/2010/main" val="137116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5A865-6B4C-E2C8-04EF-6A229DCA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5583E5-AB36-AE70-6A18-8E9FD4925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goals:</a:t>
            </a:r>
          </a:p>
          <a:p>
            <a:pPr lvl="1"/>
            <a:r>
              <a:rPr lang="en-US" dirty="0"/>
              <a:t>Better output for specific music genres.</a:t>
            </a:r>
          </a:p>
          <a:p>
            <a:pPr lvl="1"/>
            <a:r>
              <a:rPr lang="en-US" dirty="0"/>
              <a:t>Create new voices to use in text to speech.</a:t>
            </a:r>
          </a:p>
          <a:p>
            <a:pPr lvl="1"/>
            <a:r>
              <a:rPr lang="en-US" dirty="0"/>
              <a:t>Voice cloning.</a:t>
            </a:r>
          </a:p>
          <a:p>
            <a:r>
              <a:rPr lang="en-US" dirty="0"/>
              <a:t>Make sure audio data is good quality and labeled.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C5698B6-4C89-0E73-B5B5-02BFCC1D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Audio Models</a:t>
            </a:r>
          </a:p>
        </p:txBody>
      </p:sp>
      <p:pic>
        <p:nvPicPr>
          <p:cNvPr id="9" name="elevator-music-bossa-nova-background-music-version-60s-10900">
            <a:hlinkClick r:id="" action="ppaction://media"/>
            <a:extLst>
              <a:ext uri="{FF2B5EF4-FFF2-40B4-BE49-F238E27FC236}">
                <a16:creationId xmlns:a16="http://schemas.microsoft.com/office/drawing/2014/main" id="{A1ED3C2E-247D-C633-B1CB-1D26ADC1F7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72531" y="4417472"/>
            <a:ext cx="609600" cy="6096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B386485-15E7-3A27-F6FE-CBC74176CD1E}"/>
              </a:ext>
            </a:extLst>
          </p:cNvPr>
          <p:cNvGrpSpPr/>
          <p:nvPr/>
        </p:nvGrpSpPr>
        <p:grpSpPr>
          <a:xfrm>
            <a:off x="2932950" y="3813250"/>
            <a:ext cx="6326101" cy="1394476"/>
            <a:chOff x="2556642" y="3813250"/>
            <a:chExt cx="6326101" cy="1394476"/>
          </a:xfrm>
        </p:grpSpPr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A5B953AE-D326-26A1-E130-17DBFA68B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642" y="3813250"/>
              <a:ext cx="15098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Training Audio</a:t>
              </a: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A48F359F-813D-A5FE-6998-E39DA4014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4301" y="3813250"/>
              <a:ext cx="15098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Audio Label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3252B84-CBAB-BD23-B673-19B1C1F1E91B}"/>
                </a:ext>
              </a:extLst>
            </p:cNvPr>
            <p:cNvSpPr/>
            <p:nvPr/>
          </p:nvSpPr>
          <p:spPr>
            <a:xfrm>
              <a:off x="5232472" y="4264038"/>
              <a:ext cx="3493517" cy="943688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F05A2B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6D3AC2-9271-48F7-3A14-A6C94CD8AC1E}"/>
                </a:ext>
              </a:extLst>
            </p:cNvPr>
            <p:cNvSpPr txBox="1"/>
            <p:nvPr/>
          </p:nvSpPr>
          <p:spPr>
            <a:xfrm>
              <a:off x="5309504" y="4311744"/>
              <a:ext cx="357323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elevator music, mid tempo, bongos, acoustic guitar, light and breezy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31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85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6C058-279F-049F-B184-1DD20B81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3A4788-EA98-4172-45E8-51541A2C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Audio-Generation Tools</a:t>
            </a:r>
          </a:p>
        </p:txBody>
      </p:sp>
      <p:graphicFrame>
        <p:nvGraphicFramePr>
          <p:cNvPr id="7" name="Group 23">
            <a:extLst>
              <a:ext uri="{FF2B5EF4-FFF2-40B4-BE49-F238E27FC236}">
                <a16:creationId xmlns:a16="http://schemas.microsoft.com/office/drawing/2014/main" id="{215776E4-A1C0-C8F6-F0C6-8A238325C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565221"/>
              </p:ext>
            </p:extLst>
          </p:nvPr>
        </p:nvGraphicFramePr>
        <p:xfrm>
          <a:off x="1841380" y="2052685"/>
          <a:ext cx="8509241" cy="3017520"/>
        </p:xfrm>
        <a:graphic>
          <a:graphicData uri="http://schemas.openxmlformats.org/drawingml/2006/table">
            <a:tbl>
              <a:tblPr/>
              <a:tblGrid>
                <a:gridCol w="195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897">
                  <a:extLst>
                    <a:ext uri="{9D8B030D-6E8A-4147-A177-3AD203B41FA5}">
                      <a16:colId xmlns:a16="http://schemas.microsoft.com/office/drawing/2014/main" val="391521993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Tool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MusicGen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Meta's music generator. No official app yet, but open source.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83943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Udio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Music generator by company of same name. Free and paid plans.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12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Suno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Music generator by company of same name. Free and paid plans.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58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Adobe Firefly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Offers sound-effects generation as part of suite.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11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Murf</a:t>
                      </a: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 Studio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Audio-generation tool by Murf AI. Primarily focuses on speech generation. Paid subscription and limited free tier.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202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ElevenLabs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Audio-generation tool by company of same name. Primarily focuses on speech generation. Paid subscription and limited free tier.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5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01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7DD0B3-5DE3-4AB3-703F-4E262FFD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C285B7-BDCF-50EB-57AC-7B5C5E62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Prompting an AI to Generate Audio</a:t>
            </a:r>
          </a:p>
        </p:txBody>
      </p:sp>
    </p:spTree>
    <p:extLst>
      <p:ext uri="{BB962C8B-B14F-4D97-AF65-F5344CB8AC3E}">
        <p14:creationId xmlns:p14="http://schemas.microsoft.com/office/powerpoint/2010/main" val="4127865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574-4728-752D-B1EC-9E9957D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4BED5-ADAD-5769-7D33-03E761D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7AA9-D104-5ED8-38B3-6DBB2A9D9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Solve Business Problems Using Audio Generation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4BC721-1B91-D215-708B-AA45607C6C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372249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24F7B1-4079-ACCF-1B7E-B92E4DD8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9789C-13F1-C2E6-27AB-84BDCE752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Advertisement jingles</a:t>
            </a:r>
          </a:p>
          <a:p>
            <a:r>
              <a:rPr lang="en-US" dirty="0"/>
              <a:t>Advertisement background music</a:t>
            </a:r>
          </a:p>
          <a:p>
            <a:r>
              <a:rPr lang="en-US" dirty="0"/>
              <a:t>Promotional voiceovers</a:t>
            </a:r>
          </a:p>
          <a:p>
            <a:r>
              <a:rPr lang="en-US" dirty="0"/>
              <a:t>Podcast production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50762-C83F-A40D-8921-1A22A4C7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Assets for Promotional Materials</a:t>
            </a:r>
          </a:p>
        </p:txBody>
      </p:sp>
      <p:pic>
        <p:nvPicPr>
          <p:cNvPr id="4" name="Picture 3" descr="A headphones on a stand&#10;&#10;Description automatically generated with low confidence">
            <a:extLst>
              <a:ext uri="{FF2B5EF4-FFF2-40B4-BE49-F238E27FC236}">
                <a16:creationId xmlns:a16="http://schemas.microsoft.com/office/drawing/2014/main" id="{081265ED-38EA-E210-8BEF-B2443586BB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2088" y="1627632"/>
            <a:ext cx="4069080" cy="40690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1519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06D1C-D9F6-A3A6-91D7-97E1655C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DD76-57FB-D788-2FD8-FB08D9011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Press-release narration</a:t>
            </a:r>
          </a:p>
          <a:p>
            <a:r>
              <a:rPr lang="en-US" dirty="0"/>
              <a:t>Voice translations</a:t>
            </a:r>
          </a:p>
          <a:p>
            <a:r>
              <a:rPr lang="en-US" dirty="0"/>
              <a:t>Voice consistency and authority</a:t>
            </a:r>
          </a:p>
          <a:p>
            <a:r>
              <a:rPr lang="en-US" dirty="0"/>
              <a:t>Audiovisual press releases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46F0AD-A52F-0DF6-4E7F-789AC340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Assets for Press Releases</a:t>
            </a:r>
          </a:p>
        </p:txBody>
      </p:sp>
      <p:pic>
        <p:nvPicPr>
          <p:cNvPr id="6" name="Picture 5" descr="A close-up of a microphone&#10;&#10;Description automatically generated">
            <a:extLst>
              <a:ext uri="{FF2B5EF4-FFF2-40B4-BE49-F238E27FC236}">
                <a16:creationId xmlns:a16="http://schemas.microsoft.com/office/drawing/2014/main" id="{5EC395EE-087F-58F7-AAA7-5C648155EE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3867" cy="3235911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787353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EDEACC-203A-338D-8E26-107270CE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18AF-F12E-3493-E0F7-25D6B88F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Training-material narration</a:t>
            </a:r>
          </a:p>
          <a:p>
            <a:r>
              <a:rPr lang="en-US" dirty="0"/>
              <a:t>Voice-guided simulations</a:t>
            </a:r>
          </a:p>
          <a:p>
            <a:r>
              <a:rPr lang="en-US" dirty="0"/>
              <a:t>Pronunciation guidance</a:t>
            </a:r>
          </a:p>
          <a:p>
            <a:r>
              <a:rPr lang="en-US" dirty="0"/>
              <a:t>Multilingual training materials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E70FB5-88F5-E6ED-DFC2-88486043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Assets for Training Materials</a:t>
            </a:r>
          </a:p>
        </p:txBody>
      </p:sp>
      <p:pic>
        <p:nvPicPr>
          <p:cNvPr id="6" name="Picture 5" descr="A group of people looking at a computer&#10;&#10;Description automatically generated">
            <a:extLst>
              <a:ext uri="{FF2B5EF4-FFF2-40B4-BE49-F238E27FC236}">
                <a16:creationId xmlns:a16="http://schemas.microsoft.com/office/drawing/2014/main" id="{E6D82B26-C432-8038-D126-0101D017BC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31490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D60AC-0976-33B3-2452-9F50507DA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86A6D-33B9-041C-2C0C-2F11B9264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Dialogue voiceovers</a:t>
            </a:r>
          </a:p>
          <a:p>
            <a:r>
              <a:rPr lang="en-US" dirty="0"/>
              <a:t>Soundtrack generation</a:t>
            </a:r>
          </a:p>
          <a:p>
            <a:r>
              <a:rPr lang="en-US" dirty="0"/>
              <a:t>Sound-effect variation</a:t>
            </a:r>
          </a:p>
          <a:p>
            <a:r>
              <a:rPr lang="en-US" dirty="0"/>
              <a:t>Enrichment of audio soundscapes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61A88B-F3E3-2C85-7081-A46D63B6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Assets for Games and Virtual Worlds</a:t>
            </a:r>
          </a:p>
        </p:txBody>
      </p:sp>
      <p:pic>
        <p:nvPicPr>
          <p:cNvPr id="6" name="Picture 5" descr="A picture containing indoor, wall, piano, musical instrument&#10;&#10;Description automatically generated">
            <a:extLst>
              <a:ext uri="{FF2B5EF4-FFF2-40B4-BE49-F238E27FC236}">
                <a16:creationId xmlns:a16="http://schemas.microsoft.com/office/drawing/2014/main" id="{9C1F310A-BDD5-9784-59F4-E589C11C167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3368" y="1929384"/>
            <a:ext cx="5529839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731731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6CB02-3EBC-BCA3-11BC-E4A222E1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4C698-32FF-1037-73E0-2F1E88F5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interactivity</a:t>
            </a:r>
          </a:p>
          <a:p>
            <a:r>
              <a:rPr lang="en-US" dirty="0"/>
              <a:t>Tone emulation</a:t>
            </a:r>
          </a:p>
          <a:p>
            <a:r>
              <a:rPr lang="en-US" dirty="0"/>
              <a:t>Personalized music generation</a:t>
            </a:r>
          </a:p>
          <a:p>
            <a:r>
              <a:rPr lang="en-US" dirty="0"/>
              <a:t>Personalized notifications and reminders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C5924F-8B52-12E4-0B85-12E32E44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Voiced Chatbots and Virtual Assistants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F42C5E-C8FD-6537-F8D5-699EE4643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373368" y="1929384"/>
            <a:ext cx="5414968" cy="334670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755753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512285-6DF2-9087-C296-9FDFF6E3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5050-E86A-E6B8-6A9B-EBEFD484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Voiced descriptions of visual media</a:t>
            </a:r>
          </a:p>
          <a:p>
            <a:r>
              <a:rPr lang="en-US" dirty="0"/>
              <a:t>Audio navigation</a:t>
            </a:r>
          </a:p>
          <a:p>
            <a:r>
              <a:rPr lang="en-US" dirty="0"/>
              <a:t>User-interface audio feedback</a:t>
            </a:r>
          </a:p>
          <a:p>
            <a:r>
              <a:rPr lang="en-US" dirty="0"/>
              <a:t>Voice cleanup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E79E87-F3EA-7488-C988-4AFEC661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8EB21A-16DE-F029-A047-DE98B740F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2088" y="1627632"/>
            <a:ext cx="406908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9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898342-DFF5-EE2F-81F5-D7C0F951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B67B-23C5-3C21-167D-9FF951FB1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Voice adaptation</a:t>
            </a:r>
          </a:p>
          <a:p>
            <a:r>
              <a:rPr lang="en-US" dirty="0"/>
              <a:t>Pronunciation guidance</a:t>
            </a:r>
          </a:p>
          <a:p>
            <a:r>
              <a:rPr lang="en-US" dirty="0"/>
              <a:t>Language learning</a:t>
            </a:r>
          </a:p>
          <a:p>
            <a:r>
              <a:rPr lang="en-US" dirty="0"/>
              <a:t>Music localization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B4FA3E-2868-5735-6CA9-0065E628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</a:t>
            </a:r>
          </a:p>
        </p:txBody>
      </p:sp>
      <p:pic>
        <p:nvPicPr>
          <p:cNvPr id="6" name="Picture 5" descr="A close up of a globe&#10;&#10;Description automatically generated with medium confidence">
            <a:extLst>
              <a:ext uri="{FF2B5EF4-FFF2-40B4-BE49-F238E27FC236}">
                <a16:creationId xmlns:a16="http://schemas.microsoft.com/office/drawing/2014/main" id="{7955AA49-F3C9-1070-2B0B-10226779D6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815750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F0F99-39DD-DAB3-0CC5-2CE75419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85F82-2B55-91A0-4E32-E81DB43B1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an audio-generation system help produce the podcast?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an audio-generation system enhance the chatbot?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an audio-generation system help improve the advertisements?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9CAEB6-9188-385B-0A40-B2F2DCE2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22" y="290945"/>
            <a:ext cx="7897319" cy="792482"/>
          </a:xfrm>
        </p:spPr>
        <p:txBody>
          <a:bodyPr/>
          <a:lstStyle/>
          <a:p>
            <a:r>
              <a:rPr lang="en-US" dirty="0"/>
              <a:t>Activity: Solving Business Problems Using Audio Generation</a:t>
            </a:r>
          </a:p>
        </p:txBody>
      </p:sp>
    </p:spTree>
    <p:extLst>
      <p:ext uri="{BB962C8B-B14F-4D97-AF65-F5344CB8AC3E}">
        <p14:creationId xmlns:p14="http://schemas.microsoft.com/office/powerpoint/2010/main" val="425678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might you or a sound artist use audio generation in your own organization?</a:t>
            </a:r>
          </a:p>
          <a:p>
            <a:r>
              <a:rPr lang="en-US" dirty="0"/>
              <a:t>What audio-generation tools do you or your organization use or plan to use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4.potx" id="{FC8E00D4-5C18-4A7B-A267-D7664A2A2578}" vid="{0731E515-B91B-47E2-8213-240CAD6364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CNX_OV_Template_BIZ_1.4</Template>
  <TotalTime>283</TotalTime>
  <Words>599</Words>
  <Application>Microsoft Office PowerPoint</Application>
  <PresentationFormat>Widescreen</PresentationFormat>
  <Paragraphs>133</Paragraphs>
  <Slides>22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CNX</vt:lpstr>
      <vt:lpstr>Generating Audio Using AI</vt:lpstr>
      <vt:lpstr>Generating Audio Using AI</vt:lpstr>
      <vt:lpstr>PowerPoint Presentation</vt:lpstr>
      <vt:lpstr>Text to Audio (Music)</vt:lpstr>
      <vt:lpstr>Text to Audio (Speech Synthesis)</vt:lpstr>
      <vt:lpstr>Audio to Audio</vt:lpstr>
      <vt:lpstr>Audio Editing and Cleaning</vt:lpstr>
      <vt:lpstr>Integrated AI for Audio</vt:lpstr>
      <vt:lpstr>Prompt Engineering for Audio Generation</vt:lpstr>
      <vt:lpstr>Fine Tuning Audio Models</vt:lpstr>
      <vt:lpstr>Audio-Generation Tools</vt:lpstr>
      <vt:lpstr>PowerPoint Presentation</vt:lpstr>
      <vt:lpstr>PowerPoint Presentation</vt:lpstr>
      <vt:lpstr>Audio Assets for Promotional Materials</vt:lpstr>
      <vt:lpstr>Audio Assets for Press Releases</vt:lpstr>
      <vt:lpstr>Audio Assets for Training Materials</vt:lpstr>
      <vt:lpstr>Audio Assets for Games and Virtual Worlds</vt:lpstr>
      <vt:lpstr>Voiced Chatbots and Virtual Assistants</vt:lpstr>
      <vt:lpstr>Accessibility</vt:lpstr>
      <vt:lpstr>Localization</vt:lpstr>
      <vt:lpstr>Activity: Solving Business Problems Using Audio Generation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Nufryk</dc:creator>
  <cp:lastModifiedBy>Michael Hoyt</cp:lastModifiedBy>
  <cp:revision>8</cp:revision>
  <dcterms:created xsi:type="dcterms:W3CDTF">2025-07-16T12:36:01Z</dcterms:created>
  <dcterms:modified xsi:type="dcterms:W3CDTF">2025-10-01T17:28:00Z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