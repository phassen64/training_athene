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4"/>
  </p:sldMasterIdLst>
  <p:notesMasterIdLst>
    <p:notesMasterId r:id="rId39"/>
  </p:notesMasterIdLst>
  <p:handoutMasterIdLst>
    <p:handoutMasterId r:id="rId40"/>
  </p:handoutMasterIdLst>
  <p:sldIdLst>
    <p:sldId id="274" r:id="rId5"/>
    <p:sldId id="272" r:id="rId6"/>
    <p:sldId id="275" r:id="rId7"/>
    <p:sldId id="277" r:id="rId8"/>
    <p:sldId id="278" r:id="rId9"/>
    <p:sldId id="279" r:id="rId10"/>
    <p:sldId id="280" r:id="rId11"/>
    <p:sldId id="281" r:id="rId12"/>
    <p:sldId id="283" r:id="rId13"/>
    <p:sldId id="282" r:id="rId14"/>
    <p:sldId id="296" r:id="rId15"/>
    <p:sldId id="297" r:id="rId16"/>
    <p:sldId id="334" r:id="rId17"/>
    <p:sldId id="285" r:id="rId18"/>
    <p:sldId id="292" r:id="rId19"/>
    <p:sldId id="294" r:id="rId20"/>
    <p:sldId id="312" r:id="rId21"/>
    <p:sldId id="286" r:id="rId22"/>
    <p:sldId id="332" r:id="rId23"/>
    <p:sldId id="333" r:id="rId24"/>
    <p:sldId id="330" r:id="rId25"/>
    <p:sldId id="276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1" r:id="rId37"/>
    <p:sldId id="27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Vorenkam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764"/>
    <a:srgbClr val="009DDC"/>
    <a:srgbClr val="E71854"/>
    <a:srgbClr val="FAD02C"/>
    <a:srgbClr val="FAAF41"/>
    <a:srgbClr val="198CA8"/>
    <a:srgbClr val="2466AC"/>
    <a:srgbClr val="D1D2D3"/>
    <a:srgbClr val="F05A2B"/>
    <a:srgbClr val="1D3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0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75AEF-6AF8-074D-A4DB-F71FD6F9C37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D9A6D-5233-6641-90BA-8328590F05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E85D-3A3F-7B46-A18E-DF160D9D2CC7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A35F-9E58-5D40-92C1-D8C7631003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 numCol="2" spcCol="13716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800" baseline="0">
                <a:sym typeface="Wingdings" panose="05000000000000000000" pitchFamily="2" charset="2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400"/>
            </a:lvl3pPr>
          </a:lstStyle>
          <a:p>
            <a:pPr marL="173038" lvl="0" indent="-173038"/>
            <a:r>
              <a:rPr lang="en-US" dirty="0"/>
              <a:t>Click to add text. If you have &lt;12 lessons, select </a:t>
            </a:r>
            <a:r>
              <a:rPr lang="en-US" dirty="0" err="1"/>
              <a:t>HomeAdd</a:t>
            </a:r>
            <a:r>
              <a:rPr lang="en-US" dirty="0"/>
              <a:t> or Remove </a:t>
            </a:r>
            <a:r>
              <a:rPr lang="en-US" dirty="0" err="1"/>
              <a:t>ColumnsOne</a:t>
            </a:r>
            <a:r>
              <a:rPr lang="en-US" dirty="0"/>
              <a:t> Column to prevent wrapping issues with long titles.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“Course Outline: [Course Title]”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7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Lesson title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1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D770E60D-FD97-4043-81F1-289AA5E51D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D59A8F-E744-4482-BF05-F93078169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3235643"/>
            <a:ext cx="10363200" cy="1362075"/>
          </a:xfrm>
        </p:spPr>
        <p:txBody>
          <a:bodyPr anchor="ctr"/>
          <a:lstStyle>
            <a:lvl1pPr marL="0" indent="0" algn="ctr">
              <a:buNone/>
              <a:defRPr sz="4400" b="1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topic title</a:t>
            </a:r>
          </a:p>
        </p:txBody>
      </p:sp>
      <p:pic>
        <p:nvPicPr>
          <p:cNvPr id="8" name="Picture 7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8AA9BFF-9ED8-2D40-92F4-996C75C1C1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B1E05F0-CFAF-A446-AE72-71681949D9CF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F71B82E-1518-9342-B652-C27727A416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1921" y="853440"/>
            <a:ext cx="6879270" cy="2334261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3808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A037335-1258-EF45-B44C-2F4D9BFDCF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F39B6-089A-D744-B207-90D8B780B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5165411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6BA429E-88B1-B942-9C74-1AB5F33A3C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3674" y="6438275"/>
            <a:ext cx="1881052" cy="2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E0645ACB-515B-844F-A6FE-5A9C2CC912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27A344B-E698-2E47-A734-E1CE134147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155" y="2785873"/>
            <a:ext cx="10511691" cy="1286256"/>
          </a:xfrm>
        </p:spPr>
        <p:txBody>
          <a:bodyPr/>
          <a:lstStyle>
            <a:lvl1pPr algn="ctr">
              <a:defRPr sz="44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A2CE11F-9E63-044F-B02D-D030806CCD69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214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319539" cy="955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3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A977C3C-812B-204B-BEB0-8F3E056FBA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EEA2D-3653-2F41-934A-ED2CDFD988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736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75A0B-1F78-74D0-927E-F2822A141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8336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99981-5C84-844C-A6A7-26590EE3D7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E2D1A8F-30B0-61E3-A62C-B4E601433CDC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6892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156FEA-E1F8-A943-34A7-D4AE081AD0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C91F6-CDF7-8A08-1A0A-D9E39995DA1A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42816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9B9BA-D0BE-5C45-93C2-C0597F00D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2FDC18-07C2-8E4C-A0AD-E0A207C9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449" y="1302040"/>
            <a:ext cx="6957694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18D182-A7CC-CC43-B849-8EF89FE6B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306" y="290945"/>
            <a:ext cx="6986571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844C451-2A23-712B-69C9-72B95AABEF46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85139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9A21-B09E-3042-A581-B6A6316B25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8C1E330-78E3-8C4C-BFD6-B2109EC92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831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854BA7C-0CF2-7491-2AF6-A9807C75BDD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45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F8399-FFF5-714D-8FE2-89A7788522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3366" y="1302040"/>
            <a:ext cx="7245626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7F3FAEE-EBB5-8F41-9D49-C3A289C7D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223" y="290945"/>
            <a:ext cx="7275698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36B59A8-0284-7432-CE8D-4D17DDCF2918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64674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4131-5CC5-0446-9EA8-4C9F6E974B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5AE6-89DC-4B00-95C2-C09677B47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7B0B4EB-6E3F-B864-1C37-2341FA1B9631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9041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ve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495DB-8197-C747-9D12-B9B16AD790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B97F-4B6B-4623-8514-D7FD629FE2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302042"/>
            <a:ext cx="8065601" cy="3461344"/>
          </a:xfrm>
        </p:spPr>
        <p:txBody>
          <a:bodyPr/>
          <a:lstStyle>
            <a:lvl1pPr>
              <a:spcAft>
                <a:spcPts val="2400"/>
              </a:spcAft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286000" indent="-4572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Insert Question #1</a:t>
            </a:r>
          </a:p>
          <a:p>
            <a:pPr lvl="0"/>
            <a:r>
              <a:rPr lang="en-US" dirty="0"/>
              <a:t>Insert Question #2</a:t>
            </a:r>
          </a:p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B051-CC06-447C-AEEE-4E1DE7CB3684}"/>
              </a:ext>
            </a:extLst>
          </p:cNvPr>
          <p:cNvSpPr txBox="1"/>
          <p:nvPr userDrawn="1"/>
        </p:nvSpPr>
        <p:spPr>
          <a:xfrm>
            <a:off x="997528" y="462617"/>
            <a:ext cx="867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REFLECTIVE QUESTIONS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7E4E289-495F-C56C-3DB1-9244A1D22084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64322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01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65D8D75-6CEC-F848-822E-BF7A0AFAF0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6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2-F1FD-415B-809F-52E7D4576B38}"/>
              </a:ext>
            </a:extLst>
          </p:cNvPr>
          <p:cNvSpPr/>
          <p:nvPr userDrawn="1"/>
        </p:nvSpPr>
        <p:spPr>
          <a:xfrm>
            <a:off x="0" y="1"/>
            <a:ext cx="12192000" cy="979749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53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5BA03AB-6813-664D-B697-5FFAF521D1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4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05292730-C4A0-C547-BA9D-56A0205CD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4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297" y="0"/>
            <a:ext cx="10397067" cy="955040"/>
          </a:xfrm>
        </p:spPr>
        <p:txBody>
          <a:bodyPr anchor="ctr" anchorCtr="0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9EAFBBC-2C9E-1241-84D4-E9756B6DE5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7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5690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13694"/>
            <a:ext cx="7315200" cy="3770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2364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F6FF233-EB40-BE4E-8AC9-9CA2504D2A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0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28CC025-3396-904D-927D-1DFCABD646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9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1211385"/>
            <a:ext cx="2743200" cy="4914778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11385"/>
            <a:ext cx="8026400" cy="4914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D64BF27-2D44-684C-892F-6C15A97C68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53B76-2A7A-7948-8D60-7A6A79959BAB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77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1" y="0"/>
            <a:ext cx="11284154" cy="96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900" y="1307130"/>
            <a:ext cx="11280203" cy="4935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0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71" r:id="rId2"/>
    <p:sldLayoutId id="2147483948" r:id="rId3"/>
    <p:sldLayoutId id="2147483952" r:id="rId4"/>
    <p:sldLayoutId id="2147483970" r:id="rId5"/>
    <p:sldLayoutId id="2147483938" r:id="rId6"/>
    <p:sldLayoutId id="2147483953" r:id="rId7"/>
    <p:sldLayoutId id="2147483931" r:id="rId8"/>
    <p:sldLayoutId id="2147483932" r:id="rId9"/>
    <p:sldLayoutId id="2147483972" r:id="rId10"/>
    <p:sldLayoutId id="2147483951" r:id="rId11"/>
    <p:sldLayoutId id="2147483973" r:id="rId12"/>
    <p:sldLayoutId id="2147483936" r:id="rId13"/>
    <p:sldLayoutId id="2147483937" r:id="rId14"/>
    <p:sldLayoutId id="2147483934" r:id="rId15"/>
    <p:sldLayoutId id="2147483935" r:id="rId16"/>
    <p:sldLayoutId id="2147483939" r:id="rId17"/>
    <p:sldLayoutId id="2147483940" r:id="rId18"/>
    <p:sldLayoutId id="2147483955" r:id="rId19"/>
    <p:sldLayoutId id="2147483950" r:id="rId20"/>
    <p:sldLayoutId id="2147483942" r:id="rId21"/>
    <p:sldLayoutId id="2147483943" r:id="rId22"/>
    <p:sldLayoutId id="2147483944" r:id="rId23"/>
    <p:sldLayoutId id="2147483945" r:id="rId24"/>
    <p:sldLayoutId id="2147483946" r:id="rId25"/>
    <p:sldLayoutId id="2147483947" r:id="rId2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3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7.png"/><Relationship Id="rId5" Type="http://schemas.openxmlformats.org/officeDocument/2006/relationships/slideLayout" Target="../slideLayouts/slideLayout4.xml"/><Relationship Id="rId4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svg"/><Relationship Id="rId9" Type="http://schemas.openxmlformats.org/officeDocument/2006/relationships/image" Target="../media/image4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30264-38DA-BC9C-68BC-0CF65B42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Images and Video Using AI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E0B37D-3949-E27E-3673-0005E744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0D2C956-A91F-C643-216C-09D656278C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>
          <a:xfrm>
            <a:off x="2661921" y="853440"/>
            <a:ext cx="6879270" cy="2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6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0B8F3-0016-E59A-C0E4-EC70E04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0FD-C378-B6A8-A103-7FE29B15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Image and Video Generation Concepts</a:t>
            </a:r>
          </a:p>
          <a:p>
            <a:r>
              <a:rPr lang="en-US" dirty="0"/>
              <a:t>Solve Business Problems Using Image and Video Generation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CED616-3DD2-D1ED-621C-21462FCD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Images and Video Using AI</a:t>
            </a:r>
          </a:p>
        </p:txBody>
      </p:sp>
    </p:spTree>
    <p:extLst>
      <p:ext uri="{BB962C8B-B14F-4D97-AF65-F5344CB8AC3E}">
        <p14:creationId xmlns:p14="http://schemas.microsoft.com/office/powerpoint/2010/main" val="272814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Identify Image and Video Generation Concepts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2653528-72C9-FF13-9DEF-8130F8485E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106364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4896C8-7415-41E5-1D3D-C40B83D3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9985047-AC0C-7EF5-23A8-364C68ADD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Medium ("a photo")</a:t>
            </a:r>
          </a:p>
          <a:p>
            <a:r>
              <a:rPr lang="en-US" dirty="0"/>
              <a:t>Subject ("a bowl of apples")</a:t>
            </a:r>
          </a:p>
          <a:p>
            <a:r>
              <a:rPr lang="en-US" dirty="0"/>
              <a:t>Aesthetic property ("dark background")</a:t>
            </a:r>
          </a:p>
          <a:p>
            <a:r>
              <a:rPr lang="en-US" dirty="0"/>
              <a:t>Quality markers ("8k," "highly detailed," "realistic")</a:t>
            </a:r>
          </a:p>
          <a:p>
            <a:r>
              <a:rPr lang="en-US" dirty="0"/>
              <a:t>Other options: style, color profile, artist, details, positioning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F9BD11-819E-4A53-49AC-FB11ED0B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to Image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D2F49CE-8F94-876A-3F6E-AD0210FE8AC7}"/>
              </a:ext>
            </a:extLst>
          </p:cNvPr>
          <p:cNvGrpSpPr/>
          <p:nvPr/>
        </p:nvGrpSpPr>
        <p:grpSpPr>
          <a:xfrm>
            <a:off x="1482696" y="1339068"/>
            <a:ext cx="9226609" cy="3376998"/>
            <a:chOff x="1482696" y="1008140"/>
            <a:chExt cx="9226609" cy="337699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46596B6-89A2-4705-3B88-C6985206342D}"/>
                </a:ext>
              </a:extLst>
            </p:cNvPr>
            <p:cNvGrpSpPr/>
            <p:nvPr/>
          </p:nvGrpSpPr>
          <p:grpSpPr>
            <a:xfrm>
              <a:off x="1482696" y="1534576"/>
              <a:ext cx="9226609" cy="2850562"/>
              <a:chOff x="1335740" y="2136748"/>
              <a:chExt cx="9226609" cy="2850562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C17E7F2-51FA-8A8F-58E3-15B8B862B130}"/>
                  </a:ext>
                </a:extLst>
              </p:cNvPr>
              <p:cNvSpPr/>
              <p:nvPr/>
            </p:nvSpPr>
            <p:spPr>
              <a:xfrm>
                <a:off x="1335740" y="2938632"/>
                <a:ext cx="3806351" cy="923364"/>
              </a:xfrm>
              <a:prstGeom prst="roundRect">
                <a:avLst>
                  <a:gd name="adj" fmla="val 11595"/>
                </a:avLst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1D376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pic>
            <p:nvPicPr>
              <p:cNvPr id="7" name="Picture 6" descr="A bowl of apples on a table&#10;&#10;Description automatically generated with medium confidence">
                <a:extLst>
                  <a:ext uri="{FF2B5EF4-FFF2-40B4-BE49-F238E27FC236}">
                    <a16:creationId xmlns:a16="http://schemas.microsoft.com/office/drawing/2014/main" id="{0DC15322-3F05-7A1B-8FDB-952B17B05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642826" y="2136748"/>
                <a:ext cx="3919523" cy="2850562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F17A18-8BEE-5BF1-E4C9-3A7391E50F15}"/>
                  </a:ext>
                </a:extLst>
              </p:cNvPr>
              <p:cNvSpPr txBox="1"/>
              <p:nvPr/>
            </p:nvSpPr>
            <p:spPr>
              <a:xfrm>
                <a:off x="1412772" y="3003756"/>
                <a:ext cx="372931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 photo of a bowl of apples, dark background, 8k, highly detailed, realistic</a:t>
                </a:r>
              </a:p>
            </p:txBody>
          </p:sp>
          <p:sp>
            <p:nvSpPr>
              <p:cNvPr id="9" name="AutoShape 304">
                <a:extLst>
                  <a:ext uri="{FF2B5EF4-FFF2-40B4-BE49-F238E27FC236}">
                    <a16:creationId xmlns:a16="http://schemas.microsoft.com/office/drawing/2014/main" id="{B276E101-57F4-52C4-9955-4AAD2D05D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6709" y="3205895"/>
                <a:ext cx="920548" cy="446209"/>
              </a:xfrm>
              <a:prstGeom prst="rightArrow">
                <a:avLst>
                  <a:gd name="adj1" fmla="val 52602"/>
                  <a:gd name="adj2" fmla="val 59572"/>
                </a:avLst>
              </a:prstGeom>
              <a:solidFill>
                <a:srgbClr val="009DDC"/>
              </a:solidFill>
              <a:ln w="9525">
                <a:noFill/>
                <a:miter lim="800000"/>
                <a:headEnd/>
                <a:tailEnd/>
              </a:ln>
              <a:effectLst>
                <a:outerShdw blurRad="38100" dist="25400" dir="2700000" sx="99000" sy="99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wrap="none" anchor="ctr"/>
              <a:lstStyle/>
              <a:p>
                <a:pPr defTabSz="914400">
                  <a:defRPr/>
                </a:pPr>
                <a:endParaRPr lang="en-US" kern="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3" name="Text Box 307">
              <a:extLst>
                <a:ext uri="{FF2B5EF4-FFF2-40B4-BE49-F238E27FC236}">
                  <a16:creationId xmlns:a16="http://schemas.microsoft.com/office/drawing/2014/main" id="{50470378-CEDA-9BAA-1EDF-5C11B2907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540" y="1010005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Prompt</a:t>
              </a:r>
            </a:p>
          </p:txBody>
        </p:sp>
        <p:sp>
          <p:nvSpPr>
            <p:cNvPr id="14" name="Text Box 307">
              <a:extLst>
                <a:ext uri="{FF2B5EF4-FFF2-40B4-BE49-F238E27FC236}">
                  <a16:creationId xmlns:a16="http://schemas.microsoft.com/office/drawing/2014/main" id="{B1169F16-6192-83B1-5752-666412186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4212" y="1008140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158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C4E348-F91C-C5A1-5E37-B3278B14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to Image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66C393-128C-E2D2-CC17-6B80AEBF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D6DBF9-F25A-51D2-BBB0-15AE0608C94E}"/>
              </a:ext>
            </a:extLst>
          </p:cNvPr>
          <p:cNvGrpSpPr/>
          <p:nvPr/>
        </p:nvGrpSpPr>
        <p:grpSpPr>
          <a:xfrm>
            <a:off x="1558834" y="1572149"/>
            <a:ext cx="9074332" cy="3578129"/>
            <a:chOff x="1558834" y="1337016"/>
            <a:chExt cx="9074332" cy="357812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839AE71-CD95-898A-7E09-A18E1E9776C3}"/>
                </a:ext>
              </a:extLst>
            </p:cNvPr>
            <p:cNvGrpSpPr/>
            <p:nvPr/>
          </p:nvGrpSpPr>
          <p:grpSpPr>
            <a:xfrm>
              <a:off x="1558834" y="2062217"/>
              <a:ext cx="9074332" cy="2852928"/>
              <a:chOff x="1558834" y="1922877"/>
              <a:chExt cx="9074332" cy="2852928"/>
            </a:xfrm>
          </p:grpSpPr>
          <p:pic>
            <p:nvPicPr>
              <p:cNvPr id="6" name="Picture 5" descr="A bowl of apples on a table&#10;&#10;Description automatically generated with medium confidence">
                <a:extLst>
                  <a:ext uri="{FF2B5EF4-FFF2-40B4-BE49-F238E27FC236}">
                    <a16:creationId xmlns:a16="http://schemas.microsoft.com/office/drawing/2014/main" id="{8597DDA4-BD55-CDA6-8077-0ED62C4A60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58834" y="1922877"/>
                <a:ext cx="3922776" cy="2852928"/>
              </a:xfrm>
              <a:prstGeom prst="rect">
                <a:avLst/>
              </a:prstGeom>
            </p:spPr>
          </p:pic>
          <p:pic>
            <p:nvPicPr>
              <p:cNvPr id="8" name="Picture 7" descr="A bowl of fruit on a table&#10;&#10;Description automatically generated with low confidence">
                <a:extLst>
                  <a:ext uri="{FF2B5EF4-FFF2-40B4-BE49-F238E27FC236}">
                    <a16:creationId xmlns:a16="http://schemas.microsoft.com/office/drawing/2014/main" id="{FFB1D2E6-C491-927A-53E6-EE282FDB9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10390" y="1922877"/>
                <a:ext cx="3922776" cy="2852928"/>
              </a:xfrm>
              <a:prstGeom prst="rect">
                <a:avLst/>
              </a:prstGeom>
            </p:spPr>
          </p:pic>
          <p:sp>
            <p:nvSpPr>
              <p:cNvPr id="9" name="AutoShape 304">
                <a:extLst>
                  <a:ext uri="{FF2B5EF4-FFF2-40B4-BE49-F238E27FC236}">
                    <a16:creationId xmlns:a16="http://schemas.microsoft.com/office/drawing/2014/main" id="{9F6C680A-7E1F-69CA-AE55-F4C1D55E1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5726" y="3126237"/>
                <a:ext cx="920548" cy="446209"/>
              </a:xfrm>
              <a:prstGeom prst="rightArrow">
                <a:avLst>
                  <a:gd name="adj1" fmla="val 52602"/>
                  <a:gd name="adj2" fmla="val 59572"/>
                </a:avLst>
              </a:prstGeom>
              <a:solidFill>
                <a:srgbClr val="009DDC"/>
              </a:solidFill>
              <a:ln w="9525">
                <a:noFill/>
                <a:miter lim="800000"/>
                <a:headEnd/>
                <a:tailEnd/>
              </a:ln>
              <a:effectLst>
                <a:outerShdw blurRad="38100" dist="25400" dir="2700000" sx="99000" sy="99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wrap="none" anchor="ctr"/>
              <a:lstStyle/>
              <a:p>
                <a:pPr defTabSz="914400">
                  <a:defRPr/>
                </a:pPr>
                <a:endParaRPr lang="en-US" kern="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1" name="Text Box 307">
              <a:extLst>
                <a:ext uri="{FF2B5EF4-FFF2-40B4-BE49-F238E27FC236}">
                  <a16:creationId xmlns:a16="http://schemas.microsoft.com/office/drawing/2014/main" id="{830E846A-04E9-712E-46CE-363009906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290" y="1339068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Source Image</a:t>
              </a:r>
            </a:p>
          </p:txBody>
        </p:sp>
        <p:sp>
          <p:nvSpPr>
            <p:cNvPr id="12" name="Text Box 307">
              <a:extLst>
                <a:ext uri="{FF2B5EF4-FFF2-40B4-BE49-F238E27FC236}">
                  <a16:creationId xmlns:a16="http://schemas.microsoft.com/office/drawing/2014/main" id="{11EE7231-00CB-6D6C-1B1B-E2A0876DB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6447" y="1337016"/>
              <a:ext cx="14906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971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00C3-E204-DF36-0DAF-ACE9A977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+ Image to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EF7AFE-BA99-C499-4B74-EDC0622C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E89120-5791-1F15-3DAE-0C3305BDDE76}"/>
              </a:ext>
            </a:extLst>
          </p:cNvPr>
          <p:cNvGrpSpPr/>
          <p:nvPr/>
        </p:nvGrpSpPr>
        <p:grpSpPr>
          <a:xfrm>
            <a:off x="597989" y="1912408"/>
            <a:ext cx="11063675" cy="2648833"/>
            <a:chOff x="597989" y="1712109"/>
            <a:chExt cx="11063675" cy="264883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06B9000-7F4C-3549-E0BB-66AAA01B1EC8}"/>
                </a:ext>
              </a:extLst>
            </p:cNvPr>
            <p:cNvSpPr/>
            <p:nvPr/>
          </p:nvSpPr>
          <p:spPr>
            <a:xfrm>
              <a:off x="4225899" y="2850267"/>
              <a:ext cx="3806351" cy="923364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605C8D5-36FF-A27D-9BA6-880B75E1A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757302" y="2248678"/>
              <a:ext cx="2904362" cy="2112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9708B0-AFDD-0818-AFFC-42EE4727A5A4}"/>
                </a:ext>
              </a:extLst>
            </p:cNvPr>
            <p:cNvSpPr txBox="1"/>
            <p:nvPr/>
          </p:nvSpPr>
          <p:spPr>
            <a:xfrm>
              <a:off x="4302931" y="2915391"/>
              <a:ext cx="37293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photo of a bowl of </a:t>
              </a:r>
              <a:r>
                <a:rPr lang="en-US" sz="1600" b="1" dirty="0">
                  <a:solidFill>
                    <a:srgbClr val="F0532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oranges</a:t>
              </a: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dark background, 8k, highly detailed, realistic</a:t>
              </a:r>
            </a:p>
          </p:txBody>
        </p:sp>
        <p:sp>
          <p:nvSpPr>
            <p:cNvPr id="13" name="AutoShape 304">
              <a:extLst>
                <a:ext uri="{FF2B5EF4-FFF2-40B4-BE49-F238E27FC236}">
                  <a16:creationId xmlns:a16="http://schemas.microsoft.com/office/drawing/2014/main" id="{AF1C1736-DD6F-244D-FFBD-56EEB5837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743" y="3144149"/>
              <a:ext cx="539259" cy="320226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Picture 13" descr="A bowl of apples on a table&#10;&#10;Description automatically generated with medium confidence">
              <a:extLst>
                <a:ext uri="{FF2B5EF4-FFF2-40B4-BE49-F238E27FC236}">
                  <a16:creationId xmlns:a16="http://schemas.microsoft.com/office/drawing/2014/main" id="{F9F13512-155E-DF08-003A-58D2E7570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7989" y="2248678"/>
              <a:ext cx="2902858" cy="2111169"/>
            </a:xfrm>
            <a:prstGeom prst="rect">
              <a:avLst/>
            </a:prstGeom>
          </p:spPr>
        </p:pic>
        <p:sp>
          <p:nvSpPr>
            <p:cNvPr id="15" name="AutoShape 304">
              <a:extLst>
                <a:ext uri="{FF2B5EF4-FFF2-40B4-BE49-F238E27FC236}">
                  <a16:creationId xmlns:a16="http://schemas.microsoft.com/office/drawing/2014/main" id="{EE50C4EB-97CB-4024-0010-E54CDEF28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5146" y="3144149"/>
              <a:ext cx="539259" cy="320226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 Box 307">
              <a:extLst>
                <a:ext uri="{FF2B5EF4-FFF2-40B4-BE49-F238E27FC236}">
                  <a16:creationId xmlns:a16="http://schemas.microsoft.com/office/drawing/2014/main" id="{39DEF7EF-0696-D13D-18DE-2F90385B6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486" y="1716296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Source Image</a:t>
              </a:r>
            </a:p>
          </p:txBody>
        </p:sp>
        <p:sp>
          <p:nvSpPr>
            <p:cNvPr id="17" name="Text Box 307">
              <a:extLst>
                <a:ext uri="{FF2B5EF4-FFF2-40B4-BE49-F238E27FC236}">
                  <a16:creationId xmlns:a16="http://schemas.microsoft.com/office/drawing/2014/main" id="{CD05BDE9-B1E3-EF49-7903-74AF8C9D7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32551" y="1716296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Output</a:t>
              </a:r>
            </a:p>
          </p:txBody>
        </p:sp>
        <p:sp>
          <p:nvSpPr>
            <p:cNvPr id="18" name="Text Box 307">
              <a:extLst>
                <a:ext uri="{FF2B5EF4-FFF2-40B4-BE49-F238E27FC236}">
                  <a16:creationId xmlns:a16="http://schemas.microsoft.com/office/drawing/2014/main" id="{CB2BB90A-363E-7491-3726-64F23B038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0658" y="1712109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Prompt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0406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00C3-E204-DF36-0DAF-ACE9A977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Inpainting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EF7AFE-BA99-C499-4B74-EDC0622C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B422A53-3D71-2EC8-F3C6-105F7271C066}"/>
              </a:ext>
            </a:extLst>
          </p:cNvPr>
          <p:cNvGrpSpPr/>
          <p:nvPr/>
        </p:nvGrpSpPr>
        <p:grpSpPr>
          <a:xfrm>
            <a:off x="2522584" y="1168095"/>
            <a:ext cx="7146833" cy="5216723"/>
            <a:chOff x="2804161" y="1168095"/>
            <a:chExt cx="7146833" cy="521672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84ABB52-59A0-2088-5D92-5C5884AAB028}"/>
                </a:ext>
              </a:extLst>
            </p:cNvPr>
            <p:cNvGrpSpPr/>
            <p:nvPr/>
          </p:nvGrpSpPr>
          <p:grpSpPr>
            <a:xfrm>
              <a:off x="2804161" y="1574934"/>
              <a:ext cx="7146833" cy="4809884"/>
              <a:chOff x="2804161" y="1261424"/>
              <a:chExt cx="7146833" cy="4809884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06B9000-7F4C-3549-E0BB-66AAA01B1EC8}"/>
                  </a:ext>
                </a:extLst>
              </p:cNvPr>
              <p:cNvSpPr/>
              <p:nvPr/>
            </p:nvSpPr>
            <p:spPr>
              <a:xfrm>
                <a:off x="3851428" y="4699765"/>
                <a:ext cx="1051498" cy="519951"/>
              </a:xfrm>
              <a:prstGeom prst="roundRect">
                <a:avLst>
                  <a:gd name="adj" fmla="val 11595"/>
                </a:avLst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1D376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605C8D5-36FF-A27D-9BA6-880B75E1AD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804161" y="1261424"/>
                <a:ext cx="2844800" cy="2068946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9708B0-AFDD-0818-AFFC-42EE4727A5A4}"/>
                  </a:ext>
                </a:extLst>
              </p:cNvPr>
              <p:cNvSpPr txBox="1"/>
              <p:nvPr/>
            </p:nvSpPr>
            <p:spPr>
              <a:xfrm>
                <a:off x="3928460" y="4764889"/>
                <a:ext cx="136526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05323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orange</a:t>
                </a: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3" name="AutoShape 304">
                <a:extLst>
                  <a:ext uri="{FF2B5EF4-FFF2-40B4-BE49-F238E27FC236}">
                    <a16:creationId xmlns:a16="http://schemas.microsoft.com/office/drawing/2014/main" id="{AF1C1736-DD6F-244D-FFBD-56EEB5837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1351" y="2072792"/>
                <a:ext cx="920548" cy="446209"/>
              </a:xfrm>
              <a:prstGeom prst="rightArrow">
                <a:avLst>
                  <a:gd name="adj1" fmla="val 52602"/>
                  <a:gd name="adj2" fmla="val 59572"/>
                </a:avLst>
              </a:prstGeom>
              <a:solidFill>
                <a:srgbClr val="009DDC"/>
              </a:solidFill>
              <a:ln w="9525">
                <a:noFill/>
                <a:miter lim="800000"/>
                <a:headEnd/>
                <a:tailEnd/>
              </a:ln>
              <a:effectLst>
                <a:outerShdw blurRad="38100" dist="25400" dir="2700000" sx="99000" sy="99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wrap="none" anchor="ctr"/>
              <a:lstStyle/>
              <a:p>
                <a:pPr defTabSz="914400">
                  <a:defRPr/>
                </a:pPr>
                <a:endParaRPr lang="en-US" kern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6" name="Picture 5" descr="A bowl of oranges on a table&#10;&#10;Description automatically generated">
                <a:extLst>
                  <a:ext uri="{FF2B5EF4-FFF2-40B4-BE49-F238E27FC236}">
                    <a16:creationId xmlns:a16="http://schemas.microsoft.com/office/drawing/2014/main" id="{BEA8EBA6-344A-C4A3-4280-DB75E6CFB5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094289" y="1261424"/>
                <a:ext cx="2856705" cy="2068946"/>
              </a:xfrm>
              <a:prstGeom prst="rect">
                <a:avLst/>
              </a:prstGeom>
            </p:spPr>
          </p:pic>
          <p:pic>
            <p:nvPicPr>
              <p:cNvPr id="8" name="Picture 7" descr="A bowl of oranges on a table&#10;&#10;Description automatically generated">
                <a:extLst>
                  <a:ext uri="{FF2B5EF4-FFF2-40B4-BE49-F238E27FC236}">
                    <a16:creationId xmlns:a16="http://schemas.microsoft.com/office/drawing/2014/main" id="{CB2B17D3-E224-4346-90CE-FA58DC7E6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106194" y="4002363"/>
                <a:ext cx="2844800" cy="2068945"/>
              </a:xfrm>
              <a:prstGeom prst="rect">
                <a:avLst/>
              </a:prstGeom>
            </p:spPr>
          </p:pic>
          <p:sp>
            <p:nvSpPr>
              <p:cNvPr id="14" name="AutoShape 304">
                <a:extLst>
                  <a:ext uri="{FF2B5EF4-FFF2-40B4-BE49-F238E27FC236}">
                    <a16:creationId xmlns:a16="http://schemas.microsoft.com/office/drawing/2014/main" id="{64647E0D-41CC-C1A9-C8F1-0940D5247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1351" y="4736823"/>
                <a:ext cx="920548" cy="446209"/>
              </a:xfrm>
              <a:prstGeom prst="rightArrow">
                <a:avLst>
                  <a:gd name="adj1" fmla="val 52602"/>
                  <a:gd name="adj2" fmla="val 59572"/>
                </a:avLst>
              </a:prstGeom>
              <a:solidFill>
                <a:srgbClr val="009DDC"/>
              </a:solidFill>
              <a:ln w="9525">
                <a:noFill/>
                <a:miter lim="800000"/>
                <a:headEnd/>
                <a:tailEnd/>
              </a:ln>
              <a:effectLst>
                <a:outerShdw blurRad="38100" dist="25400" dir="2700000" sx="99000" sy="99000" algn="ctr" rotWithShape="0">
                  <a:srgbClr val="000000">
                    <a:alpha val="75000"/>
                  </a:srgbClr>
                </a:outerShdw>
              </a:effectLst>
            </p:spPr>
            <p:txBody>
              <a:bodyPr wrap="none" anchor="ctr"/>
              <a:lstStyle/>
              <a:p>
                <a:pPr defTabSz="914400">
                  <a:defRPr/>
                </a:pPr>
                <a:endParaRPr lang="en-US" kern="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7" name="Text Box 307">
              <a:extLst>
                <a:ext uri="{FF2B5EF4-FFF2-40B4-BE49-F238E27FC236}">
                  <a16:creationId xmlns:a16="http://schemas.microsoft.com/office/drawing/2014/main" id="{213F1BE6-80FC-CB54-4BFD-D7481BD4A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9629" y="1168095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Source Image</a:t>
              </a:r>
            </a:p>
          </p:txBody>
        </p:sp>
        <p:sp>
          <p:nvSpPr>
            <p:cNvPr id="18" name="Text Box 307">
              <a:extLst>
                <a:ext uri="{FF2B5EF4-FFF2-40B4-BE49-F238E27FC236}">
                  <a16:creationId xmlns:a16="http://schemas.microsoft.com/office/drawing/2014/main" id="{3DD9BE02-3D1F-EBB2-B2C3-10E0E3119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5709" y="1168175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Masked Image</a:t>
              </a:r>
            </a:p>
          </p:txBody>
        </p:sp>
        <p:sp>
          <p:nvSpPr>
            <p:cNvPr id="19" name="Text Box 307">
              <a:extLst>
                <a:ext uri="{FF2B5EF4-FFF2-40B4-BE49-F238E27FC236}">
                  <a16:creationId xmlns:a16="http://schemas.microsoft.com/office/drawing/2014/main" id="{7E63784D-3C47-CDCB-C7E7-621EE8A28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5709" y="3906495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Output</a:t>
              </a:r>
            </a:p>
          </p:txBody>
        </p:sp>
        <p:sp>
          <p:nvSpPr>
            <p:cNvPr id="20" name="Text Box 307">
              <a:extLst>
                <a:ext uri="{FF2B5EF4-FFF2-40B4-BE49-F238E27FC236}">
                  <a16:creationId xmlns:a16="http://schemas.microsoft.com/office/drawing/2014/main" id="{E7AC2AA9-92B4-4C99-24AE-94A57C83D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245" y="3906495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Inpainting Prompt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104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0468-9254-4AAE-C676-751E1CEF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Outpainting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A502CE-B357-4840-2300-A857431F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1AC60E-BAC5-C458-C8BB-8C0620BBDD31}"/>
              </a:ext>
            </a:extLst>
          </p:cNvPr>
          <p:cNvGrpSpPr/>
          <p:nvPr/>
        </p:nvGrpSpPr>
        <p:grpSpPr>
          <a:xfrm>
            <a:off x="597989" y="1912408"/>
            <a:ext cx="11325930" cy="2647738"/>
            <a:chOff x="597989" y="1712109"/>
            <a:chExt cx="11325930" cy="264773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5D3DEA4-A8EE-5B3A-BA10-3281E37C0495}"/>
                </a:ext>
              </a:extLst>
            </p:cNvPr>
            <p:cNvSpPr/>
            <p:nvPr/>
          </p:nvSpPr>
          <p:spPr>
            <a:xfrm>
              <a:off x="4225899" y="2850267"/>
              <a:ext cx="3806351" cy="923364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0D1A6F-4F0D-5DEF-52A9-0BF1B8125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757301" y="2360180"/>
              <a:ext cx="3166618" cy="19486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1E3994-9548-45C1-A3C5-EB61F8784F9A}"/>
                </a:ext>
              </a:extLst>
            </p:cNvPr>
            <p:cNvSpPr txBox="1"/>
            <p:nvPr/>
          </p:nvSpPr>
          <p:spPr>
            <a:xfrm>
              <a:off x="4302931" y="2915391"/>
              <a:ext cx="37293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photo of a bowl of oranges, </a:t>
              </a:r>
              <a:r>
                <a:rPr lang="en-US" sz="1600" b="1" dirty="0">
                  <a:solidFill>
                    <a:srgbClr val="E71854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candle</a:t>
              </a: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dark background, 8k, highly detailed, realistic</a:t>
              </a:r>
            </a:p>
          </p:txBody>
        </p:sp>
        <p:sp>
          <p:nvSpPr>
            <p:cNvPr id="8" name="AutoShape 304">
              <a:extLst>
                <a:ext uri="{FF2B5EF4-FFF2-40B4-BE49-F238E27FC236}">
                  <a16:creationId xmlns:a16="http://schemas.microsoft.com/office/drawing/2014/main" id="{89319270-5815-44A2-B6BB-2DD79CF79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743" y="3144149"/>
              <a:ext cx="539259" cy="320226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BF371FE-4212-13F8-7078-C05A49A82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7989" y="2248678"/>
              <a:ext cx="2902857" cy="2111169"/>
            </a:xfrm>
            <a:prstGeom prst="rect">
              <a:avLst/>
            </a:prstGeom>
          </p:spPr>
        </p:pic>
        <p:sp>
          <p:nvSpPr>
            <p:cNvPr id="10" name="AutoShape 304">
              <a:extLst>
                <a:ext uri="{FF2B5EF4-FFF2-40B4-BE49-F238E27FC236}">
                  <a16:creationId xmlns:a16="http://schemas.microsoft.com/office/drawing/2014/main" id="{12C7FC09-3A99-D13F-0267-7BFA04124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5146" y="3144149"/>
              <a:ext cx="539259" cy="320226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Text Box 307">
              <a:extLst>
                <a:ext uri="{FF2B5EF4-FFF2-40B4-BE49-F238E27FC236}">
                  <a16:creationId xmlns:a16="http://schemas.microsoft.com/office/drawing/2014/main" id="{C188CF1C-C00C-9681-A138-07CB52D0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486" y="1716296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Source Image</a:t>
              </a:r>
            </a:p>
          </p:txBody>
        </p:sp>
        <p:sp>
          <p:nvSpPr>
            <p:cNvPr id="12" name="Text Box 307">
              <a:extLst>
                <a:ext uri="{FF2B5EF4-FFF2-40B4-BE49-F238E27FC236}">
                  <a16:creationId xmlns:a16="http://schemas.microsoft.com/office/drawing/2014/main" id="{B4D3869F-D150-6674-CF52-00B761E38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32551" y="1716296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Output</a:t>
              </a:r>
            </a:p>
          </p:txBody>
        </p:sp>
        <p:sp>
          <p:nvSpPr>
            <p:cNvPr id="13" name="Text Box 307">
              <a:extLst>
                <a:ext uri="{FF2B5EF4-FFF2-40B4-BE49-F238E27FC236}">
                  <a16:creationId xmlns:a16="http://schemas.microsoft.com/office/drawing/2014/main" id="{C20E66D3-975D-AA8E-34A1-82FDE3890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0658" y="1712109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Prompt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138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0468-9254-4AAE-C676-751E1CEF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A502CE-B357-4840-2300-A857431F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AE46C4-E6A8-6726-59EF-26F11213A357}"/>
              </a:ext>
            </a:extLst>
          </p:cNvPr>
          <p:cNvGrpSpPr/>
          <p:nvPr/>
        </p:nvGrpSpPr>
        <p:grpSpPr>
          <a:xfrm>
            <a:off x="334228" y="1912408"/>
            <a:ext cx="11589690" cy="2596758"/>
            <a:chOff x="334228" y="1912408"/>
            <a:chExt cx="11589690" cy="259675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5D3DEA4-A8EE-5B3A-BA10-3281E37C0495}"/>
                </a:ext>
              </a:extLst>
            </p:cNvPr>
            <p:cNvSpPr/>
            <p:nvPr/>
          </p:nvSpPr>
          <p:spPr>
            <a:xfrm>
              <a:off x="4225899" y="3050566"/>
              <a:ext cx="3806351" cy="923364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0D1A6F-4F0D-5DEF-52A9-0BF1B8125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757302" y="2560479"/>
              <a:ext cx="3166616" cy="19486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1E3994-9548-45C1-A3C5-EB61F8784F9A}"/>
                </a:ext>
              </a:extLst>
            </p:cNvPr>
            <p:cNvSpPr txBox="1"/>
            <p:nvPr/>
          </p:nvSpPr>
          <p:spPr>
            <a:xfrm>
              <a:off x="4302931" y="3115690"/>
              <a:ext cx="37293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photo of a bowl of </a:t>
              </a:r>
              <a:r>
                <a:rPr lang="en-US" sz="1600" b="1" dirty="0">
                  <a:solidFill>
                    <a:srgbClr val="1D76B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fruit</a:t>
              </a: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candle, dark background, 8k, highly detailed, realistic</a:t>
              </a:r>
            </a:p>
          </p:txBody>
        </p:sp>
        <p:sp>
          <p:nvSpPr>
            <p:cNvPr id="8" name="AutoShape 304">
              <a:extLst>
                <a:ext uri="{FF2B5EF4-FFF2-40B4-BE49-F238E27FC236}">
                  <a16:creationId xmlns:a16="http://schemas.microsoft.com/office/drawing/2014/main" id="{89319270-5815-44A2-B6BB-2DD79CF79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743" y="3344448"/>
              <a:ext cx="539259" cy="320226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AutoShape 304">
              <a:extLst>
                <a:ext uri="{FF2B5EF4-FFF2-40B4-BE49-F238E27FC236}">
                  <a16:creationId xmlns:a16="http://schemas.microsoft.com/office/drawing/2014/main" id="{12C7FC09-3A99-D13F-0267-7BFA04124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5146" y="3344448"/>
              <a:ext cx="539259" cy="320226"/>
            </a:xfrm>
            <a:prstGeom prst="rightArrow">
              <a:avLst>
                <a:gd name="adj1" fmla="val 52602"/>
                <a:gd name="adj2" fmla="val 59572"/>
              </a:avLst>
            </a:prstGeom>
            <a:solidFill>
              <a:srgbClr val="009DDC"/>
            </a:solidFill>
            <a:ln w="9525">
              <a:noFill/>
              <a:miter lim="800000"/>
              <a:headEnd/>
              <a:tailEnd/>
            </a:ln>
            <a:effectLst>
              <a:outerShdw blurRad="38100" dist="25400" dir="2700000" sx="99000" sy="99000" algn="ctr" rotWithShape="0">
                <a:srgbClr val="000000">
                  <a:alpha val="75000"/>
                </a:srgbClr>
              </a:outerShdw>
            </a:effectLst>
          </p:spPr>
          <p:txBody>
            <a:bodyPr wrap="none" anchor="ctr"/>
            <a:lstStyle/>
            <a:p>
              <a:pPr defTabSz="914400">
                <a:defRPr/>
              </a:pPr>
              <a:endParaRPr 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Text Box 307">
              <a:extLst>
                <a:ext uri="{FF2B5EF4-FFF2-40B4-BE49-F238E27FC236}">
                  <a16:creationId xmlns:a16="http://schemas.microsoft.com/office/drawing/2014/main" id="{C188CF1C-C00C-9681-A138-07CB52D0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605" y="1912408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Control Image</a:t>
              </a:r>
            </a:p>
          </p:txBody>
        </p:sp>
        <p:sp>
          <p:nvSpPr>
            <p:cNvPr id="12" name="Text Box 307">
              <a:extLst>
                <a:ext uri="{FF2B5EF4-FFF2-40B4-BE49-F238E27FC236}">
                  <a16:creationId xmlns:a16="http://schemas.microsoft.com/office/drawing/2014/main" id="{B4D3869F-D150-6674-CF52-00B761E38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3678" y="1912408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Output</a:t>
              </a:r>
            </a:p>
          </p:txBody>
        </p:sp>
        <p:sp>
          <p:nvSpPr>
            <p:cNvPr id="13" name="Text Box 307">
              <a:extLst>
                <a:ext uri="{FF2B5EF4-FFF2-40B4-BE49-F238E27FC236}">
                  <a16:creationId xmlns:a16="http://schemas.microsoft.com/office/drawing/2014/main" id="{C20E66D3-975D-AA8E-34A1-82FDE3890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0658" y="1912408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Prompt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2C16AA2-84E6-206E-7569-B619AC5D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4228" y="2556844"/>
              <a:ext cx="3166618" cy="1948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8406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A040-D041-2AB5-D8A5-85447B50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Control vs. No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9E1E2-42BB-0D04-BFE8-9121BEF4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A213BF-CD93-3362-FB93-8B79E139F94B}"/>
              </a:ext>
            </a:extLst>
          </p:cNvPr>
          <p:cNvGrpSpPr/>
          <p:nvPr/>
        </p:nvGrpSpPr>
        <p:grpSpPr>
          <a:xfrm>
            <a:off x="2691439" y="1049149"/>
            <a:ext cx="6809122" cy="5406493"/>
            <a:chOff x="2656115" y="1049149"/>
            <a:chExt cx="6809122" cy="5406493"/>
          </a:xfrm>
        </p:grpSpPr>
        <p:pic>
          <p:nvPicPr>
            <p:cNvPr id="5" name="Picture 4" descr="A bowl of oranges and grapefruits&#10;&#10;Description automatically generated with medium confidence">
              <a:extLst>
                <a:ext uri="{FF2B5EF4-FFF2-40B4-BE49-F238E27FC236}">
                  <a16:creationId xmlns:a16="http://schemas.microsoft.com/office/drawing/2014/main" id="{23D48F94-4E15-3A85-76C2-CA35640C5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56116" y="4864586"/>
              <a:ext cx="2585466" cy="1591056"/>
            </a:xfrm>
            <a:prstGeom prst="rect">
              <a:avLst/>
            </a:prstGeom>
          </p:spPr>
        </p:pic>
        <p:pic>
          <p:nvPicPr>
            <p:cNvPr id="7" name="Picture 6" descr="A bowl of oranges and oranges&#10;&#10;Description automatically generated with medium confidence">
              <a:extLst>
                <a:ext uri="{FF2B5EF4-FFF2-40B4-BE49-F238E27FC236}">
                  <a16:creationId xmlns:a16="http://schemas.microsoft.com/office/drawing/2014/main" id="{FB13E72C-3A87-BCB7-1A9C-8BAFAFF8D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56115" y="3176652"/>
              <a:ext cx="2585466" cy="1591056"/>
            </a:xfrm>
            <a:prstGeom prst="rect">
              <a:avLst/>
            </a:prstGeom>
          </p:spPr>
        </p:pic>
        <p:pic>
          <p:nvPicPr>
            <p:cNvPr id="9" name="Picture 8" descr="A bowl of fruit on a table&#10;&#10;Description automatically generated with medium confidence">
              <a:extLst>
                <a:ext uri="{FF2B5EF4-FFF2-40B4-BE49-F238E27FC236}">
                  <a16:creationId xmlns:a16="http://schemas.microsoft.com/office/drawing/2014/main" id="{08AFC2F3-F35B-6901-9817-49A93CF52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56115" y="1493475"/>
              <a:ext cx="2577736" cy="1586299"/>
            </a:xfrm>
            <a:prstGeom prst="rect">
              <a:avLst/>
            </a:prstGeom>
          </p:spPr>
        </p:pic>
        <p:sp>
          <p:nvSpPr>
            <p:cNvPr id="11" name="Text Box 307">
              <a:extLst>
                <a:ext uri="{FF2B5EF4-FFF2-40B4-BE49-F238E27FC236}">
                  <a16:creationId xmlns:a16="http://schemas.microsoft.com/office/drawing/2014/main" id="{83CF2279-867E-1910-04FE-F525386083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051" y="1049149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With Control</a:t>
              </a:r>
            </a:p>
          </p:txBody>
        </p:sp>
        <p:pic>
          <p:nvPicPr>
            <p:cNvPr id="13" name="Picture 12" descr="A bowl of fruit on a table&#10;&#10;Description automatically generated with low confidence">
              <a:extLst>
                <a:ext uri="{FF2B5EF4-FFF2-40B4-BE49-F238E27FC236}">
                  <a16:creationId xmlns:a16="http://schemas.microsoft.com/office/drawing/2014/main" id="{97D9997A-4161-29DA-09D1-2E6E7EA8C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79771" y="4864586"/>
              <a:ext cx="2585466" cy="1591056"/>
            </a:xfrm>
            <a:prstGeom prst="rect">
              <a:avLst/>
            </a:prstGeom>
          </p:spPr>
        </p:pic>
        <p:pic>
          <p:nvPicPr>
            <p:cNvPr id="15" name="Picture 14" descr="A bowl of fruit on a table&#10;&#10;Description automatically generated with low confidence">
              <a:extLst>
                <a:ext uri="{FF2B5EF4-FFF2-40B4-BE49-F238E27FC236}">
                  <a16:creationId xmlns:a16="http://schemas.microsoft.com/office/drawing/2014/main" id="{E4ED0E14-60DA-E344-4CCD-043CFAF24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79771" y="3176652"/>
              <a:ext cx="2585466" cy="1591056"/>
            </a:xfrm>
            <a:prstGeom prst="rect">
              <a:avLst/>
            </a:prstGeom>
          </p:spPr>
        </p:pic>
        <p:pic>
          <p:nvPicPr>
            <p:cNvPr id="17" name="Picture 16" descr="A bowl of apples and a lit candle&#10;&#10;Description automatically generated with medium confidence">
              <a:extLst>
                <a:ext uri="{FF2B5EF4-FFF2-40B4-BE49-F238E27FC236}">
                  <a16:creationId xmlns:a16="http://schemas.microsoft.com/office/drawing/2014/main" id="{26E5CF04-015B-7270-C376-48E257CC0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79771" y="1493475"/>
              <a:ext cx="2585466" cy="1591056"/>
            </a:xfrm>
            <a:prstGeom prst="rect">
              <a:avLst/>
            </a:prstGeom>
          </p:spPr>
        </p:pic>
        <p:sp>
          <p:nvSpPr>
            <p:cNvPr id="18" name="Text Box 307">
              <a:extLst>
                <a:ext uri="{FF2B5EF4-FFF2-40B4-BE49-F238E27FC236}">
                  <a16:creationId xmlns:a16="http://schemas.microsoft.com/office/drawing/2014/main" id="{5812880A-3C30-637E-D3AF-C3783D5E9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5572" y="1049149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Without Control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2241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CE9D-FF48-987D-9262-344CC841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Upscaling (Upscaler Only)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D0BE8F-E722-9A97-F2A8-21ABB3F1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407F0D-C355-669A-9E99-807AB362F75D}"/>
              </a:ext>
            </a:extLst>
          </p:cNvPr>
          <p:cNvGrpSpPr/>
          <p:nvPr/>
        </p:nvGrpSpPr>
        <p:grpSpPr>
          <a:xfrm>
            <a:off x="805955" y="1648983"/>
            <a:ext cx="10580090" cy="3807580"/>
            <a:chOff x="805955" y="1648983"/>
            <a:chExt cx="10580090" cy="380758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048D5F-A143-41B8-EA2E-AC1776A9BB01}"/>
                </a:ext>
              </a:extLst>
            </p:cNvPr>
            <p:cNvGrpSpPr/>
            <p:nvPr/>
          </p:nvGrpSpPr>
          <p:grpSpPr>
            <a:xfrm>
              <a:off x="805955" y="2356747"/>
              <a:ext cx="10580090" cy="3099816"/>
              <a:chOff x="553111" y="2086780"/>
              <a:chExt cx="10580090" cy="3099816"/>
            </a:xfrm>
          </p:grpSpPr>
          <p:pic>
            <p:nvPicPr>
              <p:cNvPr id="5" name="Picture 4" descr="A bowl of oranges and oranges&#10;&#10;Description automatically generated with medium confidence">
                <a:extLst>
                  <a:ext uri="{FF2B5EF4-FFF2-40B4-BE49-F238E27FC236}">
                    <a16:creationId xmlns:a16="http://schemas.microsoft.com/office/drawing/2014/main" id="{666FF1FC-9323-578D-5AC6-47BC98ADF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3111" y="2086780"/>
                <a:ext cx="5029083" cy="3094820"/>
              </a:xfrm>
              <a:prstGeom prst="rect">
                <a:avLst/>
              </a:prstGeom>
            </p:spPr>
          </p:pic>
          <p:pic>
            <p:nvPicPr>
              <p:cNvPr id="7" name="Picture 6" descr="A bowl of oranges and grapefruits&#10;&#10;Description automatically generated">
                <a:extLst>
                  <a:ext uri="{FF2B5EF4-FFF2-40B4-BE49-F238E27FC236}">
                    <a16:creationId xmlns:a16="http://schemas.microsoft.com/office/drawing/2014/main" id="{377BFC30-2B21-13A2-7257-DA7E6136D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096000" y="2086780"/>
                <a:ext cx="5037201" cy="3099816"/>
              </a:xfrm>
              <a:prstGeom prst="rect">
                <a:avLst/>
              </a:prstGeom>
            </p:spPr>
          </p:pic>
        </p:grpSp>
        <p:sp>
          <p:nvSpPr>
            <p:cNvPr id="4" name="Text Box 307">
              <a:extLst>
                <a:ext uri="{FF2B5EF4-FFF2-40B4-BE49-F238E27FC236}">
                  <a16:creationId xmlns:a16="http://schemas.microsoft.com/office/drawing/2014/main" id="{CC5CB78B-28E8-63AF-8E09-0096DC6AB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960" y="1895204"/>
              <a:ext cx="18450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(832 × 512)</a:t>
              </a:r>
            </a:p>
          </p:txBody>
        </p:sp>
        <p:sp>
          <p:nvSpPr>
            <p:cNvPr id="6" name="Text Box 307">
              <a:extLst>
                <a:ext uri="{FF2B5EF4-FFF2-40B4-BE49-F238E27FC236}">
                  <a16:creationId xmlns:a16="http://schemas.microsoft.com/office/drawing/2014/main" id="{100681C2-E395-A824-B594-25AB83DC6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962" y="1653979"/>
              <a:ext cx="18450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Source Image</a:t>
              </a:r>
            </a:p>
          </p:txBody>
        </p:sp>
        <p:sp>
          <p:nvSpPr>
            <p:cNvPr id="12" name="Text Box 307">
              <a:extLst>
                <a:ext uri="{FF2B5EF4-FFF2-40B4-BE49-F238E27FC236}">
                  <a16:creationId xmlns:a16="http://schemas.microsoft.com/office/drawing/2014/main" id="{0EB0E367-1409-192F-F10D-C446E263D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8973" y="1648983"/>
              <a:ext cx="18450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Upscaled Image</a:t>
              </a:r>
            </a:p>
          </p:txBody>
        </p:sp>
        <p:sp>
          <p:nvSpPr>
            <p:cNvPr id="13" name="Text Box 307">
              <a:extLst>
                <a:ext uri="{FF2B5EF4-FFF2-40B4-BE49-F238E27FC236}">
                  <a16:creationId xmlns:a16="http://schemas.microsoft.com/office/drawing/2014/main" id="{700F8B2D-B10B-BAB9-7FAE-BC15AB9781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8971" y="1895204"/>
              <a:ext cx="18450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(3328 × 2048)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1130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CE9D-FF48-987D-9262-344CC841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Upscaling (Upscaler + Control)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D0BE8F-E722-9A97-F2A8-21ABB3F1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75B635-4A91-72E3-B3E1-D85A57319C0B}"/>
              </a:ext>
            </a:extLst>
          </p:cNvPr>
          <p:cNvGrpSpPr/>
          <p:nvPr/>
        </p:nvGrpSpPr>
        <p:grpSpPr>
          <a:xfrm>
            <a:off x="805955" y="1648983"/>
            <a:ext cx="10580090" cy="3807580"/>
            <a:chOff x="805955" y="1648983"/>
            <a:chExt cx="10580090" cy="3807580"/>
          </a:xfrm>
        </p:grpSpPr>
        <p:pic>
          <p:nvPicPr>
            <p:cNvPr id="5" name="Picture 4" descr="A bowl of oranges and oranges&#10;&#10;Description automatically generated with medium confidence">
              <a:extLst>
                <a:ext uri="{FF2B5EF4-FFF2-40B4-BE49-F238E27FC236}">
                  <a16:creationId xmlns:a16="http://schemas.microsoft.com/office/drawing/2014/main" id="{666FF1FC-9323-578D-5AC6-47BC98ADF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5955" y="2356747"/>
              <a:ext cx="5029083" cy="309482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7BFC30-2B21-13A2-7257-DA7E6136D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348844" y="2356747"/>
              <a:ext cx="5037201" cy="3099816"/>
            </a:xfrm>
            <a:prstGeom prst="rect">
              <a:avLst/>
            </a:prstGeom>
          </p:spPr>
        </p:pic>
        <p:sp>
          <p:nvSpPr>
            <p:cNvPr id="9" name="Text Box 307">
              <a:extLst>
                <a:ext uri="{FF2B5EF4-FFF2-40B4-BE49-F238E27FC236}">
                  <a16:creationId xmlns:a16="http://schemas.microsoft.com/office/drawing/2014/main" id="{1DE76602-3B4D-3EF9-4AE2-60E810DE4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962" y="1653979"/>
              <a:ext cx="18450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Source Image</a:t>
              </a:r>
            </a:p>
          </p:txBody>
        </p:sp>
        <p:sp>
          <p:nvSpPr>
            <p:cNvPr id="10" name="Text Box 307">
              <a:extLst>
                <a:ext uri="{FF2B5EF4-FFF2-40B4-BE49-F238E27FC236}">
                  <a16:creationId xmlns:a16="http://schemas.microsoft.com/office/drawing/2014/main" id="{B6EA0AB5-1D10-140F-51AE-95768ADD6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8973" y="1648983"/>
              <a:ext cx="18450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Upscaled Image</a:t>
              </a:r>
            </a:p>
          </p:txBody>
        </p:sp>
        <p:sp>
          <p:nvSpPr>
            <p:cNvPr id="4" name="Text Box 307">
              <a:extLst>
                <a:ext uri="{FF2B5EF4-FFF2-40B4-BE49-F238E27FC236}">
                  <a16:creationId xmlns:a16="http://schemas.microsoft.com/office/drawing/2014/main" id="{355BF419-E2B4-52E2-76DB-9244E0388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960" y="1895204"/>
              <a:ext cx="18450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(832 × 512)</a:t>
              </a:r>
            </a:p>
          </p:txBody>
        </p:sp>
        <p:sp>
          <p:nvSpPr>
            <p:cNvPr id="6" name="Text Box 307">
              <a:extLst>
                <a:ext uri="{FF2B5EF4-FFF2-40B4-BE49-F238E27FC236}">
                  <a16:creationId xmlns:a16="http://schemas.microsoft.com/office/drawing/2014/main" id="{9B9B0B61-28A3-E881-1967-009C9B4B3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8971" y="1895204"/>
              <a:ext cx="18450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(3328 × 2048)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2801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CC2B27-222E-AD8A-F65B-DBF78CD8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B95F6-DB9C-0BB3-4BFF-23A260DD2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to video</a:t>
            </a:r>
          </a:p>
          <a:p>
            <a:r>
              <a:rPr lang="en-US" dirty="0"/>
              <a:t>Script to video</a:t>
            </a:r>
          </a:p>
          <a:p>
            <a:r>
              <a:rPr lang="en-US" dirty="0"/>
              <a:t>Image to video</a:t>
            </a:r>
          </a:p>
          <a:p>
            <a:r>
              <a:rPr lang="en-US" dirty="0"/>
              <a:t>Text + image to video</a:t>
            </a:r>
          </a:p>
          <a:p>
            <a:r>
              <a:rPr lang="en-US" dirty="0"/>
              <a:t>Video to video</a:t>
            </a:r>
          </a:p>
          <a:p>
            <a:r>
              <a:rPr lang="en-US" dirty="0"/>
              <a:t>Text + video to video</a:t>
            </a:r>
          </a:p>
          <a:p>
            <a:r>
              <a:rPr lang="en-US" dirty="0"/>
              <a:t>Frame interpolation</a:t>
            </a:r>
          </a:p>
          <a:p>
            <a:r>
              <a:rPr lang="en-US" dirty="0"/>
              <a:t>Video customization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D4CED3-8C2E-904D-2057-7E42D69A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Video-Generation Techniques</a:t>
            </a:r>
          </a:p>
        </p:txBody>
      </p:sp>
      <p:pic>
        <p:nvPicPr>
          <p:cNvPr id="6" name="video_gen_out">
            <a:hlinkClick r:id="" action="ppaction://media"/>
            <a:extLst>
              <a:ext uri="{FF2B5EF4-FFF2-40B4-BE49-F238E27FC236}">
                <a16:creationId xmlns:a16="http://schemas.microsoft.com/office/drawing/2014/main" id="{C3897CDE-CC64-2B05-C5E8-E574A3290A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166265" y="3163371"/>
            <a:ext cx="2596896" cy="2596896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7379D6-DC64-49A2-F4B2-CB4931A6C497}"/>
              </a:ext>
            </a:extLst>
          </p:cNvPr>
          <p:cNvSpPr/>
          <p:nvPr/>
        </p:nvSpPr>
        <p:spPr>
          <a:xfrm>
            <a:off x="6948060" y="1590443"/>
            <a:ext cx="3033307" cy="691582"/>
          </a:xfrm>
          <a:prstGeom prst="roundRect">
            <a:avLst>
              <a:gd name="adj" fmla="val 11595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1D3763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92A59F-8F27-1466-F59D-6AAFB06D71A6}"/>
              </a:ext>
            </a:extLst>
          </p:cNvPr>
          <p:cNvSpPr txBox="1"/>
          <p:nvPr/>
        </p:nvSpPr>
        <p:spPr>
          <a:xfrm>
            <a:off x="7025092" y="1638149"/>
            <a:ext cx="2956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car drives down a foggy road.</a:t>
            </a:r>
          </a:p>
        </p:txBody>
      </p:sp>
      <p:sp>
        <p:nvSpPr>
          <p:cNvPr id="20" name="Text Box 307">
            <a:extLst>
              <a:ext uri="{FF2B5EF4-FFF2-40B4-BE49-F238E27FC236}">
                <a16:creationId xmlns:a16="http://schemas.microsoft.com/office/drawing/2014/main" id="{B6545206-44C6-E2FD-877F-252A377E9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6297" y="2505875"/>
            <a:ext cx="19538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r>
              <a:rPr lang="en-US" sz="1600" b="1" kern="0" dirty="0">
                <a:solidFill>
                  <a:srgbClr val="000000"/>
                </a:solidFill>
                <a:latin typeface="Calibri"/>
                <a:cs typeface="Calibri"/>
              </a:rPr>
              <a:t>Output Video</a:t>
            </a:r>
          </a:p>
        </p:txBody>
      </p:sp>
      <p:sp>
        <p:nvSpPr>
          <p:cNvPr id="21" name="Text Box 307">
            <a:extLst>
              <a:ext uri="{FF2B5EF4-FFF2-40B4-BE49-F238E27FC236}">
                <a16:creationId xmlns:a16="http://schemas.microsoft.com/office/drawing/2014/main" id="{2E08793C-E00F-6C10-1906-9C26D5436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7781" y="1159509"/>
            <a:ext cx="19538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r>
              <a:rPr lang="en-US" sz="1600" b="1" kern="0" dirty="0">
                <a:solidFill>
                  <a:srgbClr val="000000"/>
                </a:solidFill>
                <a:latin typeface="Calibri"/>
                <a:cs typeface="Calibri"/>
              </a:rPr>
              <a:t>Prompt</a:t>
            </a:r>
          </a:p>
        </p:txBody>
      </p:sp>
      <p:pic>
        <p:nvPicPr>
          <p:cNvPr id="5" name="7d86d899-057a-4882-b325-097251b4fac2">
            <a:hlinkClick r:id="" action="ppaction://media"/>
            <a:extLst>
              <a:ext uri="{FF2B5EF4-FFF2-40B4-BE49-F238E27FC236}">
                <a16:creationId xmlns:a16="http://schemas.microsoft.com/office/drawing/2014/main" id="{D1809F24-A6E7-C181-A75C-9DD6014BA35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84004" y="2864525"/>
            <a:ext cx="5361416" cy="300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4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5D46-9392-28E7-B0F1-B124F355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AI for Images and Video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AECAD-421B-A25E-FBDC-43B979C8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E950623-3F16-C9CF-708B-7B91C7E864E5}"/>
              </a:ext>
            </a:extLst>
          </p:cNvPr>
          <p:cNvGrpSpPr/>
          <p:nvPr/>
        </p:nvGrpSpPr>
        <p:grpSpPr>
          <a:xfrm>
            <a:off x="2229394" y="1315739"/>
            <a:ext cx="7498080" cy="4789714"/>
            <a:chOff x="2229394" y="1315739"/>
            <a:chExt cx="7498080" cy="478971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A487250-574B-C5C2-1646-7111A6E70AC9}"/>
                </a:ext>
              </a:extLst>
            </p:cNvPr>
            <p:cNvSpPr/>
            <p:nvPr/>
          </p:nvSpPr>
          <p:spPr>
            <a:xfrm>
              <a:off x="2316480" y="5538113"/>
              <a:ext cx="862149" cy="567340"/>
            </a:xfrm>
            <a:prstGeom prst="roundRect">
              <a:avLst>
                <a:gd name="adj" fmla="val 2646"/>
              </a:avLst>
            </a:prstGeom>
            <a:blipFill dpi="0"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F7FFC9-4AD8-2272-55A3-1BDDA1C103B2}"/>
                </a:ext>
              </a:extLst>
            </p:cNvPr>
            <p:cNvGrpSpPr/>
            <p:nvPr/>
          </p:nvGrpSpPr>
          <p:grpSpPr>
            <a:xfrm>
              <a:off x="2229394" y="1315739"/>
              <a:ext cx="7498080" cy="4789714"/>
              <a:chOff x="2229394" y="1315739"/>
              <a:chExt cx="7498080" cy="4789714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C893F86-D553-3C29-461B-E51C187D31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29394" y="1315739"/>
                <a:ext cx="7498080" cy="4789714"/>
              </a:xfrm>
              <a:prstGeom prst="roundRect">
                <a:avLst>
                  <a:gd name="adj" fmla="val 1031"/>
                </a:avLst>
              </a:prstGeom>
              <a:noFill/>
              <a:ln w="28575" cap="flat" cmpd="sng" algn="ctr">
                <a:solidFill>
                  <a:schemeClr val="bg1">
                    <a:lumMod val="8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ED6F79C-D1B7-D5E0-7EA9-BDCEE0CE7E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38375" y="1315739"/>
                <a:ext cx="7489099" cy="428625"/>
              </a:xfrm>
              <a:prstGeom prst="roundRect">
                <a:avLst>
                  <a:gd name="adj" fmla="val 11652"/>
                </a:avLst>
              </a:prstGeom>
              <a:solidFill>
                <a:schemeClr val="bg1">
                  <a:lumMod val="85000"/>
                </a:schemeClr>
              </a:solidFill>
              <a:ln w="2857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C6432F3F-60AB-40B3-3266-AB717236F6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2308860" y="1374385"/>
                <a:ext cx="311331" cy="311331"/>
              </a:xfrm>
              <a:prstGeom prst="rect">
                <a:avLst/>
              </a:prstGeom>
            </p:spPr>
          </p:pic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4CB6FA5-35B4-94CB-A298-199E36B2C965}"/>
                  </a:ext>
                </a:extLst>
              </p:cNvPr>
              <p:cNvSpPr/>
              <p:nvPr/>
            </p:nvSpPr>
            <p:spPr>
              <a:xfrm>
                <a:off x="9492343" y="1479758"/>
                <a:ext cx="95794" cy="100584"/>
              </a:xfrm>
              <a:prstGeom prst="ellipse">
                <a:avLst/>
              </a:prstGeom>
              <a:solidFill>
                <a:srgbClr val="E71854"/>
              </a:solidFill>
              <a:ln w="2857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23C57E9-9C3F-83BB-C31B-5E995929DEA5}"/>
                  </a:ext>
                </a:extLst>
              </p:cNvPr>
              <p:cNvSpPr/>
              <p:nvPr/>
            </p:nvSpPr>
            <p:spPr>
              <a:xfrm>
                <a:off x="9344162" y="1479758"/>
                <a:ext cx="95794" cy="100584"/>
              </a:xfrm>
              <a:prstGeom prst="ellipse">
                <a:avLst/>
              </a:prstGeom>
              <a:solidFill>
                <a:srgbClr val="198CA8"/>
              </a:solidFill>
              <a:ln w="2857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C849B49-9CCF-9921-7280-A5E327A2A6B8}"/>
                  </a:ext>
                </a:extLst>
              </p:cNvPr>
              <p:cNvSpPr/>
              <p:nvPr/>
            </p:nvSpPr>
            <p:spPr>
              <a:xfrm>
                <a:off x="9195844" y="1479549"/>
                <a:ext cx="95794" cy="100584"/>
              </a:xfrm>
              <a:prstGeom prst="ellipse">
                <a:avLst/>
              </a:prstGeom>
              <a:solidFill>
                <a:srgbClr val="009DDC"/>
              </a:solidFill>
              <a:ln w="2857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BE5199D-713E-225F-35D8-6768EFC9D0E5}"/>
                  </a:ext>
                </a:extLst>
              </p:cNvPr>
              <p:cNvSpPr/>
              <p:nvPr/>
            </p:nvSpPr>
            <p:spPr>
              <a:xfrm>
                <a:off x="3283131" y="2094552"/>
                <a:ext cx="5960610" cy="3622803"/>
              </a:xfrm>
              <a:prstGeom prst="roundRect">
                <a:avLst>
                  <a:gd name="adj" fmla="val 2646"/>
                </a:avLst>
              </a:prstGeom>
              <a:blipFill dpi="0" rotWithShape="1"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 w="28575" cap="flat" cmpd="sng" algn="ctr">
                <a:solidFill>
                  <a:schemeClr val="bg1">
                    <a:lumMod val="95000"/>
                  </a:scheme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6BDE523-2BEA-3E39-AB01-D5F5823E1326}"/>
                </a:ext>
              </a:extLst>
            </p:cNvPr>
            <p:cNvSpPr/>
            <p:nvPr/>
          </p:nvSpPr>
          <p:spPr>
            <a:xfrm>
              <a:off x="2316480" y="2103047"/>
              <a:ext cx="862149" cy="727240"/>
            </a:xfrm>
            <a:prstGeom prst="roundRect">
              <a:avLst>
                <a:gd name="adj" fmla="val 2646"/>
              </a:avLst>
            </a:prstGeom>
            <a:blipFill dpi="0"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D4BB2D8-D683-165B-1B62-7D6413113B49}"/>
                </a:ext>
              </a:extLst>
            </p:cNvPr>
            <p:cNvSpPr/>
            <p:nvPr/>
          </p:nvSpPr>
          <p:spPr>
            <a:xfrm>
              <a:off x="2316480" y="2959679"/>
              <a:ext cx="862149" cy="727240"/>
            </a:xfrm>
            <a:prstGeom prst="roundRect">
              <a:avLst>
                <a:gd name="adj" fmla="val 2646"/>
              </a:avLst>
            </a:prstGeom>
            <a:blipFill dpi="0"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7154AD6-B26F-BF43-FDA3-8F63742226CB}"/>
                </a:ext>
              </a:extLst>
            </p:cNvPr>
            <p:cNvSpPr/>
            <p:nvPr/>
          </p:nvSpPr>
          <p:spPr>
            <a:xfrm>
              <a:off x="2316480" y="3835965"/>
              <a:ext cx="862149" cy="727240"/>
            </a:xfrm>
            <a:prstGeom prst="roundRect">
              <a:avLst>
                <a:gd name="adj" fmla="val 2646"/>
              </a:avLst>
            </a:prstGeom>
            <a:blipFill dpi="0"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123339F-9B85-C8DF-06A9-017592924B65}"/>
                </a:ext>
              </a:extLst>
            </p:cNvPr>
            <p:cNvSpPr/>
            <p:nvPr/>
          </p:nvSpPr>
          <p:spPr>
            <a:xfrm>
              <a:off x="2316480" y="4687039"/>
              <a:ext cx="862149" cy="727240"/>
            </a:xfrm>
            <a:prstGeom prst="roundRect">
              <a:avLst>
                <a:gd name="adj" fmla="val 2646"/>
              </a:avLst>
            </a:prstGeom>
            <a:blipFill dpi="0"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 cap="flat" cmpd="sng" algn="ctr">
              <a:solidFill>
                <a:schemeClr val="bg1">
                  <a:lumMod val="9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7B8D27C-F358-30B3-D193-A4FC586AB390}"/>
                </a:ext>
              </a:extLst>
            </p:cNvPr>
            <p:cNvSpPr txBox="1"/>
            <p:nvPr/>
          </p:nvSpPr>
          <p:spPr>
            <a:xfrm>
              <a:off x="3457302" y="2167355"/>
              <a:ext cx="304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Reading Initiative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0480A8-7A77-2D86-6A59-0477DDC0F803}"/>
                </a:ext>
              </a:extLst>
            </p:cNvPr>
            <p:cNvSpPr txBox="1"/>
            <p:nvPr/>
          </p:nvSpPr>
          <p:spPr>
            <a:xfrm>
              <a:off x="3535679" y="2751019"/>
              <a:ext cx="389522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Encourage reading from a young age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Donate physical books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Provide low-cost e-readers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Focus on struggling students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E67CD08-04F3-1D4D-C472-677B3864D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355268" y="3664003"/>
              <a:ext cx="2616544" cy="1744363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109118A7-C2B1-EF72-6464-2BBD7F8AC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30901" y="4301504"/>
              <a:ext cx="465278" cy="469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6478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1F45-E120-C807-57B0-D08E105D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Prompting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576898-88DF-6404-DED1-FE34F397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17BF24-748A-9C5C-540C-59568F5A846D}"/>
              </a:ext>
            </a:extLst>
          </p:cNvPr>
          <p:cNvGrpSpPr/>
          <p:nvPr/>
        </p:nvGrpSpPr>
        <p:grpSpPr>
          <a:xfrm>
            <a:off x="1069290" y="1375954"/>
            <a:ext cx="10053421" cy="4320198"/>
            <a:chOff x="704323" y="1262741"/>
            <a:chExt cx="10053421" cy="432019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3E8548-D327-B299-346C-4B1AF8EE1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331884" y="2693435"/>
              <a:ext cx="4334256" cy="288950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B3EADD-6FCA-1616-58D5-C2600C96C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20425" y="2690949"/>
              <a:ext cx="4337985" cy="289199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D672E7-C8DC-7171-F026-BCD1D74F7EF2}"/>
                </a:ext>
              </a:extLst>
            </p:cNvPr>
            <p:cNvGrpSpPr/>
            <p:nvPr/>
          </p:nvGrpSpPr>
          <p:grpSpPr>
            <a:xfrm>
              <a:off x="5959946" y="1262741"/>
              <a:ext cx="4797798" cy="1166945"/>
              <a:chOff x="708659" y="4850218"/>
              <a:chExt cx="4797798" cy="1166945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EF8FE485-5885-BA18-F73C-840AC07B9BB1}"/>
                  </a:ext>
                </a:extLst>
              </p:cNvPr>
              <p:cNvSpPr/>
              <p:nvPr/>
            </p:nvSpPr>
            <p:spPr>
              <a:xfrm>
                <a:off x="905691" y="4850218"/>
                <a:ext cx="4600766" cy="1166945"/>
              </a:xfrm>
              <a:prstGeom prst="roundRect">
                <a:avLst>
                  <a:gd name="adj" fmla="val 11595"/>
                </a:avLst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1D376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396643-61BD-84AF-F71A-89357F2E3C27}"/>
                  </a:ext>
                </a:extLst>
              </p:cNvPr>
              <p:cNvSpPr txBox="1"/>
              <p:nvPr/>
            </p:nvSpPr>
            <p:spPr>
              <a:xfrm>
                <a:off x="708659" y="4898939"/>
                <a:ext cx="139445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600" b="1" u="sng" dirty="0"/>
                  <a:t>Positive</a:t>
                </a:r>
              </a:p>
              <a:p>
                <a:pPr algn="r"/>
                <a:endParaRPr lang="en-US" sz="1600" b="1" dirty="0"/>
              </a:p>
              <a:p>
                <a:pPr algn="r"/>
                <a:endParaRPr lang="en-US" sz="1600" b="1" u="sng" dirty="0"/>
              </a:p>
              <a:p>
                <a:pPr algn="r"/>
                <a:r>
                  <a:rPr lang="en-US" sz="1600" b="1" u="sng" dirty="0">
                    <a:solidFill>
                      <a:srgbClr val="E71854"/>
                    </a:solidFill>
                  </a:rPr>
                  <a:t>Negative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425BB1-64BE-435E-43B4-180CFD482676}"/>
                  </a:ext>
                </a:extLst>
              </p:cNvPr>
              <p:cNvSpPr txBox="1"/>
              <p:nvPr/>
            </p:nvSpPr>
            <p:spPr>
              <a:xfrm>
                <a:off x="2103120" y="4928638"/>
                <a:ext cx="308718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painting of a snowy day, city street, winter, street lights, Norman Rockwell</a:t>
                </a:r>
                <a:endParaRPr lang="en-US" sz="1400" b="1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6F3E9C-40BE-C492-0478-B9FBD5F0B6BE}"/>
                  </a:ext>
                </a:extLst>
              </p:cNvPr>
              <p:cNvSpPr txBox="1"/>
              <p:nvPr/>
            </p:nvSpPr>
            <p:spPr>
              <a:xfrm>
                <a:off x="2103120" y="5649784"/>
                <a:ext cx="33310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E71854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cars, vehicles</a:t>
                </a:r>
                <a:endParaRPr lang="en-US" sz="1400" b="1" dirty="0">
                  <a:solidFill>
                    <a:srgbClr val="E71854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47D8D36-E7A7-9D48-2829-6E14FC635696}"/>
                </a:ext>
              </a:extLst>
            </p:cNvPr>
            <p:cNvGrpSpPr/>
            <p:nvPr/>
          </p:nvGrpSpPr>
          <p:grpSpPr>
            <a:xfrm>
              <a:off x="704323" y="1402079"/>
              <a:ext cx="4797798" cy="862151"/>
              <a:chOff x="708659" y="4850218"/>
              <a:chExt cx="4797798" cy="862151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C5B1069-A520-48CC-66EB-650078A9C344}"/>
                  </a:ext>
                </a:extLst>
              </p:cNvPr>
              <p:cNvSpPr/>
              <p:nvPr/>
            </p:nvSpPr>
            <p:spPr>
              <a:xfrm>
                <a:off x="905691" y="4850218"/>
                <a:ext cx="4600766" cy="862151"/>
              </a:xfrm>
              <a:prstGeom prst="roundRect">
                <a:avLst>
                  <a:gd name="adj" fmla="val 11595"/>
                </a:avLst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1D3763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en-US" sz="1100" b="1" kern="0" dirty="0">
                  <a:solidFill>
                    <a:srgbClr val="FF0000"/>
                  </a:solidFill>
                  <a:latin typeface="Arial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F4F775-314F-723C-2115-C23E9748E2A1}"/>
                  </a:ext>
                </a:extLst>
              </p:cNvPr>
              <p:cNvSpPr txBox="1"/>
              <p:nvPr/>
            </p:nvSpPr>
            <p:spPr>
              <a:xfrm>
                <a:off x="708659" y="4898939"/>
                <a:ext cx="139445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600" b="1" u="sng" dirty="0"/>
                  <a:t>Positive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66650C-FC6B-CAC2-98CA-9CE5F497DF07}"/>
                  </a:ext>
                </a:extLst>
              </p:cNvPr>
              <p:cNvSpPr txBox="1"/>
              <p:nvPr/>
            </p:nvSpPr>
            <p:spPr>
              <a:xfrm>
                <a:off x="2103120" y="4928638"/>
                <a:ext cx="308718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painting of a snowy day, city street, winter, street lights, Norman Rockwell</a:t>
                </a:r>
                <a:endParaRPr lang="en-US" sz="14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9099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C5BA-3DF9-F66B-FC8E-ED5FC700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Interrogation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26FB61-C1ED-4E87-CB5B-19AAF895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843141-769B-1834-B70E-6D6A05702501}"/>
              </a:ext>
            </a:extLst>
          </p:cNvPr>
          <p:cNvGrpSpPr/>
          <p:nvPr/>
        </p:nvGrpSpPr>
        <p:grpSpPr>
          <a:xfrm>
            <a:off x="2151065" y="1227899"/>
            <a:ext cx="7889871" cy="4763599"/>
            <a:chOff x="1605001" y="1027601"/>
            <a:chExt cx="7889871" cy="4763599"/>
          </a:xfrm>
        </p:grpSpPr>
        <p:pic>
          <p:nvPicPr>
            <p:cNvPr id="5" name="Picture 4" descr="A person holding a saxophone&#10;&#10;Description automatically generated with medium confidence">
              <a:extLst>
                <a:ext uri="{FF2B5EF4-FFF2-40B4-BE49-F238E27FC236}">
                  <a16:creationId xmlns:a16="http://schemas.microsoft.com/office/drawing/2014/main" id="{3762AE14-16E7-A631-D93B-2C0F30F23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20538" y="1428205"/>
              <a:ext cx="2000069" cy="300010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C93B305-A473-C117-1BC0-5A97D5BEF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29571" y="1429076"/>
              <a:ext cx="1999488" cy="2999232"/>
            </a:xfrm>
            <a:prstGeom prst="rect">
              <a:avLst/>
            </a:prstGeom>
          </p:spPr>
        </p:pic>
        <p:sp>
          <p:nvSpPr>
            <p:cNvPr id="8" name="Text Box 307">
              <a:extLst>
                <a:ext uri="{FF2B5EF4-FFF2-40B4-BE49-F238E27FC236}">
                  <a16:creationId xmlns:a16="http://schemas.microsoft.com/office/drawing/2014/main" id="{C574F1C6-7043-59F5-22AE-8F4D18939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640" y="1027601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Interrogated Image</a:t>
              </a:r>
            </a:p>
          </p:txBody>
        </p:sp>
        <p:sp>
          <p:nvSpPr>
            <p:cNvPr id="9" name="Text Box 307">
              <a:extLst>
                <a:ext uri="{FF2B5EF4-FFF2-40B4-BE49-F238E27FC236}">
                  <a16:creationId xmlns:a16="http://schemas.microsoft.com/office/drawing/2014/main" id="{3B3669DF-DAB6-1DEC-E1C5-E09EB4B46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2383" y="1027601"/>
              <a:ext cx="19538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Generated Image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05DCB43-C951-83E8-0C62-990E7B05680F}"/>
                </a:ext>
              </a:extLst>
            </p:cNvPr>
            <p:cNvSpPr/>
            <p:nvPr/>
          </p:nvSpPr>
          <p:spPr>
            <a:xfrm>
              <a:off x="5688521" y="4919940"/>
              <a:ext cx="3806351" cy="871260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DDF6BB-60AD-D96C-91FC-B1994C61C262}"/>
                </a:ext>
              </a:extLst>
            </p:cNvPr>
            <p:cNvSpPr txBox="1"/>
            <p:nvPr/>
          </p:nvSpPr>
          <p:spPr>
            <a:xfrm>
              <a:off x="5737218" y="4919940"/>
              <a:ext cx="370895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woman in a red shirt, guitar, dark room, green walls, grass in foreground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D244779-3FA8-B763-D31C-302257EDC92B}"/>
                </a:ext>
              </a:extLst>
            </p:cNvPr>
            <p:cNvSpPr txBox="1"/>
            <p:nvPr/>
          </p:nvSpPr>
          <p:spPr>
            <a:xfrm>
              <a:off x="1605001" y="4919940"/>
              <a:ext cx="370895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+mj-lt"/>
                  <a:cs typeface="Courier New" panose="02070309020205020404" pitchFamily="49" charset="0"/>
                </a:rPr>
                <a:t>a woman in a blue shirt playing a saxophone in a dark room with red walls and grass in the foreground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6563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23140-A660-30FE-6C3D-BFA99E6E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0EBC0E-EA48-6F59-4041-9FF257EA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Prompt Engineering with Image and Video Generation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06592-7198-675A-D399-B4CC64B1EE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Be as descriptive as possible.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Research and reuse effective prompts.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Ask an LLM to write prompts.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Use reference images whenever possible.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Consider image aspect ratio.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Consider training data.</a:t>
            </a:r>
          </a:p>
          <a:p>
            <a:pPr marL="457200" indent="-457200">
              <a:buClr>
                <a:srgbClr val="1D3764"/>
              </a:buClr>
              <a:buFont typeface="Arial" panose="020B0604020202020204" pitchFamily="34" charset="0"/>
              <a:buChar char="•"/>
            </a:pPr>
            <a:r>
              <a:rPr lang="en-US" dirty="0"/>
              <a:t>Generate as many images as feasible.</a:t>
            </a:r>
          </a:p>
        </p:txBody>
      </p:sp>
    </p:spTree>
    <p:extLst>
      <p:ext uri="{BB962C8B-B14F-4D97-AF65-F5344CB8AC3E}">
        <p14:creationId xmlns:p14="http://schemas.microsoft.com/office/powerpoint/2010/main" val="1371168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984A-E3CA-8416-633B-AE839F1E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Image and Video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8F0404-E8B4-FB4A-ED10-81E1B4C4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DE6D0F1-E3EA-556A-5A68-3C591DC79C33}"/>
              </a:ext>
            </a:extLst>
          </p:cNvPr>
          <p:cNvGrpSpPr/>
          <p:nvPr/>
        </p:nvGrpSpPr>
        <p:grpSpPr>
          <a:xfrm>
            <a:off x="606325" y="1831427"/>
            <a:ext cx="10872952" cy="3113124"/>
            <a:chOff x="606325" y="1831427"/>
            <a:chExt cx="10872952" cy="3113124"/>
          </a:xfrm>
        </p:grpSpPr>
        <p:pic>
          <p:nvPicPr>
            <p:cNvPr id="7" name="Picture 6" descr="A group of people in suits shaking hands&#10;&#10;Description automatically generated with low confidence">
              <a:extLst>
                <a:ext uri="{FF2B5EF4-FFF2-40B4-BE49-F238E27FC236}">
                  <a16:creationId xmlns:a16="http://schemas.microsoft.com/office/drawing/2014/main" id="{6789211E-7D72-49E2-3095-0832AAB8D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26373" y="1831427"/>
              <a:ext cx="2875328" cy="1916885"/>
            </a:xfrm>
            <a:prstGeom prst="rect">
              <a:avLst/>
            </a:prstGeom>
          </p:spPr>
        </p:pic>
        <p:pic>
          <p:nvPicPr>
            <p:cNvPr id="9" name="Picture 8" descr="A person sitting at a desk with a computer and a cup&#10;&#10;Description automatically generated with low confidence">
              <a:extLst>
                <a:ext uri="{FF2B5EF4-FFF2-40B4-BE49-F238E27FC236}">
                  <a16:creationId xmlns:a16="http://schemas.microsoft.com/office/drawing/2014/main" id="{5903985D-FB19-3C93-C1A7-1B0988B12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96594" y="1968135"/>
              <a:ext cx="2670266" cy="1780177"/>
            </a:xfrm>
            <a:prstGeom prst="rect">
              <a:avLst/>
            </a:prstGeom>
          </p:spPr>
        </p:pic>
        <p:pic>
          <p:nvPicPr>
            <p:cNvPr id="13" name="Picture 12" descr="A person in a suit sitting at a table with a computer&#10;&#10;Description automatically generated with low confidence">
              <a:extLst>
                <a:ext uri="{FF2B5EF4-FFF2-40B4-BE49-F238E27FC236}">
                  <a16:creationId xmlns:a16="http://schemas.microsoft.com/office/drawing/2014/main" id="{D6FDB556-6AEE-2503-7E54-7305D664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70461" y="1948805"/>
              <a:ext cx="2670266" cy="1780178"/>
            </a:xfrm>
            <a:prstGeom prst="rect">
              <a:avLst/>
            </a:prstGeom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62A2B1B-E1F9-2F8A-D4FF-8C1A2DDFD370}"/>
                </a:ext>
              </a:extLst>
            </p:cNvPr>
            <p:cNvSpPr/>
            <p:nvPr/>
          </p:nvSpPr>
          <p:spPr>
            <a:xfrm>
              <a:off x="1949341" y="4021187"/>
              <a:ext cx="3033307" cy="923364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F0532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40432C-0AB5-51CD-91FF-F69B65B8A434}"/>
                </a:ext>
              </a:extLst>
            </p:cNvPr>
            <p:cNvSpPr txBox="1"/>
            <p:nvPr/>
          </p:nvSpPr>
          <p:spPr>
            <a:xfrm>
              <a:off x="2026373" y="4068893"/>
              <a:ext cx="29562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group of business people sitting around a table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3912980-7450-E3B8-41A8-DEAC5A24310D}"/>
                </a:ext>
              </a:extLst>
            </p:cNvPr>
            <p:cNvSpPr/>
            <p:nvPr/>
          </p:nvSpPr>
          <p:spPr>
            <a:xfrm>
              <a:off x="5197655" y="4021187"/>
              <a:ext cx="3033307" cy="923364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F0532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C0C744-5078-D9DE-E3CE-984752C3BCBE}"/>
                </a:ext>
              </a:extLst>
            </p:cNvPr>
            <p:cNvSpPr txBox="1"/>
            <p:nvPr/>
          </p:nvSpPr>
          <p:spPr>
            <a:xfrm>
              <a:off x="5274687" y="4068893"/>
              <a:ext cx="29562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woman sitting at a table with a laptop and a cup of coffee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6974B59-13F9-CCE1-0DBB-AC1C6B3E760B}"/>
                </a:ext>
              </a:extLst>
            </p:cNvPr>
            <p:cNvSpPr/>
            <p:nvPr/>
          </p:nvSpPr>
          <p:spPr>
            <a:xfrm>
              <a:off x="8445970" y="4021187"/>
              <a:ext cx="3033307" cy="923364"/>
            </a:xfrm>
            <a:prstGeom prst="roundRect">
              <a:avLst>
                <a:gd name="adj" fmla="val 11595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F0532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C129BE-4255-7154-2D46-ADFB8779B8E2}"/>
                </a:ext>
              </a:extLst>
            </p:cNvPr>
            <p:cNvSpPr txBox="1"/>
            <p:nvPr/>
          </p:nvSpPr>
          <p:spPr>
            <a:xfrm>
              <a:off x="8523002" y="4068893"/>
              <a:ext cx="29562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man in a suit sitting at a table with a laptop</a:t>
              </a:r>
            </a:p>
          </p:txBody>
        </p:sp>
        <p:sp>
          <p:nvSpPr>
            <p:cNvPr id="24" name="Text Box 307">
              <a:extLst>
                <a:ext uri="{FF2B5EF4-FFF2-40B4-BE49-F238E27FC236}">
                  <a16:creationId xmlns:a16="http://schemas.microsoft.com/office/drawing/2014/main" id="{FACC2953-3CBA-CA20-E078-9F81A40AC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325" y="2565835"/>
              <a:ext cx="116824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Training Image</a:t>
              </a:r>
            </a:p>
          </p:txBody>
        </p:sp>
        <p:sp>
          <p:nvSpPr>
            <p:cNvPr id="25" name="Text Box 307">
              <a:extLst>
                <a:ext uri="{FF2B5EF4-FFF2-40B4-BE49-F238E27FC236}">
                  <a16:creationId xmlns:a16="http://schemas.microsoft.com/office/drawing/2014/main" id="{0AC085D2-008B-EFF3-6969-65C29BFDB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325" y="4190481"/>
              <a:ext cx="116824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Image Label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9098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60FBCA-120F-59F3-3C99-EB8E6879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D269B7-0A22-6B1C-EC75-BCA3642C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Image-Generation Tools</a:t>
            </a:r>
          </a:p>
        </p:txBody>
      </p:sp>
      <p:graphicFrame>
        <p:nvGraphicFramePr>
          <p:cNvPr id="7" name="Group 23">
            <a:extLst>
              <a:ext uri="{FF2B5EF4-FFF2-40B4-BE49-F238E27FC236}">
                <a16:creationId xmlns:a16="http://schemas.microsoft.com/office/drawing/2014/main" id="{86C9C343-8710-D059-3A5D-ED2855A01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463980"/>
              </p:ext>
            </p:extLst>
          </p:nvPr>
        </p:nvGraphicFramePr>
        <p:xfrm>
          <a:off x="1841379" y="2235566"/>
          <a:ext cx="8509241" cy="2362200"/>
        </p:xfrm>
        <a:graphic>
          <a:graphicData uri="http://schemas.openxmlformats.org/drawingml/2006/table">
            <a:tbl>
              <a:tblPr/>
              <a:tblGrid>
                <a:gridCol w="1929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9809">
                  <a:extLst>
                    <a:ext uri="{9D8B030D-6E8A-4147-A177-3AD203B41FA5}">
                      <a16:colId xmlns:a16="http://schemas.microsoft.com/office/drawing/2014/main" val="3915219938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/>
                          <a:cs typeface="Calibri"/>
                        </a:rPr>
                        <a:t>Tool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Description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DALL·E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Developed by OpenAI. In the past, it powered image generation in ChatGPT and Copilot.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Midjourney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Image generator by Midjourney. Available as a paid subscription.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Adobe Firefly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Adobe's image generator. Available through Photoshop and other CC apps.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12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Stable Diffusion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Image-generation model by Stability AI. Publicly accessible.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4587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FLUX.1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Image-generation model by Black Forest Labs. Publicly accessible.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20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819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0C1245-DE06-352D-8CAC-AB3F262B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DC3FAB-8033-DBBE-D711-86C8D9A1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Video-Generation Tools</a:t>
            </a:r>
          </a:p>
        </p:txBody>
      </p:sp>
      <p:graphicFrame>
        <p:nvGraphicFramePr>
          <p:cNvPr id="5" name="Group 23">
            <a:extLst>
              <a:ext uri="{FF2B5EF4-FFF2-40B4-BE49-F238E27FC236}">
                <a16:creationId xmlns:a16="http://schemas.microsoft.com/office/drawing/2014/main" id="{FAE4B9A7-E2F3-8E57-CC87-C845A81AB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284571"/>
              </p:ext>
            </p:extLst>
          </p:nvPr>
        </p:nvGraphicFramePr>
        <p:xfrm>
          <a:off x="1841379" y="2438400"/>
          <a:ext cx="8509241" cy="1981200"/>
        </p:xfrm>
        <a:graphic>
          <a:graphicData uri="http://schemas.openxmlformats.org/drawingml/2006/table">
            <a:tbl>
              <a:tblPr/>
              <a:tblGrid>
                <a:gridCol w="221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8883">
                  <a:extLst>
                    <a:ext uri="{9D8B030D-6E8A-4147-A177-3AD203B41FA5}">
                      <a16:colId xmlns:a16="http://schemas.microsoft.com/office/drawing/2014/main" val="3915219938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/>
                          <a:cs typeface="Calibri"/>
                        </a:rPr>
                        <a:t>Tool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Description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Sora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OpenAI's video generator. Available to paid ChatGPT subscribers only.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Veo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Google DeepMind's video generator. Available in Gemini, including to free users.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Runway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Video generator by Runway AI</a:t>
                      </a:r>
                      <a:r>
                        <a:rPr kumimoji="0" lang="en-US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, Inc. </a:t>
                      </a: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Uses a paid subscription model.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Synthesia</a:t>
                      </a:r>
                      <a:endParaRPr kumimoji="0" 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B0F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Generates realistic avatars of people speaking. Requires a paid subscription.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1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714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57598C-E1D0-2419-AC91-BFFA90AB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994DB7-9A84-D832-286F-E020F23D7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Activity: Prompting an AI to Generate Images</a:t>
            </a:r>
          </a:p>
        </p:txBody>
      </p:sp>
    </p:spTree>
    <p:extLst>
      <p:ext uri="{BB962C8B-B14F-4D97-AF65-F5344CB8AC3E}">
        <p14:creationId xmlns:p14="http://schemas.microsoft.com/office/powerpoint/2010/main" val="2083137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9574-4728-752D-B1EC-9E9957D4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4BED5-ADAD-5769-7D33-03E761D1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D7AA9-D104-5ED8-38B3-6DBB2A9D96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Solve Business Problems Using Image and Video Generation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64BC721-1B91-D215-708B-AA45607C6C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3372249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E5394D-58DC-E9A1-73E1-740E40C7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971FA-19B3-8A97-9707-EF266D55D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media posts</a:t>
            </a:r>
          </a:p>
          <a:p>
            <a:r>
              <a:rPr lang="en-US" dirty="0"/>
              <a:t>Product stylizing</a:t>
            </a:r>
          </a:p>
          <a:p>
            <a:r>
              <a:rPr lang="en-US" dirty="0"/>
              <a:t>Explanatory visuals</a:t>
            </a:r>
          </a:p>
          <a:p>
            <a:r>
              <a:rPr lang="en-US" dirty="0"/>
              <a:t>Dynamic content generation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7E944-C20A-B2DC-5D48-E4D6C803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Assets for Promotional Materials</a:t>
            </a:r>
          </a:p>
        </p:txBody>
      </p:sp>
      <p:pic>
        <p:nvPicPr>
          <p:cNvPr id="8" name="Picture 7" descr="A picture containing text, screenshot, electronic device, gadget&#10;&#10;Description automatically generated">
            <a:extLst>
              <a:ext uri="{FF2B5EF4-FFF2-40B4-BE49-F238E27FC236}">
                <a16:creationId xmlns:a16="http://schemas.microsoft.com/office/drawing/2014/main" id="{C5093D07-2350-1F8E-3C6C-D4EB2B05C8F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952521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08E466-046C-3710-F445-55F9BEA2B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2E877-6A2F-A262-7C35-77623FDEA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testimonials</a:t>
            </a:r>
          </a:p>
          <a:p>
            <a:r>
              <a:rPr lang="en-US" dirty="0"/>
              <a:t>Improved localization</a:t>
            </a:r>
          </a:p>
          <a:p>
            <a:r>
              <a:rPr lang="en-US" dirty="0"/>
              <a:t>Historical-footage recreation</a:t>
            </a:r>
          </a:p>
          <a:p>
            <a:r>
              <a:rPr lang="en-US" dirty="0"/>
              <a:t>Stock-asset enhancement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5E6EED-74AC-2EF9-7DFA-39CC9EDF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Assets for Press Releases</a:t>
            </a:r>
          </a:p>
        </p:txBody>
      </p:sp>
      <p:pic>
        <p:nvPicPr>
          <p:cNvPr id="8" name="Picture 7" descr="A person reading a magazine&#10;&#10;Description automatically generated with medium confidence">
            <a:extLst>
              <a:ext uri="{FF2B5EF4-FFF2-40B4-BE49-F238E27FC236}">
                <a16:creationId xmlns:a16="http://schemas.microsoft.com/office/drawing/2014/main" id="{1D28D197-AB5A-5655-F554-94BDC00FD2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589775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5B1FA8-CC4C-9FAA-F887-22846DB62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EF6C4-A760-8CBA-F6BB-19AEA0A07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Slide-show visuals</a:t>
            </a:r>
          </a:p>
          <a:p>
            <a:r>
              <a:rPr lang="en-US" dirty="0"/>
              <a:t>Virtual trainer videos</a:t>
            </a:r>
          </a:p>
          <a:p>
            <a:r>
              <a:rPr lang="en-US" dirty="0"/>
              <a:t>Interactive scenarios and quizzes</a:t>
            </a:r>
          </a:p>
          <a:p>
            <a:r>
              <a:rPr lang="en-US" dirty="0"/>
              <a:t>Adaptive learning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C78A7B-9808-04CD-1F36-5652C268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Assets for Training Materials</a:t>
            </a:r>
          </a:p>
        </p:txBody>
      </p:sp>
      <p:pic>
        <p:nvPicPr>
          <p:cNvPr id="6" name="Picture 5" descr="A tablet on top of a book&#10;&#10;Description automatically generated with low confidence">
            <a:extLst>
              <a:ext uri="{FF2B5EF4-FFF2-40B4-BE49-F238E27FC236}">
                <a16:creationId xmlns:a16="http://schemas.microsoft.com/office/drawing/2014/main" id="{CE2324B6-15A0-97CC-47F6-0C839AB288B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167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707238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D1A443-54AB-8317-D7AD-2B93AC2A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B0071-6945-ED43-69DF-4E9645522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Cutscene generation</a:t>
            </a:r>
          </a:p>
          <a:p>
            <a:r>
              <a:rPr lang="en-US" dirty="0"/>
              <a:t>Character customization</a:t>
            </a:r>
          </a:p>
          <a:p>
            <a:r>
              <a:rPr lang="en-US" dirty="0"/>
              <a:t>Environment generation</a:t>
            </a:r>
          </a:p>
          <a:p>
            <a:r>
              <a:rPr lang="en-US" dirty="0"/>
              <a:t>User-interface design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A29E66-3370-FC88-DE2F-F23AE45B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Assets for Games and Virtual Worlds</a:t>
            </a:r>
          </a:p>
        </p:txBody>
      </p:sp>
      <p:pic>
        <p:nvPicPr>
          <p:cNvPr id="7" name="Picture 6" descr="A picture containing sphere, aquarium, reef, plant&#10;&#10;Description automatically generated">
            <a:extLst>
              <a:ext uri="{FF2B5EF4-FFF2-40B4-BE49-F238E27FC236}">
                <a16:creationId xmlns:a16="http://schemas.microsoft.com/office/drawing/2014/main" id="{0DF6A4E0-549A-9815-08EF-CCCD36C4FA3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2088" y="1627632"/>
            <a:ext cx="4069080" cy="40690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646747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72441-9E99-5485-87C7-9F233CAB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F310A-B091-9807-0429-10381B5ED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Logo design</a:t>
            </a:r>
          </a:p>
          <a:p>
            <a:r>
              <a:rPr lang="en-US" dirty="0"/>
              <a:t>Packaging design</a:t>
            </a:r>
          </a:p>
          <a:p>
            <a:r>
              <a:rPr lang="en-US" dirty="0"/>
              <a:t>Brand imagery</a:t>
            </a:r>
          </a:p>
          <a:p>
            <a:r>
              <a:rPr lang="en-US" dirty="0"/>
              <a:t>Brand personalization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CE982B-4093-1464-3401-7316AC9F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Corporate Branding</a:t>
            </a:r>
          </a:p>
        </p:txBody>
      </p:sp>
      <p:pic>
        <p:nvPicPr>
          <p:cNvPr id="8" name="Picture 7" descr="A group of signs on a wall&#10;&#10;Description automatically generated with low confidence">
            <a:extLst>
              <a:ext uri="{FF2B5EF4-FFF2-40B4-BE49-F238E27FC236}">
                <a16:creationId xmlns:a16="http://schemas.microsoft.com/office/drawing/2014/main" id="{F94AB097-1B3D-3C9B-303B-B111B0EDCF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131841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111772-2B03-8020-A11E-756F3197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00CEA-3A4D-76F1-E9C7-D599B81D6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Infographic design</a:t>
            </a:r>
          </a:p>
          <a:p>
            <a:r>
              <a:rPr lang="en-US" dirty="0"/>
              <a:t>Storytelling visualizations</a:t>
            </a:r>
          </a:p>
          <a:p>
            <a:r>
              <a:rPr lang="en-US" dirty="0"/>
              <a:t>Interactive visualizations</a:t>
            </a:r>
          </a:p>
          <a:p>
            <a:r>
              <a:rPr lang="en-US" dirty="0"/>
              <a:t>Icon design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F0644A-4180-A1AF-2AC7-A491F3E7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pic>
        <p:nvPicPr>
          <p:cNvPr id="6" name="Picture 5" descr="A person pointing at a graph&#10;&#10;Description automatically generated with medium confidence">
            <a:extLst>
              <a:ext uri="{FF2B5EF4-FFF2-40B4-BE49-F238E27FC236}">
                <a16:creationId xmlns:a16="http://schemas.microsoft.com/office/drawing/2014/main" id="{F0EB6F21-D20E-2851-2499-B946004148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86001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568346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7053A6-CF8C-5892-C793-493D087C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401E4-BA84-A2FA-7FA9-5A3969224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 generation</a:t>
            </a:r>
          </a:p>
          <a:p>
            <a:r>
              <a:rPr lang="en-US" dirty="0"/>
              <a:t>Virtual prototyping</a:t>
            </a:r>
          </a:p>
          <a:p>
            <a:r>
              <a:rPr lang="en-US" dirty="0"/>
              <a:t>Material exploration</a:t>
            </a:r>
          </a:p>
          <a:p>
            <a:r>
              <a:rPr lang="en-US" dirty="0"/>
              <a:t>Assembly visualization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94B848-8D2A-22D2-B682-B4A294C0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Design and Prototyping</a:t>
            </a:r>
          </a:p>
        </p:txBody>
      </p:sp>
      <p:pic>
        <p:nvPicPr>
          <p:cNvPr id="6" name="Picture 5" descr="A picture containing person, clothing, drawing, art&#10;&#10;Description automatically generated">
            <a:extLst>
              <a:ext uri="{FF2B5EF4-FFF2-40B4-BE49-F238E27FC236}">
                <a16:creationId xmlns:a16="http://schemas.microsoft.com/office/drawing/2014/main" id="{41F9462D-991B-9D14-8F77-105210C65D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167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654207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2B24AB-9407-14D6-C44E-F24401CC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B5474-4283-33BC-91E4-8FB985B98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product listings</a:t>
            </a:r>
          </a:p>
          <a:p>
            <a:r>
              <a:rPr lang="en-US" dirty="0"/>
              <a:t>Background-image generation</a:t>
            </a:r>
          </a:p>
          <a:p>
            <a:r>
              <a:rPr lang="en-US" dirty="0"/>
              <a:t>Layout generation</a:t>
            </a:r>
          </a:p>
          <a:p>
            <a:r>
              <a:rPr lang="en-US" dirty="0"/>
              <a:t>Dynamic image generation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27E8B8-A12E-2E18-44CC-3F4097BE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and App Styling</a:t>
            </a:r>
          </a:p>
        </p:txBody>
      </p:sp>
      <p:pic>
        <p:nvPicPr>
          <p:cNvPr id="6" name="Picture 5" descr="A picture containing pen, office supplies, stationery, office instrument&#10;&#10;Description automatically generated">
            <a:extLst>
              <a:ext uri="{FF2B5EF4-FFF2-40B4-BE49-F238E27FC236}">
                <a16:creationId xmlns:a16="http://schemas.microsoft.com/office/drawing/2014/main" id="{BB632B57-24DF-6725-E478-108B3B2FDF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850256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809AEE-13A5-561B-0386-D1FC8439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0AC12-871F-D488-5783-D0AF95003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clothing demonstration</a:t>
            </a:r>
          </a:p>
          <a:p>
            <a:r>
              <a:rPr lang="en-US" dirty="0"/>
              <a:t>Virtual furniture demonstration</a:t>
            </a:r>
          </a:p>
          <a:p>
            <a:r>
              <a:rPr lang="en-US" dirty="0"/>
              <a:t>Virtual travelling</a:t>
            </a:r>
          </a:p>
          <a:p>
            <a:r>
              <a:rPr lang="en-US" dirty="0"/>
              <a:t>Augmented-reality (AR) visual overlays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62F07D-583F-037A-62F9-45CF2D3D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Changing Rooms and Other Try-On Experiences</a:t>
            </a:r>
          </a:p>
        </p:txBody>
      </p:sp>
      <p:pic>
        <p:nvPicPr>
          <p:cNvPr id="6" name="Picture 5" descr="A picture containing indoor, art, museum, interior design&#10;&#10;Description automatically generated">
            <a:extLst>
              <a:ext uri="{FF2B5EF4-FFF2-40B4-BE49-F238E27FC236}">
                <a16:creationId xmlns:a16="http://schemas.microsoft.com/office/drawing/2014/main" id="{ABB6C60B-93DE-FAA2-1B79-F03F46EA91E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63063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80445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EA96B2-2C86-4F96-D946-4FABDAF3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48FD-13A1-686E-1385-8D5515BFD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enhancement</a:t>
            </a:r>
          </a:p>
          <a:p>
            <a:r>
              <a:rPr lang="en-US" dirty="0"/>
              <a:t>Image presentation</a:t>
            </a:r>
          </a:p>
          <a:p>
            <a:r>
              <a:rPr lang="en-US" dirty="0"/>
              <a:t>Disease-progression modeling</a:t>
            </a:r>
          </a:p>
          <a:p>
            <a:r>
              <a:rPr lang="en-US" dirty="0"/>
              <a:t>Treatment-plan visualization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D431E1-5064-6463-3A78-9F989CBD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Imaging and Diagnostics</a:t>
            </a:r>
          </a:p>
        </p:txBody>
      </p:sp>
      <p:pic>
        <p:nvPicPr>
          <p:cNvPr id="6" name="Picture 5" descr="A picture containing medical equipment, healthcare, medical, indoor&#10;&#10;Description automatically generated">
            <a:extLst>
              <a:ext uri="{FF2B5EF4-FFF2-40B4-BE49-F238E27FC236}">
                <a16:creationId xmlns:a16="http://schemas.microsoft.com/office/drawing/2014/main" id="{4016203D-6D65-9763-4EE1-B0AD9F09D57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711483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EA935A-BA79-2240-200D-A434B819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333A5-6100-D313-4CE4-873821579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an image-generation system help create the promotional material?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an image-generation system help make the try-on experience more realistic?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How might a video-generation system help make the product demonstrations more exciting and engaging?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8B7382-CE66-9095-B1FC-02F313D8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223" y="290945"/>
            <a:ext cx="9184698" cy="792482"/>
          </a:xfrm>
        </p:spPr>
        <p:txBody>
          <a:bodyPr/>
          <a:lstStyle/>
          <a:p>
            <a:r>
              <a:rPr lang="en-US" dirty="0"/>
              <a:t>Activity: Solving Business Problems Using Image and Video Generation</a:t>
            </a:r>
          </a:p>
        </p:txBody>
      </p:sp>
    </p:spTree>
    <p:extLst>
      <p:ext uri="{BB962C8B-B14F-4D97-AF65-F5344CB8AC3E}">
        <p14:creationId xmlns:p14="http://schemas.microsoft.com/office/powerpoint/2010/main" val="2297670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6C9B1-39AE-C744-9CCB-B1B902A6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0E2B-4E33-CB49-95F1-AC0E74888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How might you or a visual artist use image or video generation in your own organization?</a:t>
            </a:r>
          </a:p>
          <a:p>
            <a:r>
              <a:rPr lang="en-US" dirty="0"/>
              <a:t>What image- and video-generation tools do you or your organization use or plan to use in the future?</a:t>
            </a:r>
          </a:p>
        </p:txBody>
      </p:sp>
    </p:spTree>
    <p:extLst>
      <p:ext uri="{BB962C8B-B14F-4D97-AF65-F5344CB8AC3E}">
        <p14:creationId xmlns:p14="http://schemas.microsoft.com/office/powerpoint/2010/main" val="4093992310"/>
      </p:ext>
    </p:extLst>
  </p:cSld>
  <p:clrMapOvr>
    <a:masterClrMapping/>
  </p:clrMapOvr>
</p:sld>
</file>

<file path=ppt/theme/theme1.xml><?xml version="1.0" encoding="utf-8"?>
<a:theme xmlns:a="http://schemas.openxmlformats.org/drawingml/2006/main" name="CNX">
  <a:themeElements>
    <a:clrScheme name="CNX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F05323"/>
      </a:accent3>
      <a:accent4>
        <a:srgbClr val="1D3764"/>
      </a:accent4>
      <a:accent5>
        <a:srgbClr val="C1C5C9"/>
      </a:accent5>
      <a:accent6>
        <a:srgbClr val="009DDC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X_OV_Template_BIZ_1.4.potx" id="{FC8E00D4-5C18-4A7B-A267-D7664A2A2578}" vid="{0731E515-B91B-47E2-8213-240CAD6364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3E69E70E30E468993238898FCF574" ma:contentTypeVersion="4" ma:contentTypeDescription="Create a new document." ma:contentTypeScope="" ma:versionID="dc0a16b6a225e328636b89082a0fd4a9">
  <xsd:schema xmlns:xsd="http://www.w3.org/2001/XMLSchema" xmlns:xs="http://www.w3.org/2001/XMLSchema" xmlns:p="http://schemas.microsoft.com/office/2006/metadata/properties" xmlns:ns2="64dd2cb5-7863-47d4-b3f2-5b70c1925be2" targetNamespace="http://schemas.microsoft.com/office/2006/metadata/properties" ma:root="true" ma:fieldsID="b5d20a745309770a795a0694b6cd691c" ns2:_="">
    <xsd:import namespace="64dd2cb5-7863-47d4-b3f2-5b70c1925b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d2cb5-7863-47d4-b3f2-5b70c1925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412840-34B3-43D0-9071-24C4F0CCE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dd2cb5-7863-47d4-b3f2-5b70c1925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E0D89E-233E-41F5-B369-92342F4EEEF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77BBCB1-D0C3-46F8-A7FC-B2722C0802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CNX_OV_Template_BIZ_1.4</Template>
  <TotalTime>372</TotalTime>
  <Words>915</Words>
  <Application>Microsoft Office PowerPoint</Application>
  <PresentationFormat>Widescreen</PresentationFormat>
  <Paragraphs>223</Paragraphs>
  <Slides>34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Courier New</vt:lpstr>
      <vt:lpstr>Wingdings</vt:lpstr>
      <vt:lpstr>CNX</vt:lpstr>
      <vt:lpstr>Generating Images and Video Using AI</vt:lpstr>
      <vt:lpstr>Generating Images and Video Using AI</vt:lpstr>
      <vt:lpstr>PowerPoint Presentation</vt:lpstr>
      <vt:lpstr>Text to Image</vt:lpstr>
      <vt:lpstr>Image to Image</vt:lpstr>
      <vt:lpstr>Text + Image to Image</vt:lpstr>
      <vt:lpstr>Image Inpainting</vt:lpstr>
      <vt:lpstr>Image Outpainting</vt:lpstr>
      <vt:lpstr>Image Control</vt:lpstr>
      <vt:lpstr>Comparison of Control vs. No Control</vt:lpstr>
      <vt:lpstr>Image Upscaling (Upscaler Only)</vt:lpstr>
      <vt:lpstr>Image Upscaling (Upscaler + Control)</vt:lpstr>
      <vt:lpstr>Video-Generation Techniques</vt:lpstr>
      <vt:lpstr>Integrated AI for Images and Video</vt:lpstr>
      <vt:lpstr>Negative Prompting</vt:lpstr>
      <vt:lpstr>Image Interrogation</vt:lpstr>
      <vt:lpstr>Best Practices for Prompt Engineering with Image and Video Generation</vt:lpstr>
      <vt:lpstr>Fine Tuning Image and Video Models</vt:lpstr>
      <vt:lpstr>Image-Generation Tools</vt:lpstr>
      <vt:lpstr>Video-Generation Tools</vt:lpstr>
      <vt:lpstr>PowerPoint Presentation</vt:lpstr>
      <vt:lpstr>PowerPoint Presentation</vt:lpstr>
      <vt:lpstr>Visual Assets for Promotional Materials</vt:lpstr>
      <vt:lpstr>Visual Assets for Press Releases</vt:lpstr>
      <vt:lpstr>Visual Assets for Training Materials</vt:lpstr>
      <vt:lpstr>Visual Assets for Games and Virtual Worlds</vt:lpstr>
      <vt:lpstr>Corporate Branding</vt:lpstr>
      <vt:lpstr>Data Visualization</vt:lpstr>
      <vt:lpstr>Product Design and Prototyping</vt:lpstr>
      <vt:lpstr>Website and App Styling</vt:lpstr>
      <vt:lpstr>Virtual Changing Rooms and Other Try-On Experiences</vt:lpstr>
      <vt:lpstr>Medical Imaging and Diagnostics</vt:lpstr>
      <vt:lpstr>Activity: Solving Business Problems Using Image and Video Generation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Nufryk</dc:creator>
  <cp:lastModifiedBy>Michael Hoyt</cp:lastModifiedBy>
  <cp:revision>15</cp:revision>
  <dcterms:created xsi:type="dcterms:W3CDTF">2025-07-16T12:35:09Z</dcterms:created>
  <dcterms:modified xsi:type="dcterms:W3CDTF">2025-10-01T17:26:50Z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0x0101000FA3E69E70E30E468993238898FCF574</vt:lpwstr>
  </property>
</Properties>
</file>