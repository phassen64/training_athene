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7" r:id="rId4"/>
  </p:sldMasterIdLst>
  <p:notesMasterIdLst>
    <p:notesMasterId r:id="rId37"/>
  </p:notesMasterIdLst>
  <p:handoutMasterIdLst>
    <p:handoutMasterId r:id="rId38"/>
  </p:handoutMasterIdLst>
  <p:sldIdLst>
    <p:sldId id="273" r:id="rId5"/>
    <p:sldId id="272" r:id="rId6"/>
    <p:sldId id="264" r:id="rId7"/>
    <p:sldId id="277" r:id="rId8"/>
    <p:sldId id="278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5" r:id="rId22"/>
    <p:sldId id="296" r:id="rId23"/>
    <p:sldId id="292" r:id="rId24"/>
    <p:sldId id="293" r:id="rId25"/>
    <p:sldId id="294" r:id="rId26"/>
    <p:sldId id="297" r:id="rId27"/>
    <p:sldId id="274" r:id="rId28"/>
    <p:sldId id="299" r:id="rId29"/>
    <p:sldId id="300" r:id="rId30"/>
    <p:sldId id="301" r:id="rId31"/>
    <p:sldId id="302" r:id="rId32"/>
    <p:sldId id="303" r:id="rId33"/>
    <p:sldId id="304" r:id="rId34"/>
    <p:sldId id="306" r:id="rId35"/>
    <p:sldId id="271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ter Vorenkamp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764"/>
    <a:srgbClr val="009DDC"/>
    <a:srgbClr val="E71854"/>
    <a:srgbClr val="FAD02C"/>
    <a:srgbClr val="FAAF41"/>
    <a:srgbClr val="198CA8"/>
    <a:srgbClr val="2466AC"/>
    <a:srgbClr val="D1D2D3"/>
    <a:srgbClr val="F05A2B"/>
    <a:srgbClr val="1D38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7" autoAdjust="0"/>
    <p:restoredTop sz="96327" autoAdjust="0"/>
  </p:normalViewPr>
  <p:slideViewPr>
    <p:cSldViewPr snapToGrid="0">
      <p:cViewPr varScale="1">
        <p:scale>
          <a:sx n="79" d="100"/>
          <a:sy n="79" d="100"/>
        </p:scale>
        <p:origin x="696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2"/>
        <a:sy n="1" d="2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05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svg"/><Relationship Id="rId1" Type="http://schemas.openxmlformats.org/officeDocument/2006/relationships/image" Target="../media/image70.png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svg"/><Relationship Id="rId1" Type="http://schemas.openxmlformats.org/officeDocument/2006/relationships/image" Target="../media/image70.png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377DA2-AB13-4308-B2F0-A68E133C8A01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381C567-7A45-4EF7-ACBA-5BD07F59F750}">
      <dgm:prSet phldrT="[Text]" custT="1"/>
      <dgm:spPr/>
      <dgm:t>
        <a:bodyPr/>
        <a:lstStyle/>
        <a:p>
          <a:r>
            <a:rPr lang="en-US" sz="1200" b="1" dirty="0"/>
            <a:t>Identification</a:t>
          </a:r>
        </a:p>
      </dgm:t>
    </dgm:pt>
    <dgm:pt modelId="{2EBF9AB6-285E-4BE6-B5C7-247EA673759D}" type="parTrans" cxnId="{2B3B3C69-1408-49A7-AAE1-E4A6BEC4D980}">
      <dgm:prSet/>
      <dgm:spPr/>
      <dgm:t>
        <a:bodyPr/>
        <a:lstStyle/>
        <a:p>
          <a:endParaRPr lang="en-US"/>
        </a:p>
      </dgm:t>
    </dgm:pt>
    <dgm:pt modelId="{7194A7E0-D334-4220-958A-578BC6311E7A}" type="sibTrans" cxnId="{2B3B3C69-1408-49A7-AAE1-E4A6BEC4D980}">
      <dgm:prSet/>
      <dgm:spPr/>
      <dgm:t>
        <a:bodyPr/>
        <a:lstStyle/>
        <a:p>
          <a:endParaRPr lang="en-US" dirty="0"/>
        </a:p>
      </dgm:t>
    </dgm:pt>
    <dgm:pt modelId="{6AAB732D-F026-450D-B0A9-7FE57F42985D}">
      <dgm:prSet phldrT="[Text]"/>
      <dgm:spPr/>
      <dgm:t>
        <a:bodyPr/>
        <a:lstStyle/>
        <a:p>
          <a:r>
            <a:rPr lang="en-US" b="1" dirty="0"/>
            <a:t>Assessment</a:t>
          </a:r>
        </a:p>
      </dgm:t>
    </dgm:pt>
    <dgm:pt modelId="{53813AAC-E2BD-4E98-830C-A9328D4386BB}" type="parTrans" cxnId="{245F84F4-9A6B-4223-87F6-A511EA6A9C0C}">
      <dgm:prSet/>
      <dgm:spPr/>
      <dgm:t>
        <a:bodyPr/>
        <a:lstStyle/>
        <a:p>
          <a:endParaRPr lang="en-US"/>
        </a:p>
      </dgm:t>
    </dgm:pt>
    <dgm:pt modelId="{7562AFEE-FE47-4B35-8E55-7B9A5A4DDD57}" type="sibTrans" cxnId="{245F84F4-9A6B-4223-87F6-A511EA6A9C0C}">
      <dgm:prSet/>
      <dgm:spPr/>
      <dgm:t>
        <a:bodyPr/>
        <a:lstStyle/>
        <a:p>
          <a:endParaRPr lang="en-US" dirty="0"/>
        </a:p>
      </dgm:t>
    </dgm:pt>
    <dgm:pt modelId="{D7B2DDDD-079A-4F2B-B93C-B98BD7636A60}">
      <dgm:prSet phldrT="[Text]"/>
      <dgm:spPr/>
      <dgm:t>
        <a:bodyPr/>
        <a:lstStyle/>
        <a:p>
          <a:r>
            <a:rPr lang="en-US" b="1" dirty="0"/>
            <a:t>Analysis</a:t>
          </a:r>
        </a:p>
      </dgm:t>
    </dgm:pt>
    <dgm:pt modelId="{F50EB573-8416-4B82-924D-00073A1474D5}" type="parTrans" cxnId="{6D4049AE-A7D0-4E24-8B64-3A4B35EF7319}">
      <dgm:prSet/>
      <dgm:spPr/>
      <dgm:t>
        <a:bodyPr/>
        <a:lstStyle/>
        <a:p>
          <a:endParaRPr lang="en-US"/>
        </a:p>
      </dgm:t>
    </dgm:pt>
    <dgm:pt modelId="{EFF119BB-20F0-4475-8700-234995986975}" type="sibTrans" cxnId="{6D4049AE-A7D0-4E24-8B64-3A4B35EF7319}">
      <dgm:prSet/>
      <dgm:spPr/>
      <dgm:t>
        <a:bodyPr/>
        <a:lstStyle/>
        <a:p>
          <a:endParaRPr lang="en-US" dirty="0"/>
        </a:p>
      </dgm:t>
    </dgm:pt>
    <dgm:pt modelId="{860A4604-7176-4B9E-B88C-B3AF4EB47833}">
      <dgm:prSet phldrT="[Text]" custT="1"/>
      <dgm:spPr/>
      <dgm:t>
        <a:bodyPr/>
        <a:lstStyle/>
        <a:p>
          <a:r>
            <a:rPr lang="en-US" sz="1400" b="1" dirty="0"/>
            <a:t>Response</a:t>
          </a:r>
          <a:endParaRPr lang="en-US" sz="1200" b="1" dirty="0"/>
        </a:p>
      </dgm:t>
    </dgm:pt>
    <dgm:pt modelId="{E82C9017-AD8E-4441-9724-E81DE0EE054F}" type="parTrans" cxnId="{5AEB6DB3-C9D3-4E14-B199-002CB44CA079}">
      <dgm:prSet/>
      <dgm:spPr/>
      <dgm:t>
        <a:bodyPr/>
        <a:lstStyle/>
        <a:p>
          <a:endParaRPr lang="en-US"/>
        </a:p>
      </dgm:t>
    </dgm:pt>
    <dgm:pt modelId="{74504908-5759-42C6-9DC9-A0DF0F7E69B9}" type="sibTrans" cxnId="{5AEB6DB3-C9D3-4E14-B199-002CB44CA079}">
      <dgm:prSet/>
      <dgm:spPr/>
      <dgm:t>
        <a:bodyPr/>
        <a:lstStyle/>
        <a:p>
          <a:endParaRPr lang="en-US" dirty="0"/>
        </a:p>
      </dgm:t>
    </dgm:pt>
    <dgm:pt modelId="{33FB2EB2-D45E-46D5-A3DC-6D05AF94C06A}" type="pres">
      <dgm:prSet presAssocID="{83377DA2-AB13-4308-B2F0-A68E133C8A01}" presName="cycle" presStyleCnt="0">
        <dgm:presLayoutVars>
          <dgm:dir/>
          <dgm:resizeHandles val="exact"/>
        </dgm:presLayoutVars>
      </dgm:prSet>
      <dgm:spPr/>
    </dgm:pt>
    <dgm:pt modelId="{F80B33FC-CEBC-4DF1-B0A4-0B0203DADEEF}" type="pres">
      <dgm:prSet presAssocID="{F381C567-7A45-4EF7-ACBA-5BD07F59F750}" presName="node" presStyleLbl="node1" presStyleIdx="0" presStyleCnt="4">
        <dgm:presLayoutVars>
          <dgm:bulletEnabled val="1"/>
        </dgm:presLayoutVars>
      </dgm:prSet>
      <dgm:spPr/>
    </dgm:pt>
    <dgm:pt modelId="{C5CA6797-02AD-4446-A98E-2B37BA884B69}" type="pres">
      <dgm:prSet presAssocID="{7194A7E0-D334-4220-958A-578BC6311E7A}" presName="sibTrans" presStyleLbl="sibTrans2D1" presStyleIdx="0" presStyleCnt="4"/>
      <dgm:spPr/>
    </dgm:pt>
    <dgm:pt modelId="{0DA854F1-87E9-4BCC-98DF-BA2536EB850D}" type="pres">
      <dgm:prSet presAssocID="{7194A7E0-D334-4220-958A-578BC6311E7A}" presName="connectorText" presStyleLbl="sibTrans2D1" presStyleIdx="0" presStyleCnt="4"/>
      <dgm:spPr/>
    </dgm:pt>
    <dgm:pt modelId="{668B2A1E-1EF5-48DC-8C3C-0B3AC2394D14}" type="pres">
      <dgm:prSet presAssocID="{6AAB732D-F026-450D-B0A9-7FE57F42985D}" presName="node" presStyleLbl="node1" presStyleIdx="1" presStyleCnt="4">
        <dgm:presLayoutVars>
          <dgm:bulletEnabled val="1"/>
        </dgm:presLayoutVars>
      </dgm:prSet>
      <dgm:spPr/>
    </dgm:pt>
    <dgm:pt modelId="{FA2BF0A9-09E9-47AA-8EA1-8E7F86AA1B9A}" type="pres">
      <dgm:prSet presAssocID="{7562AFEE-FE47-4B35-8E55-7B9A5A4DDD57}" presName="sibTrans" presStyleLbl="sibTrans2D1" presStyleIdx="1" presStyleCnt="4"/>
      <dgm:spPr/>
    </dgm:pt>
    <dgm:pt modelId="{D0A68DC1-8912-40AD-AC94-B2E4A90C61E7}" type="pres">
      <dgm:prSet presAssocID="{7562AFEE-FE47-4B35-8E55-7B9A5A4DDD57}" presName="connectorText" presStyleLbl="sibTrans2D1" presStyleIdx="1" presStyleCnt="4"/>
      <dgm:spPr/>
    </dgm:pt>
    <dgm:pt modelId="{83891146-9E46-479F-B8EC-6BF12B2E3045}" type="pres">
      <dgm:prSet presAssocID="{D7B2DDDD-079A-4F2B-B93C-B98BD7636A60}" presName="node" presStyleLbl="node1" presStyleIdx="2" presStyleCnt="4">
        <dgm:presLayoutVars>
          <dgm:bulletEnabled val="1"/>
        </dgm:presLayoutVars>
      </dgm:prSet>
      <dgm:spPr/>
    </dgm:pt>
    <dgm:pt modelId="{02245554-933E-4D48-9E6B-C29EC8D58E90}" type="pres">
      <dgm:prSet presAssocID="{EFF119BB-20F0-4475-8700-234995986975}" presName="sibTrans" presStyleLbl="sibTrans2D1" presStyleIdx="2" presStyleCnt="4"/>
      <dgm:spPr/>
    </dgm:pt>
    <dgm:pt modelId="{013AFA92-F108-49CB-8D54-7BA5F26BF266}" type="pres">
      <dgm:prSet presAssocID="{EFF119BB-20F0-4475-8700-234995986975}" presName="connectorText" presStyleLbl="sibTrans2D1" presStyleIdx="2" presStyleCnt="4"/>
      <dgm:spPr/>
    </dgm:pt>
    <dgm:pt modelId="{4BD7BD82-0A38-4E58-B336-5948F4D3332C}" type="pres">
      <dgm:prSet presAssocID="{860A4604-7176-4B9E-B88C-B3AF4EB47833}" presName="node" presStyleLbl="node1" presStyleIdx="3" presStyleCnt="4">
        <dgm:presLayoutVars>
          <dgm:bulletEnabled val="1"/>
        </dgm:presLayoutVars>
      </dgm:prSet>
      <dgm:spPr/>
    </dgm:pt>
    <dgm:pt modelId="{7222BAD6-023E-4F88-86FF-87D105F0529F}" type="pres">
      <dgm:prSet presAssocID="{74504908-5759-42C6-9DC9-A0DF0F7E69B9}" presName="sibTrans" presStyleLbl="sibTrans2D1" presStyleIdx="3" presStyleCnt="4"/>
      <dgm:spPr/>
    </dgm:pt>
    <dgm:pt modelId="{73F49E0B-9C25-4D96-A1D4-549C1089F9A7}" type="pres">
      <dgm:prSet presAssocID="{74504908-5759-42C6-9DC9-A0DF0F7E69B9}" presName="connectorText" presStyleLbl="sibTrans2D1" presStyleIdx="3" presStyleCnt="4"/>
      <dgm:spPr/>
    </dgm:pt>
  </dgm:ptLst>
  <dgm:cxnLst>
    <dgm:cxn modelId="{6A2A620E-AC6A-4664-AA12-8C848CD361F7}" type="presOf" srcId="{7194A7E0-D334-4220-958A-578BC6311E7A}" destId="{0DA854F1-87E9-4BCC-98DF-BA2536EB850D}" srcOrd="1" destOrd="0" presId="urn:microsoft.com/office/officeart/2005/8/layout/cycle2"/>
    <dgm:cxn modelId="{7C2DD629-8012-496B-B41A-07B7AA49439F}" type="presOf" srcId="{F381C567-7A45-4EF7-ACBA-5BD07F59F750}" destId="{F80B33FC-CEBC-4DF1-B0A4-0B0203DADEEF}" srcOrd="0" destOrd="0" presId="urn:microsoft.com/office/officeart/2005/8/layout/cycle2"/>
    <dgm:cxn modelId="{EDB5FE43-EC41-46BC-A71F-D3093FEE8ED5}" type="presOf" srcId="{6AAB732D-F026-450D-B0A9-7FE57F42985D}" destId="{668B2A1E-1EF5-48DC-8C3C-0B3AC2394D14}" srcOrd="0" destOrd="0" presId="urn:microsoft.com/office/officeart/2005/8/layout/cycle2"/>
    <dgm:cxn modelId="{2B3B3C69-1408-49A7-AAE1-E4A6BEC4D980}" srcId="{83377DA2-AB13-4308-B2F0-A68E133C8A01}" destId="{F381C567-7A45-4EF7-ACBA-5BD07F59F750}" srcOrd="0" destOrd="0" parTransId="{2EBF9AB6-285E-4BE6-B5C7-247EA673759D}" sibTransId="{7194A7E0-D334-4220-958A-578BC6311E7A}"/>
    <dgm:cxn modelId="{2EF3914B-F3AF-479B-B2B4-88F0AA0D8E8E}" type="presOf" srcId="{D7B2DDDD-079A-4F2B-B93C-B98BD7636A60}" destId="{83891146-9E46-479F-B8EC-6BF12B2E3045}" srcOrd="0" destOrd="0" presId="urn:microsoft.com/office/officeart/2005/8/layout/cycle2"/>
    <dgm:cxn modelId="{92716E4F-4A26-47B8-901D-0C1D2E4CD293}" type="presOf" srcId="{860A4604-7176-4B9E-B88C-B3AF4EB47833}" destId="{4BD7BD82-0A38-4E58-B336-5948F4D3332C}" srcOrd="0" destOrd="0" presId="urn:microsoft.com/office/officeart/2005/8/layout/cycle2"/>
    <dgm:cxn modelId="{DA47A58D-6708-4444-81C6-22419AA72842}" type="presOf" srcId="{7562AFEE-FE47-4B35-8E55-7B9A5A4DDD57}" destId="{D0A68DC1-8912-40AD-AC94-B2E4A90C61E7}" srcOrd="1" destOrd="0" presId="urn:microsoft.com/office/officeart/2005/8/layout/cycle2"/>
    <dgm:cxn modelId="{98ADAC9E-8460-487A-9CB8-3BF7CB3AC853}" type="presOf" srcId="{7194A7E0-D334-4220-958A-578BC6311E7A}" destId="{C5CA6797-02AD-4446-A98E-2B37BA884B69}" srcOrd="0" destOrd="0" presId="urn:microsoft.com/office/officeart/2005/8/layout/cycle2"/>
    <dgm:cxn modelId="{368A63A4-18C6-426C-8A2B-CA528480A7DB}" type="presOf" srcId="{7562AFEE-FE47-4B35-8E55-7B9A5A4DDD57}" destId="{FA2BF0A9-09E9-47AA-8EA1-8E7F86AA1B9A}" srcOrd="0" destOrd="0" presId="urn:microsoft.com/office/officeart/2005/8/layout/cycle2"/>
    <dgm:cxn modelId="{6D4049AE-A7D0-4E24-8B64-3A4B35EF7319}" srcId="{83377DA2-AB13-4308-B2F0-A68E133C8A01}" destId="{D7B2DDDD-079A-4F2B-B93C-B98BD7636A60}" srcOrd="2" destOrd="0" parTransId="{F50EB573-8416-4B82-924D-00073A1474D5}" sibTransId="{EFF119BB-20F0-4475-8700-234995986975}"/>
    <dgm:cxn modelId="{5AEB6DB3-C9D3-4E14-B199-002CB44CA079}" srcId="{83377DA2-AB13-4308-B2F0-A68E133C8A01}" destId="{860A4604-7176-4B9E-B88C-B3AF4EB47833}" srcOrd="3" destOrd="0" parTransId="{E82C9017-AD8E-4441-9724-E81DE0EE054F}" sibTransId="{74504908-5759-42C6-9DC9-A0DF0F7E69B9}"/>
    <dgm:cxn modelId="{C2E31CB6-E925-4BE4-8636-7C004DEBA0DD}" type="presOf" srcId="{EFF119BB-20F0-4475-8700-234995986975}" destId="{02245554-933E-4D48-9E6B-C29EC8D58E90}" srcOrd="0" destOrd="0" presId="urn:microsoft.com/office/officeart/2005/8/layout/cycle2"/>
    <dgm:cxn modelId="{8C5905C3-87F3-48D8-A241-A2B9FC683D00}" type="presOf" srcId="{EFF119BB-20F0-4475-8700-234995986975}" destId="{013AFA92-F108-49CB-8D54-7BA5F26BF266}" srcOrd="1" destOrd="0" presId="urn:microsoft.com/office/officeart/2005/8/layout/cycle2"/>
    <dgm:cxn modelId="{21A8FECE-DBFA-4F59-9A0B-2A4BC498806F}" type="presOf" srcId="{83377DA2-AB13-4308-B2F0-A68E133C8A01}" destId="{33FB2EB2-D45E-46D5-A3DC-6D05AF94C06A}" srcOrd="0" destOrd="0" presId="urn:microsoft.com/office/officeart/2005/8/layout/cycle2"/>
    <dgm:cxn modelId="{35DCA2D7-401F-4F16-87CA-E0D6C0C9FED2}" type="presOf" srcId="{74504908-5759-42C6-9DC9-A0DF0F7E69B9}" destId="{73F49E0B-9C25-4D96-A1D4-549C1089F9A7}" srcOrd="1" destOrd="0" presId="urn:microsoft.com/office/officeart/2005/8/layout/cycle2"/>
    <dgm:cxn modelId="{8D789DE2-77B7-4529-83C4-CBD51BE2DB81}" type="presOf" srcId="{74504908-5759-42C6-9DC9-A0DF0F7E69B9}" destId="{7222BAD6-023E-4F88-86FF-87D105F0529F}" srcOrd="0" destOrd="0" presId="urn:microsoft.com/office/officeart/2005/8/layout/cycle2"/>
    <dgm:cxn modelId="{245F84F4-9A6B-4223-87F6-A511EA6A9C0C}" srcId="{83377DA2-AB13-4308-B2F0-A68E133C8A01}" destId="{6AAB732D-F026-450D-B0A9-7FE57F42985D}" srcOrd="1" destOrd="0" parTransId="{53813AAC-E2BD-4E98-830C-A9328D4386BB}" sibTransId="{7562AFEE-FE47-4B35-8E55-7B9A5A4DDD57}"/>
    <dgm:cxn modelId="{E24DEFAC-7B23-4D52-8FC5-1A1206284066}" type="presParOf" srcId="{33FB2EB2-D45E-46D5-A3DC-6D05AF94C06A}" destId="{F80B33FC-CEBC-4DF1-B0A4-0B0203DADEEF}" srcOrd="0" destOrd="0" presId="urn:microsoft.com/office/officeart/2005/8/layout/cycle2"/>
    <dgm:cxn modelId="{5350A8ED-D60B-4343-8F52-EA11738AC157}" type="presParOf" srcId="{33FB2EB2-D45E-46D5-A3DC-6D05AF94C06A}" destId="{C5CA6797-02AD-4446-A98E-2B37BA884B69}" srcOrd="1" destOrd="0" presId="urn:microsoft.com/office/officeart/2005/8/layout/cycle2"/>
    <dgm:cxn modelId="{5212B6CC-E3D0-423C-B7A6-28CDD17361FD}" type="presParOf" srcId="{C5CA6797-02AD-4446-A98E-2B37BA884B69}" destId="{0DA854F1-87E9-4BCC-98DF-BA2536EB850D}" srcOrd="0" destOrd="0" presId="urn:microsoft.com/office/officeart/2005/8/layout/cycle2"/>
    <dgm:cxn modelId="{87CC2D6F-0EDE-427C-9ED5-C6F59FC716E9}" type="presParOf" srcId="{33FB2EB2-D45E-46D5-A3DC-6D05AF94C06A}" destId="{668B2A1E-1EF5-48DC-8C3C-0B3AC2394D14}" srcOrd="2" destOrd="0" presId="urn:microsoft.com/office/officeart/2005/8/layout/cycle2"/>
    <dgm:cxn modelId="{33CFA854-F7F4-46C2-883F-9BBDBFB4054F}" type="presParOf" srcId="{33FB2EB2-D45E-46D5-A3DC-6D05AF94C06A}" destId="{FA2BF0A9-09E9-47AA-8EA1-8E7F86AA1B9A}" srcOrd="3" destOrd="0" presId="urn:microsoft.com/office/officeart/2005/8/layout/cycle2"/>
    <dgm:cxn modelId="{36EE6E1C-2C68-416C-8E3C-99B164508AE3}" type="presParOf" srcId="{FA2BF0A9-09E9-47AA-8EA1-8E7F86AA1B9A}" destId="{D0A68DC1-8912-40AD-AC94-B2E4A90C61E7}" srcOrd="0" destOrd="0" presId="urn:microsoft.com/office/officeart/2005/8/layout/cycle2"/>
    <dgm:cxn modelId="{8C1FD673-C151-4014-B01D-A6BA73E40FBD}" type="presParOf" srcId="{33FB2EB2-D45E-46D5-A3DC-6D05AF94C06A}" destId="{83891146-9E46-479F-B8EC-6BF12B2E3045}" srcOrd="4" destOrd="0" presId="urn:microsoft.com/office/officeart/2005/8/layout/cycle2"/>
    <dgm:cxn modelId="{323360EF-5CEC-470F-895F-3B37D18C88F0}" type="presParOf" srcId="{33FB2EB2-D45E-46D5-A3DC-6D05AF94C06A}" destId="{02245554-933E-4D48-9E6B-C29EC8D58E90}" srcOrd="5" destOrd="0" presId="urn:microsoft.com/office/officeart/2005/8/layout/cycle2"/>
    <dgm:cxn modelId="{084F4BA1-ACF7-44F1-B26B-B82E93F52D59}" type="presParOf" srcId="{02245554-933E-4D48-9E6B-C29EC8D58E90}" destId="{013AFA92-F108-49CB-8D54-7BA5F26BF266}" srcOrd="0" destOrd="0" presId="urn:microsoft.com/office/officeart/2005/8/layout/cycle2"/>
    <dgm:cxn modelId="{DF95A57D-056D-4414-8A39-263C50D0EB77}" type="presParOf" srcId="{33FB2EB2-D45E-46D5-A3DC-6D05AF94C06A}" destId="{4BD7BD82-0A38-4E58-B336-5948F4D3332C}" srcOrd="6" destOrd="0" presId="urn:microsoft.com/office/officeart/2005/8/layout/cycle2"/>
    <dgm:cxn modelId="{AE42CC58-FD81-49D6-BAD6-381075A257A9}" type="presParOf" srcId="{33FB2EB2-D45E-46D5-A3DC-6D05AF94C06A}" destId="{7222BAD6-023E-4F88-86FF-87D105F0529F}" srcOrd="7" destOrd="0" presId="urn:microsoft.com/office/officeart/2005/8/layout/cycle2"/>
    <dgm:cxn modelId="{0E5ED35F-FA56-46A6-AEBF-52AFD8CD0ED9}" type="presParOf" srcId="{7222BAD6-023E-4F88-86FF-87D105F0529F}" destId="{73F49E0B-9C25-4D96-A1D4-549C1089F9A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651884-9D1E-4CC7-9585-90E8E6556888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ED07BA-0E90-4496-86F2-E97C7B1CDC59}">
      <dgm:prSet phldrT="[Text]"/>
      <dgm:spPr>
        <a:solidFill>
          <a:srgbClr val="1D3763"/>
        </a:solidFill>
      </dgm:spPr>
      <dgm:t>
        <a:bodyPr/>
        <a:lstStyle/>
        <a:p>
          <a:r>
            <a:rPr lang="en-US" dirty="0"/>
            <a:t>Social Engineering</a:t>
          </a:r>
        </a:p>
      </dgm:t>
    </dgm:pt>
    <dgm:pt modelId="{5E258E86-24E4-416E-849F-1B87672128FE}" type="parTrans" cxnId="{9E8769E8-2086-42E4-8F7A-FBDA1673B382}">
      <dgm:prSet/>
      <dgm:spPr/>
      <dgm:t>
        <a:bodyPr/>
        <a:lstStyle/>
        <a:p>
          <a:endParaRPr lang="en-US"/>
        </a:p>
      </dgm:t>
    </dgm:pt>
    <dgm:pt modelId="{CBAAD2B6-D3A7-440E-A978-73F1ED5B92DB}" type="sibTrans" cxnId="{9E8769E8-2086-42E4-8F7A-FBDA1673B382}">
      <dgm:prSet/>
      <dgm:spPr/>
      <dgm:t>
        <a:bodyPr/>
        <a:lstStyle/>
        <a:p>
          <a:endParaRPr lang="en-US"/>
        </a:p>
      </dgm:t>
    </dgm:pt>
    <dgm:pt modelId="{1095624A-9616-4DBD-8256-BD4144D26DE7}">
      <dgm:prSet phldrT="[Text]"/>
      <dgm:spPr>
        <a:solidFill>
          <a:srgbClr val="1D3763"/>
        </a:solidFill>
      </dgm:spPr>
      <dgm:t>
        <a:bodyPr/>
        <a:lstStyle/>
        <a:p>
          <a:r>
            <a:rPr lang="en-US" dirty="0"/>
            <a:t>Phishing</a:t>
          </a:r>
        </a:p>
      </dgm:t>
    </dgm:pt>
    <dgm:pt modelId="{152EA17E-68B9-4085-B0BB-FE730F44EF90}" type="parTrans" cxnId="{39882E7C-F318-43CA-8D57-F0D9829AB782}">
      <dgm:prSet/>
      <dgm:spPr/>
      <dgm:t>
        <a:bodyPr/>
        <a:lstStyle/>
        <a:p>
          <a:endParaRPr lang="en-US"/>
        </a:p>
      </dgm:t>
    </dgm:pt>
    <dgm:pt modelId="{FC7FCD65-E396-4A50-9035-EA8DA6ED1A6C}" type="sibTrans" cxnId="{39882E7C-F318-43CA-8D57-F0D9829AB782}">
      <dgm:prSet/>
      <dgm:spPr/>
      <dgm:t>
        <a:bodyPr/>
        <a:lstStyle/>
        <a:p>
          <a:endParaRPr lang="en-US"/>
        </a:p>
      </dgm:t>
    </dgm:pt>
    <dgm:pt modelId="{87AFCED7-93E5-443B-878A-40EBB3555DEB}">
      <dgm:prSet phldrT="[Text]"/>
      <dgm:spPr>
        <a:solidFill>
          <a:srgbClr val="1D3763"/>
        </a:solidFill>
      </dgm:spPr>
      <dgm:t>
        <a:bodyPr/>
        <a:lstStyle/>
        <a:p>
          <a:r>
            <a:rPr lang="en-US" dirty="0"/>
            <a:t>Impersonation</a:t>
          </a:r>
        </a:p>
      </dgm:t>
    </dgm:pt>
    <dgm:pt modelId="{0F64B9B7-1D12-47A8-BBEB-B47F8ABF702F}" type="parTrans" cxnId="{23273505-50FD-459F-B38A-9FCE3659F023}">
      <dgm:prSet/>
      <dgm:spPr/>
      <dgm:t>
        <a:bodyPr/>
        <a:lstStyle/>
        <a:p>
          <a:endParaRPr lang="en-US"/>
        </a:p>
      </dgm:t>
    </dgm:pt>
    <dgm:pt modelId="{7101F8DF-7383-4DBF-A9A5-24070C2FDAB9}" type="sibTrans" cxnId="{23273505-50FD-459F-B38A-9FCE3659F023}">
      <dgm:prSet/>
      <dgm:spPr/>
      <dgm:t>
        <a:bodyPr/>
        <a:lstStyle/>
        <a:p>
          <a:endParaRPr lang="en-US"/>
        </a:p>
      </dgm:t>
    </dgm:pt>
    <dgm:pt modelId="{AD3FDC08-B66F-4B5C-9A74-534007CB1A82}">
      <dgm:prSet phldrT="[Text]"/>
      <dgm:spPr>
        <a:solidFill>
          <a:srgbClr val="1D3763"/>
        </a:solidFill>
      </dgm:spPr>
      <dgm:t>
        <a:bodyPr/>
        <a:lstStyle/>
        <a:p>
          <a:r>
            <a:rPr lang="en-US" dirty="0"/>
            <a:t>Malware</a:t>
          </a:r>
        </a:p>
      </dgm:t>
    </dgm:pt>
    <dgm:pt modelId="{65992467-42AE-4A7D-9783-AED9BA45F849}" type="parTrans" cxnId="{63F24AFE-16AD-426B-8311-DCC8DD275F4D}">
      <dgm:prSet/>
      <dgm:spPr/>
      <dgm:t>
        <a:bodyPr/>
        <a:lstStyle/>
        <a:p>
          <a:endParaRPr lang="en-US"/>
        </a:p>
      </dgm:t>
    </dgm:pt>
    <dgm:pt modelId="{893D575A-7625-4823-9E56-3ACD2D34D99C}" type="sibTrans" cxnId="{63F24AFE-16AD-426B-8311-DCC8DD275F4D}">
      <dgm:prSet/>
      <dgm:spPr/>
      <dgm:t>
        <a:bodyPr/>
        <a:lstStyle/>
        <a:p>
          <a:endParaRPr lang="en-US"/>
        </a:p>
      </dgm:t>
    </dgm:pt>
    <dgm:pt modelId="{AE61B60D-5C7F-4E84-80A0-12A97FF5B376}">
      <dgm:prSet phldrT="[Text]"/>
      <dgm:spPr>
        <a:solidFill>
          <a:srgbClr val="1D3763"/>
        </a:solidFill>
      </dgm:spPr>
      <dgm:t>
        <a:bodyPr/>
        <a:lstStyle/>
        <a:p>
          <a:r>
            <a:rPr lang="en-US" dirty="0"/>
            <a:t>Virus</a:t>
          </a:r>
        </a:p>
      </dgm:t>
    </dgm:pt>
    <dgm:pt modelId="{734BE65D-51EF-4CFB-8057-65C6DF61CA55}" type="parTrans" cxnId="{B49E4029-C657-4BF5-AF76-7CF089853496}">
      <dgm:prSet/>
      <dgm:spPr/>
      <dgm:t>
        <a:bodyPr/>
        <a:lstStyle/>
        <a:p>
          <a:endParaRPr lang="en-US"/>
        </a:p>
      </dgm:t>
    </dgm:pt>
    <dgm:pt modelId="{C3A4A0E8-311E-407B-81BE-07DDCE000CA3}" type="sibTrans" cxnId="{B49E4029-C657-4BF5-AF76-7CF089853496}">
      <dgm:prSet/>
      <dgm:spPr/>
      <dgm:t>
        <a:bodyPr/>
        <a:lstStyle/>
        <a:p>
          <a:endParaRPr lang="en-US"/>
        </a:p>
      </dgm:t>
    </dgm:pt>
    <dgm:pt modelId="{0648F8EE-6930-4CE3-B124-884E80A16D50}">
      <dgm:prSet phldrT="[Text]"/>
      <dgm:spPr>
        <a:solidFill>
          <a:srgbClr val="1D3763"/>
        </a:solidFill>
      </dgm:spPr>
      <dgm:t>
        <a:bodyPr/>
        <a:lstStyle/>
        <a:p>
          <a:r>
            <a:rPr lang="en-US" dirty="0"/>
            <a:t>Ransomware</a:t>
          </a:r>
        </a:p>
      </dgm:t>
    </dgm:pt>
    <dgm:pt modelId="{22BDEABB-797B-4927-9FE8-E8C26401B0BF}" type="parTrans" cxnId="{1621B0C6-311E-47D4-955A-C661045B7288}">
      <dgm:prSet/>
      <dgm:spPr/>
      <dgm:t>
        <a:bodyPr/>
        <a:lstStyle/>
        <a:p>
          <a:endParaRPr lang="en-US"/>
        </a:p>
      </dgm:t>
    </dgm:pt>
    <dgm:pt modelId="{B9C49785-5CAE-42E6-BE22-A3D4ADC40CF4}" type="sibTrans" cxnId="{1621B0C6-311E-47D4-955A-C661045B7288}">
      <dgm:prSet/>
      <dgm:spPr/>
      <dgm:t>
        <a:bodyPr/>
        <a:lstStyle/>
        <a:p>
          <a:endParaRPr lang="en-US"/>
        </a:p>
      </dgm:t>
    </dgm:pt>
    <dgm:pt modelId="{511D782F-DD9F-440C-BC12-45176C6B5CD4}">
      <dgm:prSet phldrT="[Text]"/>
      <dgm:spPr>
        <a:solidFill>
          <a:srgbClr val="1D3763"/>
        </a:solidFill>
      </dgm:spPr>
      <dgm:t>
        <a:bodyPr/>
        <a:lstStyle/>
        <a:p>
          <a:r>
            <a:rPr lang="en-US" dirty="0"/>
            <a:t>Denial of Service</a:t>
          </a:r>
        </a:p>
      </dgm:t>
    </dgm:pt>
    <dgm:pt modelId="{9F828C3E-3C8B-4B04-8872-99F4843AFED4}" type="parTrans" cxnId="{CAA0C2C0-6018-4355-9FDA-4B3D0CB853B3}">
      <dgm:prSet/>
      <dgm:spPr/>
      <dgm:t>
        <a:bodyPr/>
        <a:lstStyle/>
        <a:p>
          <a:endParaRPr lang="en-US"/>
        </a:p>
      </dgm:t>
    </dgm:pt>
    <dgm:pt modelId="{50471E19-5238-46D5-8532-F27610EF3B2A}" type="sibTrans" cxnId="{CAA0C2C0-6018-4355-9FDA-4B3D0CB853B3}">
      <dgm:prSet/>
      <dgm:spPr/>
      <dgm:t>
        <a:bodyPr/>
        <a:lstStyle/>
        <a:p>
          <a:endParaRPr lang="en-US"/>
        </a:p>
      </dgm:t>
    </dgm:pt>
    <dgm:pt modelId="{E271EAEF-366A-442B-9E39-4C9C9C1584F6}">
      <dgm:prSet phldrT="[Text]"/>
      <dgm:spPr>
        <a:solidFill>
          <a:srgbClr val="1D3763"/>
        </a:solidFill>
      </dgm:spPr>
      <dgm:t>
        <a:bodyPr/>
        <a:lstStyle/>
        <a:p>
          <a:r>
            <a:rPr lang="en-US" dirty="0"/>
            <a:t>DDoS</a:t>
          </a:r>
        </a:p>
      </dgm:t>
    </dgm:pt>
    <dgm:pt modelId="{508336CB-642F-41E0-ADEC-DDF714B04D17}" type="parTrans" cxnId="{010F04C6-9741-43C0-B320-102A86EE4657}">
      <dgm:prSet/>
      <dgm:spPr/>
      <dgm:t>
        <a:bodyPr/>
        <a:lstStyle/>
        <a:p>
          <a:endParaRPr lang="en-US"/>
        </a:p>
      </dgm:t>
    </dgm:pt>
    <dgm:pt modelId="{370205F4-33EF-4071-B499-624B644D179B}" type="sibTrans" cxnId="{010F04C6-9741-43C0-B320-102A86EE4657}">
      <dgm:prSet/>
      <dgm:spPr/>
      <dgm:t>
        <a:bodyPr/>
        <a:lstStyle/>
        <a:p>
          <a:endParaRPr lang="en-US"/>
        </a:p>
      </dgm:t>
    </dgm:pt>
    <dgm:pt modelId="{00127DA5-7BB3-4F00-8602-0DA3D7BC8438}">
      <dgm:prSet phldrT="[Text]"/>
      <dgm:spPr>
        <a:solidFill>
          <a:srgbClr val="1D3763"/>
        </a:solidFill>
      </dgm:spPr>
      <dgm:t>
        <a:bodyPr/>
        <a:lstStyle/>
        <a:p>
          <a:r>
            <a:rPr lang="en-US" dirty="0"/>
            <a:t>Botnet</a:t>
          </a:r>
        </a:p>
      </dgm:t>
    </dgm:pt>
    <dgm:pt modelId="{87D17479-A31B-486B-ACD0-B44EBF51B089}" type="parTrans" cxnId="{FF928FA1-1571-4F71-8CB5-99C20637C8DE}">
      <dgm:prSet/>
      <dgm:spPr/>
      <dgm:t>
        <a:bodyPr/>
        <a:lstStyle/>
        <a:p>
          <a:endParaRPr lang="en-US"/>
        </a:p>
      </dgm:t>
    </dgm:pt>
    <dgm:pt modelId="{90282743-593D-4212-9EB5-BD4CEEB0C35A}" type="sibTrans" cxnId="{FF928FA1-1571-4F71-8CB5-99C20637C8DE}">
      <dgm:prSet/>
      <dgm:spPr/>
      <dgm:t>
        <a:bodyPr/>
        <a:lstStyle/>
        <a:p>
          <a:endParaRPr lang="en-US"/>
        </a:p>
      </dgm:t>
    </dgm:pt>
    <dgm:pt modelId="{306DEC25-6E23-4DD1-941A-0869A6D71ACB}" type="pres">
      <dgm:prSet presAssocID="{58651884-9D1E-4CC7-9585-90E8E6556888}" presName="linear" presStyleCnt="0">
        <dgm:presLayoutVars>
          <dgm:dir/>
          <dgm:resizeHandles val="exact"/>
        </dgm:presLayoutVars>
      </dgm:prSet>
      <dgm:spPr/>
    </dgm:pt>
    <dgm:pt modelId="{F9B52AED-597F-49B4-A0A7-F83D5D1F3431}" type="pres">
      <dgm:prSet presAssocID="{4CED07BA-0E90-4496-86F2-E97C7B1CDC59}" presName="comp" presStyleCnt="0"/>
      <dgm:spPr/>
    </dgm:pt>
    <dgm:pt modelId="{9F2CCA42-A880-46B5-98A5-D2A090D67997}" type="pres">
      <dgm:prSet presAssocID="{4CED07BA-0E90-4496-86F2-E97C7B1CDC59}" presName="box" presStyleLbl="node1" presStyleIdx="0" presStyleCnt="3"/>
      <dgm:spPr/>
    </dgm:pt>
    <dgm:pt modelId="{BEC4182B-0EB1-4B2E-BBED-EA0312D8C875}" type="pres">
      <dgm:prSet presAssocID="{4CED07BA-0E90-4496-86F2-E97C7B1CDC59}" presName="img" presStyleLbl="fgImgPlac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3000" b="-3000"/>
          </a:stretch>
        </a:blipFill>
      </dgm:spPr>
    </dgm:pt>
    <dgm:pt modelId="{7C08F703-CC7F-425C-B210-599F95F68DA9}" type="pres">
      <dgm:prSet presAssocID="{4CED07BA-0E90-4496-86F2-E97C7B1CDC59}" presName="text" presStyleLbl="node1" presStyleIdx="0" presStyleCnt="3">
        <dgm:presLayoutVars>
          <dgm:bulletEnabled val="1"/>
        </dgm:presLayoutVars>
      </dgm:prSet>
      <dgm:spPr/>
    </dgm:pt>
    <dgm:pt modelId="{5A7D289C-7FBB-40F1-9D1B-22E064EFFE8A}" type="pres">
      <dgm:prSet presAssocID="{CBAAD2B6-D3A7-440E-A978-73F1ED5B92DB}" presName="spacer" presStyleCnt="0"/>
      <dgm:spPr/>
    </dgm:pt>
    <dgm:pt modelId="{5F9FD730-F279-49CF-92B5-BD38C8BADC9B}" type="pres">
      <dgm:prSet presAssocID="{AD3FDC08-B66F-4B5C-9A74-534007CB1A82}" presName="comp" presStyleCnt="0"/>
      <dgm:spPr/>
    </dgm:pt>
    <dgm:pt modelId="{F6E0E177-6DB0-47D4-9550-D431661BB769}" type="pres">
      <dgm:prSet presAssocID="{AD3FDC08-B66F-4B5C-9A74-534007CB1A82}" presName="box" presStyleLbl="node1" presStyleIdx="1" presStyleCnt="3"/>
      <dgm:spPr/>
    </dgm:pt>
    <dgm:pt modelId="{7FF07743-CF3E-47AB-AE23-F7AAA7BD9DCA}" type="pres">
      <dgm:prSet presAssocID="{AD3FDC08-B66F-4B5C-9A74-534007CB1A82}" presName="img" presStyleLbl="fgImgPlac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10000" b="-10000"/>
          </a:stretch>
        </a:blipFill>
      </dgm:spPr>
    </dgm:pt>
    <dgm:pt modelId="{8D7E0113-1E0D-4D5D-8B47-F06273E3557E}" type="pres">
      <dgm:prSet presAssocID="{AD3FDC08-B66F-4B5C-9A74-534007CB1A82}" presName="text" presStyleLbl="node1" presStyleIdx="1" presStyleCnt="3">
        <dgm:presLayoutVars>
          <dgm:bulletEnabled val="1"/>
        </dgm:presLayoutVars>
      </dgm:prSet>
      <dgm:spPr/>
    </dgm:pt>
    <dgm:pt modelId="{E97A0CE5-43AE-4682-A193-5D34654A4C0D}" type="pres">
      <dgm:prSet presAssocID="{893D575A-7625-4823-9E56-3ACD2D34D99C}" presName="spacer" presStyleCnt="0"/>
      <dgm:spPr/>
    </dgm:pt>
    <dgm:pt modelId="{57BB7FC4-4B5E-4B17-966F-1042C014DE46}" type="pres">
      <dgm:prSet presAssocID="{511D782F-DD9F-440C-BC12-45176C6B5CD4}" presName="comp" presStyleCnt="0"/>
      <dgm:spPr/>
    </dgm:pt>
    <dgm:pt modelId="{C943AF9B-568D-46CF-AA74-ACBE244990EF}" type="pres">
      <dgm:prSet presAssocID="{511D782F-DD9F-440C-BC12-45176C6B5CD4}" presName="box" presStyleLbl="node1" presStyleIdx="2" presStyleCnt="3"/>
      <dgm:spPr/>
    </dgm:pt>
    <dgm:pt modelId="{0535B080-59BC-4432-BE8F-4BF39CACB32B}" type="pres">
      <dgm:prSet presAssocID="{511D782F-DD9F-440C-BC12-45176C6B5CD4}" presName="img" presStyleLbl="fgImgPlac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t="-10000" b="-10000"/>
          </a:stretch>
        </a:blipFill>
      </dgm:spPr>
    </dgm:pt>
    <dgm:pt modelId="{0EA6D4BA-C7C8-43CB-A83C-4793122AB052}" type="pres">
      <dgm:prSet presAssocID="{511D782F-DD9F-440C-BC12-45176C6B5CD4}" presName="text" presStyleLbl="node1" presStyleIdx="2" presStyleCnt="3">
        <dgm:presLayoutVars>
          <dgm:bulletEnabled val="1"/>
        </dgm:presLayoutVars>
      </dgm:prSet>
      <dgm:spPr/>
    </dgm:pt>
  </dgm:ptLst>
  <dgm:cxnLst>
    <dgm:cxn modelId="{23273505-50FD-459F-B38A-9FCE3659F023}" srcId="{4CED07BA-0E90-4496-86F2-E97C7B1CDC59}" destId="{87AFCED7-93E5-443B-878A-40EBB3555DEB}" srcOrd="1" destOrd="0" parTransId="{0F64B9B7-1D12-47A8-BBEB-B47F8ABF702F}" sibTransId="{7101F8DF-7383-4DBF-A9A5-24070C2FDAB9}"/>
    <dgm:cxn modelId="{69449314-996B-402E-AA25-02275B00A3F3}" type="presOf" srcId="{AE61B60D-5C7F-4E84-80A0-12A97FF5B376}" destId="{F6E0E177-6DB0-47D4-9550-D431661BB769}" srcOrd="0" destOrd="1" presId="urn:microsoft.com/office/officeart/2005/8/layout/vList4"/>
    <dgm:cxn modelId="{38150E1E-B1B3-43CE-9A50-8DA0C31B0D13}" type="presOf" srcId="{511D782F-DD9F-440C-BC12-45176C6B5CD4}" destId="{0EA6D4BA-C7C8-43CB-A83C-4793122AB052}" srcOrd="1" destOrd="0" presId="urn:microsoft.com/office/officeart/2005/8/layout/vList4"/>
    <dgm:cxn modelId="{73319423-5251-48B3-95DE-09971C1C9F6E}" type="presOf" srcId="{58651884-9D1E-4CC7-9585-90E8E6556888}" destId="{306DEC25-6E23-4DD1-941A-0869A6D71ACB}" srcOrd="0" destOrd="0" presId="urn:microsoft.com/office/officeart/2005/8/layout/vList4"/>
    <dgm:cxn modelId="{A609B027-850A-436B-A4D9-53D398BEF908}" type="presOf" srcId="{00127DA5-7BB3-4F00-8602-0DA3D7BC8438}" destId="{0EA6D4BA-C7C8-43CB-A83C-4793122AB052}" srcOrd="1" destOrd="2" presId="urn:microsoft.com/office/officeart/2005/8/layout/vList4"/>
    <dgm:cxn modelId="{B49E4029-C657-4BF5-AF76-7CF089853496}" srcId="{AD3FDC08-B66F-4B5C-9A74-534007CB1A82}" destId="{AE61B60D-5C7F-4E84-80A0-12A97FF5B376}" srcOrd="0" destOrd="0" parTransId="{734BE65D-51EF-4CFB-8057-65C6DF61CA55}" sibTransId="{C3A4A0E8-311E-407B-81BE-07DDCE000CA3}"/>
    <dgm:cxn modelId="{322C793E-E66A-44D9-8891-730D9FB87E8B}" type="presOf" srcId="{E271EAEF-366A-442B-9E39-4C9C9C1584F6}" destId="{C943AF9B-568D-46CF-AA74-ACBE244990EF}" srcOrd="0" destOrd="1" presId="urn:microsoft.com/office/officeart/2005/8/layout/vList4"/>
    <dgm:cxn modelId="{E7188266-FB75-4170-AB48-18E571E879D0}" type="presOf" srcId="{0648F8EE-6930-4CE3-B124-884E80A16D50}" destId="{F6E0E177-6DB0-47D4-9550-D431661BB769}" srcOrd="0" destOrd="2" presId="urn:microsoft.com/office/officeart/2005/8/layout/vList4"/>
    <dgm:cxn modelId="{3095B148-0C20-4C29-9D17-F842732A49F8}" type="presOf" srcId="{87AFCED7-93E5-443B-878A-40EBB3555DEB}" destId="{9F2CCA42-A880-46B5-98A5-D2A090D67997}" srcOrd="0" destOrd="2" presId="urn:microsoft.com/office/officeart/2005/8/layout/vList4"/>
    <dgm:cxn modelId="{77392C6D-30E4-4843-A13D-F14F91BD03BB}" type="presOf" srcId="{00127DA5-7BB3-4F00-8602-0DA3D7BC8438}" destId="{C943AF9B-568D-46CF-AA74-ACBE244990EF}" srcOrd="0" destOrd="2" presId="urn:microsoft.com/office/officeart/2005/8/layout/vList4"/>
    <dgm:cxn modelId="{8198006E-C872-4CD6-A8C3-1F89B486F628}" type="presOf" srcId="{1095624A-9616-4DBD-8256-BD4144D26DE7}" destId="{7C08F703-CC7F-425C-B210-599F95F68DA9}" srcOrd="1" destOrd="1" presId="urn:microsoft.com/office/officeart/2005/8/layout/vList4"/>
    <dgm:cxn modelId="{0E12724E-D989-4CBE-BCBF-24D8CFEDF75D}" type="presOf" srcId="{AD3FDC08-B66F-4B5C-9A74-534007CB1A82}" destId="{F6E0E177-6DB0-47D4-9550-D431661BB769}" srcOrd="0" destOrd="0" presId="urn:microsoft.com/office/officeart/2005/8/layout/vList4"/>
    <dgm:cxn modelId="{E4F45171-9B2D-49F5-A7CF-D4295F082368}" type="presOf" srcId="{87AFCED7-93E5-443B-878A-40EBB3555DEB}" destId="{7C08F703-CC7F-425C-B210-599F95F68DA9}" srcOrd="1" destOrd="2" presId="urn:microsoft.com/office/officeart/2005/8/layout/vList4"/>
    <dgm:cxn modelId="{AD2DAF77-4B7E-4C1F-A22B-9BD6ED434A6B}" type="presOf" srcId="{E271EAEF-366A-442B-9E39-4C9C9C1584F6}" destId="{0EA6D4BA-C7C8-43CB-A83C-4793122AB052}" srcOrd="1" destOrd="1" presId="urn:microsoft.com/office/officeart/2005/8/layout/vList4"/>
    <dgm:cxn modelId="{6379AA59-9969-4298-8CF2-3B2E6C2E1197}" type="presOf" srcId="{AE61B60D-5C7F-4E84-80A0-12A97FF5B376}" destId="{8D7E0113-1E0D-4D5D-8B47-F06273E3557E}" srcOrd="1" destOrd="1" presId="urn:microsoft.com/office/officeart/2005/8/layout/vList4"/>
    <dgm:cxn modelId="{39882E7C-F318-43CA-8D57-F0D9829AB782}" srcId="{4CED07BA-0E90-4496-86F2-E97C7B1CDC59}" destId="{1095624A-9616-4DBD-8256-BD4144D26DE7}" srcOrd="0" destOrd="0" parTransId="{152EA17E-68B9-4085-B0BB-FE730F44EF90}" sibTransId="{FC7FCD65-E396-4A50-9035-EA8DA6ED1A6C}"/>
    <dgm:cxn modelId="{D092A08A-54D0-46EA-84FE-27B74910B045}" type="presOf" srcId="{4CED07BA-0E90-4496-86F2-E97C7B1CDC59}" destId="{7C08F703-CC7F-425C-B210-599F95F68DA9}" srcOrd="1" destOrd="0" presId="urn:microsoft.com/office/officeart/2005/8/layout/vList4"/>
    <dgm:cxn modelId="{5BF49B96-1C26-42F6-A84F-64E0F005D29B}" type="presOf" srcId="{1095624A-9616-4DBD-8256-BD4144D26DE7}" destId="{9F2CCA42-A880-46B5-98A5-D2A090D67997}" srcOrd="0" destOrd="1" presId="urn:microsoft.com/office/officeart/2005/8/layout/vList4"/>
    <dgm:cxn modelId="{FF928FA1-1571-4F71-8CB5-99C20637C8DE}" srcId="{511D782F-DD9F-440C-BC12-45176C6B5CD4}" destId="{00127DA5-7BB3-4F00-8602-0DA3D7BC8438}" srcOrd="1" destOrd="0" parTransId="{87D17479-A31B-486B-ACD0-B44EBF51B089}" sibTransId="{90282743-593D-4212-9EB5-BD4CEEB0C35A}"/>
    <dgm:cxn modelId="{E7465CA6-7B1E-496C-BF6D-8DB345481818}" type="presOf" srcId="{511D782F-DD9F-440C-BC12-45176C6B5CD4}" destId="{C943AF9B-568D-46CF-AA74-ACBE244990EF}" srcOrd="0" destOrd="0" presId="urn:microsoft.com/office/officeart/2005/8/layout/vList4"/>
    <dgm:cxn modelId="{CAA0C2C0-6018-4355-9FDA-4B3D0CB853B3}" srcId="{58651884-9D1E-4CC7-9585-90E8E6556888}" destId="{511D782F-DD9F-440C-BC12-45176C6B5CD4}" srcOrd="2" destOrd="0" parTransId="{9F828C3E-3C8B-4B04-8872-99F4843AFED4}" sibTransId="{50471E19-5238-46D5-8532-F27610EF3B2A}"/>
    <dgm:cxn modelId="{010F04C6-9741-43C0-B320-102A86EE4657}" srcId="{511D782F-DD9F-440C-BC12-45176C6B5CD4}" destId="{E271EAEF-366A-442B-9E39-4C9C9C1584F6}" srcOrd="0" destOrd="0" parTransId="{508336CB-642F-41E0-ADEC-DDF714B04D17}" sibTransId="{370205F4-33EF-4071-B499-624B644D179B}"/>
    <dgm:cxn modelId="{1621B0C6-311E-47D4-955A-C661045B7288}" srcId="{AD3FDC08-B66F-4B5C-9A74-534007CB1A82}" destId="{0648F8EE-6930-4CE3-B124-884E80A16D50}" srcOrd="1" destOrd="0" parTransId="{22BDEABB-797B-4927-9FE8-E8C26401B0BF}" sibTransId="{B9C49785-5CAE-42E6-BE22-A3D4ADC40CF4}"/>
    <dgm:cxn modelId="{C3E0E6DE-B626-459B-8D2A-9844EB38A1BE}" type="presOf" srcId="{4CED07BA-0E90-4496-86F2-E97C7B1CDC59}" destId="{9F2CCA42-A880-46B5-98A5-D2A090D67997}" srcOrd="0" destOrd="0" presId="urn:microsoft.com/office/officeart/2005/8/layout/vList4"/>
    <dgm:cxn modelId="{CED0F2E1-7D57-48B5-8D64-F343BAD4205C}" type="presOf" srcId="{0648F8EE-6930-4CE3-B124-884E80A16D50}" destId="{8D7E0113-1E0D-4D5D-8B47-F06273E3557E}" srcOrd="1" destOrd="2" presId="urn:microsoft.com/office/officeart/2005/8/layout/vList4"/>
    <dgm:cxn modelId="{9E8769E8-2086-42E4-8F7A-FBDA1673B382}" srcId="{58651884-9D1E-4CC7-9585-90E8E6556888}" destId="{4CED07BA-0E90-4496-86F2-E97C7B1CDC59}" srcOrd="0" destOrd="0" parTransId="{5E258E86-24E4-416E-849F-1B87672128FE}" sibTransId="{CBAAD2B6-D3A7-440E-A978-73F1ED5B92DB}"/>
    <dgm:cxn modelId="{3E36C5FA-8194-4AD3-AD8E-CE4FE950F72A}" type="presOf" srcId="{AD3FDC08-B66F-4B5C-9A74-534007CB1A82}" destId="{8D7E0113-1E0D-4D5D-8B47-F06273E3557E}" srcOrd="1" destOrd="0" presId="urn:microsoft.com/office/officeart/2005/8/layout/vList4"/>
    <dgm:cxn modelId="{63F24AFE-16AD-426B-8311-DCC8DD275F4D}" srcId="{58651884-9D1E-4CC7-9585-90E8E6556888}" destId="{AD3FDC08-B66F-4B5C-9A74-534007CB1A82}" srcOrd="1" destOrd="0" parTransId="{65992467-42AE-4A7D-9783-AED9BA45F849}" sibTransId="{893D575A-7625-4823-9E56-3ACD2D34D99C}"/>
    <dgm:cxn modelId="{4F5DE43F-0E83-4755-AFA8-E30439F59179}" type="presParOf" srcId="{306DEC25-6E23-4DD1-941A-0869A6D71ACB}" destId="{F9B52AED-597F-49B4-A0A7-F83D5D1F3431}" srcOrd="0" destOrd="0" presId="urn:microsoft.com/office/officeart/2005/8/layout/vList4"/>
    <dgm:cxn modelId="{902A6C6E-93C7-4747-819E-48293B9BEF31}" type="presParOf" srcId="{F9B52AED-597F-49B4-A0A7-F83D5D1F3431}" destId="{9F2CCA42-A880-46B5-98A5-D2A090D67997}" srcOrd="0" destOrd="0" presId="urn:microsoft.com/office/officeart/2005/8/layout/vList4"/>
    <dgm:cxn modelId="{64C0F3DD-1CFB-4409-9694-F42008D558F2}" type="presParOf" srcId="{F9B52AED-597F-49B4-A0A7-F83D5D1F3431}" destId="{BEC4182B-0EB1-4B2E-BBED-EA0312D8C875}" srcOrd="1" destOrd="0" presId="urn:microsoft.com/office/officeart/2005/8/layout/vList4"/>
    <dgm:cxn modelId="{752D3071-9F3B-49B1-BC6A-ADB543BF8A44}" type="presParOf" srcId="{F9B52AED-597F-49B4-A0A7-F83D5D1F3431}" destId="{7C08F703-CC7F-425C-B210-599F95F68DA9}" srcOrd="2" destOrd="0" presId="urn:microsoft.com/office/officeart/2005/8/layout/vList4"/>
    <dgm:cxn modelId="{DC3CF382-5B8B-46AB-B9C8-BF9BFFDD5676}" type="presParOf" srcId="{306DEC25-6E23-4DD1-941A-0869A6D71ACB}" destId="{5A7D289C-7FBB-40F1-9D1B-22E064EFFE8A}" srcOrd="1" destOrd="0" presId="urn:microsoft.com/office/officeart/2005/8/layout/vList4"/>
    <dgm:cxn modelId="{1FC9B102-5A57-4AA7-92D7-AA240AB903DB}" type="presParOf" srcId="{306DEC25-6E23-4DD1-941A-0869A6D71ACB}" destId="{5F9FD730-F279-49CF-92B5-BD38C8BADC9B}" srcOrd="2" destOrd="0" presId="urn:microsoft.com/office/officeart/2005/8/layout/vList4"/>
    <dgm:cxn modelId="{B5CF5AD0-6394-4A1A-A38E-430EC9DBC18D}" type="presParOf" srcId="{5F9FD730-F279-49CF-92B5-BD38C8BADC9B}" destId="{F6E0E177-6DB0-47D4-9550-D431661BB769}" srcOrd="0" destOrd="0" presId="urn:microsoft.com/office/officeart/2005/8/layout/vList4"/>
    <dgm:cxn modelId="{1C55556E-1A76-4B46-BDEB-CBED259EE6B5}" type="presParOf" srcId="{5F9FD730-F279-49CF-92B5-BD38C8BADC9B}" destId="{7FF07743-CF3E-47AB-AE23-F7AAA7BD9DCA}" srcOrd="1" destOrd="0" presId="urn:microsoft.com/office/officeart/2005/8/layout/vList4"/>
    <dgm:cxn modelId="{6ECBB957-6A69-4E5D-8BE0-5D526E34ABA8}" type="presParOf" srcId="{5F9FD730-F279-49CF-92B5-BD38C8BADC9B}" destId="{8D7E0113-1E0D-4D5D-8B47-F06273E3557E}" srcOrd="2" destOrd="0" presId="urn:microsoft.com/office/officeart/2005/8/layout/vList4"/>
    <dgm:cxn modelId="{0B216F3E-B173-407C-9B9B-CC386A97A134}" type="presParOf" srcId="{306DEC25-6E23-4DD1-941A-0869A6D71ACB}" destId="{E97A0CE5-43AE-4682-A193-5D34654A4C0D}" srcOrd="3" destOrd="0" presId="urn:microsoft.com/office/officeart/2005/8/layout/vList4"/>
    <dgm:cxn modelId="{AF91B66C-8AB5-4895-B77D-801FEA49BA5F}" type="presParOf" srcId="{306DEC25-6E23-4DD1-941A-0869A6D71ACB}" destId="{57BB7FC4-4B5E-4B17-966F-1042C014DE46}" srcOrd="4" destOrd="0" presId="urn:microsoft.com/office/officeart/2005/8/layout/vList4"/>
    <dgm:cxn modelId="{0702AA2C-B318-4E2C-9B4A-C751DCA6A65B}" type="presParOf" srcId="{57BB7FC4-4B5E-4B17-966F-1042C014DE46}" destId="{C943AF9B-568D-46CF-AA74-ACBE244990EF}" srcOrd="0" destOrd="0" presId="urn:microsoft.com/office/officeart/2005/8/layout/vList4"/>
    <dgm:cxn modelId="{4833085E-6E80-4F11-AA54-28126D844F60}" type="presParOf" srcId="{57BB7FC4-4B5E-4B17-966F-1042C014DE46}" destId="{0535B080-59BC-4432-BE8F-4BF39CACB32B}" srcOrd="1" destOrd="0" presId="urn:microsoft.com/office/officeart/2005/8/layout/vList4"/>
    <dgm:cxn modelId="{1C68D09C-4410-4B0A-B625-84ECA72C6DDF}" type="presParOf" srcId="{57BB7FC4-4B5E-4B17-966F-1042C014DE46}" destId="{0EA6D4BA-C7C8-43CB-A83C-4793122AB052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0B33FC-CEBC-4DF1-B0A4-0B0203DADEEF}">
      <dsp:nvSpPr>
        <dsp:cNvPr id="0" name=""/>
        <dsp:cNvSpPr/>
      </dsp:nvSpPr>
      <dsp:spPr>
        <a:xfrm>
          <a:off x="2468700" y="1113"/>
          <a:ext cx="1339319" cy="133931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Identification</a:t>
          </a:r>
        </a:p>
      </dsp:txBody>
      <dsp:txXfrm>
        <a:off x="2664839" y="197252"/>
        <a:ext cx="947041" cy="947041"/>
      </dsp:txXfrm>
    </dsp:sp>
    <dsp:sp modelId="{C5CA6797-02AD-4446-A98E-2B37BA884B69}">
      <dsp:nvSpPr>
        <dsp:cNvPr id="0" name=""/>
        <dsp:cNvSpPr/>
      </dsp:nvSpPr>
      <dsp:spPr>
        <a:xfrm rot="2700000">
          <a:off x="3664178" y="1148380"/>
          <a:ext cx="355596" cy="4520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</dsp:txBody>
      <dsp:txXfrm>
        <a:off x="3679801" y="1201067"/>
        <a:ext cx="248917" cy="271212"/>
      </dsp:txXfrm>
    </dsp:sp>
    <dsp:sp modelId="{668B2A1E-1EF5-48DC-8C3C-0B3AC2394D14}">
      <dsp:nvSpPr>
        <dsp:cNvPr id="0" name=""/>
        <dsp:cNvSpPr/>
      </dsp:nvSpPr>
      <dsp:spPr>
        <a:xfrm>
          <a:off x="3890166" y="1422580"/>
          <a:ext cx="1339319" cy="133931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Assessment</a:t>
          </a:r>
        </a:p>
      </dsp:txBody>
      <dsp:txXfrm>
        <a:off x="4086305" y="1618719"/>
        <a:ext cx="947041" cy="947041"/>
      </dsp:txXfrm>
    </dsp:sp>
    <dsp:sp modelId="{FA2BF0A9-09E9-47AA-8EA1-8E7F86AA1B9A}">
      <dsp:nvSpPr>
        <dsp:cNvPr id="0" name=""/>
        <dsp:cNvSpPr/>
      </dsp:nvSpPr>
      <dsp:spPr>
        <a:xfrm rot="8100000">
          <a:off x="3678411" y="2569846"/>
          <a:ext cx="355596" cy="4520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</dsp:txBody>
      <dsp:txXfrm rot="10800000">
        <a:off x="3769467" y="2622533"/>
        <a:ext cx="248917" cy="271212"/>
      </dsp:txXfrm>
    </dsp:sp>
    <dsp:sp modelId="{83891146-9E46-479F-B8EC-6BF12B2E3045}">
      <dsp:nvSpPr>
        <dsp:cNvPr id="0" name=""/>
        <dsp:cNvSpPr/>
      </dsp:nvSpPr>
      <dsp:spPr>
        <a:xfrm>
          <a:off x="2468700" y="2844046"/>
          <a:ext cx="1339319" cy="133931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Analysis</a:t>
          </a:r>
        </a:p>
      </dsp:txBody>
      <dsp:txXfrm>
        <a:off x="2664839" y="3040185"/>
        <a:ext cx="947041" cy="947041"/>
      </dsp:txXfrm>
    </dsp:sp>
    <dsp:sp modelId="{02245554-933E-4D48-9E6B-C29EC8D58E90}">
      <dsp:nvSpPr>
        <dsp:cNvPr id="0" name=""/>
        <dsp:cNvSpPr/>
      </dsp:nvSpPr>
      <dsp:spPr>
        <a:xfrm rot="13500000">
          <a:off x="2256944" y="2584079"/>
          <a:ext cx="355596" cy="4520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</dsp:txBody>
      <dsp:txXfrm rot="10800000">
        <a:off x="2348000" y="2712200"/>
        <a:ext cx="248917" cy="271212"/>
      </dsp:txXfrm>
    </dsp:sp>
    <dsp:sp modelId="{4BD7BD82-0A38-4E58-B336-5948F4D3332C}">
      <dsp:nvSpPr>
        <dsp:cNvPr id="0" name=""/>
        <dsp:cNvSpPr/>
      </dsp:nvSpPr>
      <dsp:spPr>
        <a:xfrm>
          <a:off x="1047233" y="1422580"/>
          <a:ext cx="1339319" cy="133931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Response</a:t>
          </a:r>
          <a:endParaRPr lang="en-US" sz="1200" b="1" kern="1200" dirty="0"/>
        </a:p>
      </dsp:txBody>
      <dsp:txXfrm>
        <a:off x="1243372" y="1618719"/>
        <a:ext cx="947041" cy="947041"/>
      </dsp:txXfrm>
    </dsp:sp>
    <dsp:sp modelId="{7222BAD6-023E-4F88-86FF-87D105F0529F}">
      <dsp:nvSpPr>
        <dsp:cNvPr id="0" name=""/>
        <dsp:cNvSpPr/>
      </dsp:nvSpPr>
      <dsp:spPr>
        <a:xfrm rot="18900000">
          <a:off x="2242711" y="1162612"/>
          <a:ext cx="355596" cy="4520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</dsp:txBody>
      <dsp:txXfrm>
        <a:off x="2258334" y="1290733"/>
        <a:ext cx="248917" cy="2712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2CCA42-A880-46B5-98A5-D2A090D67997}">
      <dsp:nvSpPr>
        <dsp:cNvPr id="0" name=""/>
        <dsp:cNvSpPr/>
      </dsp:nvSpPr>
      <dsp:spPr>
        <a:xfrm>
          <a:off x="0" y="0"/>
          <a:ext cx="5387975" cy="1122494"/>
        </a:xfrm>
        <a:prstGeom prst="roundRect">
          <a:avLst>
            <a:gd name="adj" fmla="val 10000"/>
          </a:avLst>
        </a:prstGeom>
        <a:solidFill>
          <a:srgbClr val="1D376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Social Engineering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Phishing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Impersonation</a:t>
          </a:r>
        </a:p>
      </dsp:txBody>
      <dsp:txXfrm>
        <a:off x="1189844" y="0"/>
        <a:ext cx="4198130" cy="1122494"/>
      </dsp:txXfrm>
    </dsp:sp>
    <dsp:sp modelId="{BEC4182B-0EB1-4B2E-BBED-EA0312D8C875}">
      <dsp:nvSpPr>
        <dsp:cNvPr id="0" name=""/>
        <dsp:cNvSpPr/>
      </dsp:nvSpPr>
      <dsp:spPr>
        <a:xfrm>
          <a:off x="112249" y="112249"/>
          <a:ext cx="1077595" cy="89799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3000" b="-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E0E177-6DB0-47D4-9550-D431661BB769}">
      <dsp:nvSpPr>
        <dsp:cNvPr id="0" name=""/>
        <dsp:cNvSpPr/>
      </dsp:nvSpPr>
      <dsp:spPr>
        <a:xfrm>
          <a:off x="0" y="1234744"/>
          <a:ext cx="5387975" cy="1122494"/>
        </a:xfrm>
        <a:prstGeom prst="roundRect">
          <a:avLst>
            <a:gd name="adj" fmla="val 10000"/>
          </a:avLst>
        </a:prstGeom>
        <a:solidFill>
          <a:srgbClr val="1D376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Malware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Virus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Ransomware</a:t>
          </a:r>
        </a:p>
      </dsp:txBody>
      <dsp:txXfrm>
        <a:off x="1189844" y="1234744"/>
        <a:ext cx="4198130" cy="1122494"/>
      </dsp:txXfrm>
    </dsp:sp>
    <dsp:sp modelId="{7FF07743-CF3E-47AB-AE23-F7AAA7BD9DCA}">
      <dsp:nvSpPr>
        <dsp:cNvPr id="0" name=""/>
        <dsp:cNvSpPr/>
      </dsp:nvSpPr>
      <dsp:spPr>
        <a:xfrm>
          <a:off x="112249" y="1346993"/>
          <a:ext cx="1077595" cy="89799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10000" b="-10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43AF9B-568D-46CF-AA74-ACBE244990EF}">
      <dsp:nvSpPr>
        <dsp:cNvPr id="0" name=""/>
        <dsp:cNvSpPr/>
      </dsp:nvSpPr>
      <dsp:spPr>
        <a:xfrm>
          <a:off x="0" y="2469488"/>
          <a:ext cx="5387975" cy="1122494"/>
        </a:xfrm>
        <a:prstGeom prst="roundRect">
          <a:avLst>
            <a:gd name="adj" fmla="val 10000"/>
          </a:avLst>
        </a:prstGeom>
        <a:solidFill>
          <a:srgbClr val="1D376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Denial of Service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DDoS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Botnet</a:t>
          </a:r>
        </a:p>
      </dsp:txBody>
      <dsp:txXfrm>
        <a:off x="1189844" y="2469488"/>
        <a:ext cx="4198130" cy="1122494"/>
      </dsp:txXfrm>
    </dsp:sp>
    <dsp:sp modelId="{0535B080-59BC-4432-BE8F-4BF39CACB32B}">
      <dsp:nvSpPr>
        <dsp:cNvPr id="0" name=""/>
        <dsp:cNvSpPr/>
      </dsp:nvSpPr>
      <dsp:spPr>
        <a:xfrm>
          <a:off x="112249" y="2581738"/>
          <a:ext cx="1077595" cy="89799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t="-10000" b="-10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F75AEF-6AF8-074D-A4DB-F71FD6F9C37D}" type="datetimeFigureOut">
              <a:rPr lang="en-US" smtClean="0"/>
              <a:t>4/26/2023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D9A6D-5233-6641-90BA-8328590F05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546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AE85D-3A3F-7B46-A18E-DF160D9D2CC7}" type="datetimeFigureOut">
              <a:rPr lang="en-US" smtClean="0"/>
              <a:t>4/26/2023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DA35F-9E58-5D40-92C1-D8C7631003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3101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rse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900" y="1302040"/>
            <a:ext cx="11280200" cy="4131352"/>
          </a:xfrm>
          <a:prstGeom prst="rect">
            <a:avLst/>
          </a:prstGeom>
        </p:spPr>
        <p:txBody>
          <a:bodyPr numCol="2" spcCol="137160"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rabicPeriod"/>
              <a:tabLst/>
              <a:defRPr sz="1800" baseline="0">
                <a:sym typeface="Wingdings" panose="05000000000000000000" pitchFamily="2" charset="2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rabicPeriod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rabicPeriod"/>
              <a:tabLst/>
              <a:defRPr sz="1400"/>
            </a:lvl3pPr>
          </a:lstStyle>
          <a:p>
            <a:pPr marL="173038" lvl="0" indent="-173038"/>
            <a:r>
              <a:rPr lang="en-US" dirty="0"/>
              <a:t>Click to add text. If you have &lt;12 lessons, select </a:t>
            </a:r>
            <a:r>
              <a:rPr lang="en-US" dirty="0" err="1"/>
              <a:t>HomeAdd</a:t>
            </a:r>
            <a:r>
              <a:rPr lang="en-US" dirty="0"/>
              <a:t> or Remove </a:t>
            </a:r>
            <a:r>
              <a:rPr lang="en-US" dirty="0" err="1"/>
              <a:t>ColumnsOne</a:t>
            </a:r>
            <a:r>
              <a:rPr lang="en-US" dirty="0"/>
              <a:t> Column to prevent wrapping issues with long titles.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7889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“Course Outline: [Course Title]”</a:t>
            </a:r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1CA89CD-FB39-834A-B366-6013C2849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770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sson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11280200" cy="4131352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lphaUcPeriod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lphaUcPeriod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lphaUcPeriod"/>
              <a:tabLst/>
              <a:defRPr sz="1400"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7889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Lesson title</a:t>
            </a:r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1CA89CD-FB39-834A-B366-6013C2849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119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rectangle&#10;&#10;Description automatically generated">
            <a:extLst>
              <a:ext uri="{FF2B5EF4-FFF2-40B4-BE49-F238E27FC236}">
                <a16:creationId xmlns:a16="http://schemas.microsoft.com/office/drawing/2014/main" id="{D770E60D-FD97-4043-81F1-289AA5E51D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6D59A8F-E744-4482-BF05-F930781695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3235643"/>
            <a:ext cx="10363200" cy="1362075"/>
          </a:xfrm>
        </p:spPr>
        <p:txBody>
          <a:bodyPr anchor="ctr"/>
          <a:lstStyle>
            <a:lvl1pPr marL="0" indent="0" algn="ctr">
              <a:buNone/>
              <a:defRPr sz="4400" b="1" cap="all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topic title</a:t>
            </a:r>
          </a:p>
        </p:txBody>
      </p:sp>
      <p:pic>
        <p:nvPicPr>
          <p:cNvPr id="8" name="Picture 7" descr="A group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18AA9BFF-9ED8-2D40-92F4-996C75C1C1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05975" y="6424777"/>
            <a:ext cx="2076450" cy="286880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BB1E05F0-CFAF-A446-AE72-71681949D9CF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2023 CertNexus, Inc. All rights reserved.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EF71B82E-1518-9342-B652-C27727A416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61921" y="853440"/>
            <a:ext cx="6879270" cy="2334261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38086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11280200" cy="4920960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8905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0A037335-1258-EF45-B44C-2F4D9BFDCF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048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DF39B6-089A-D744-B207-90D8B780B7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5165411" cy="4920960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8905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pic>
        <p:nvPicPr>
          <p:cNvPr id="11" name="Picture 10" descr="A group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76BA429E-88B1-B942-9C74-1AB5F33A3C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03674" y="6438275"/>
            <a:ext cx="1881052" cy="25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12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68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E0645ACB-515B-844F-A6FE-5A9C2CC912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group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127A344B-E698-2E47-A734-E1CE134147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05975" y="6424777"/>
            <a:ext cx="2076450" cy="2868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40155" y="2785873"/>
            <a:ext cx="10511691" cy="1286256"/>
          </a:xfrm>
        </p:spPr>
        <p:txBody>
          <a:bodyPr/>
          <a:lstStyle>
            <a:lvl1pPr algn="ctr">
              <a:defRPr sz="44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A2CE11F-9E63-044F-B02D-D030806CCD69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2023 CertNexus,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72144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ner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319539" cy="955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5900" y="1302043"/>
            <a:ext cx="11280200" cy="4481345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EA977C3C-812B-204B-BEB0-8F3E056FBA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403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lossary Term Definition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3EEA2D-3653-2F41-934A-ED2CDFD988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897811" y="2062480"/>
            <a:ext cx="7522234" cy="4265168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800" baseline="0">
                <a:solidFill>
                  <a:schemeClr val="bg1"/>
                </a:solidFill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600" baseline="0">
                <a:solidFill>
                  <a:schemeClr val="bg1"/>
                </a:solidFill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>
                <a:solidFill>
                  <a:schemeClr val="bg1"/>
                </a:solidFill>
              </a:defRPr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901628" y="290945"/>
            <a:ext cx="7501317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FB19520-E82C-4B3B-A166-692B3551D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01628" y="1233054"/>
            <a:ext cx="7501317" cy="748145"/>
          </a:xfr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Term: definition</a:t>
            </a:r>
          </a:p>
        </p:txBody>
      </p:sp>
    </p:spTree>
    <p:extLst>
      <p:ext uri="{BB962C8B-B14F-4D97-AF65-F5344CB8AC3E}">
        <p14:creationId xmlns:p14="http://schemas.microsoft.com/office/powerpoint/2010/main" val="1473669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ssary Term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BE99981-5C84-844C-A6A7-26590EE3D7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A0FABA5-3959-4ECC-BCAF-965B5087E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1653" y="0"/>
            <a:ext cx="7349705" cy="1397000"/>
          </a:xfrm>
        </p:spPr>
        <p:txBody>
          <a:bodyPr/>
          <a:lstStyle>
            <a:lvl1pPr>
              <a:defRPr sz="2800"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A169CA63-D23E-4494-8445-3335F13F19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905" y="2156604"/>
            <a:ext cx="7349705" cy="2649076"/>
          </a:xfr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2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Term: definition</a:t>
            </a:r>
          </a:p>
        </p:txBody>
      </p:sp>
    </p:spTree>
    <p:extLst>
      <p:ext uri="{BB962C8B-B14F-4D97-AF65-F5344CB8AC3E}">
        <p14:creationId xmlns:p14="http://schemas.microsoft.com/office/powerpoint/2010/main" val="3586892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s-On 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C9B9BA-D0BE-5C45-93C2-C0597F00D0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02FDC18-07C2-8E4C-A0AD-E0A207C9B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1449" y="1302040"/>
            <a:ext cx="6957694" cy="4073524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818D182-A7CC-CC43-B849-8EF89FE6B8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0306" y="290945"/>
            <a:ext cx="6986571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ADD ACTIVITY TITLE</a:t>
            </a:r>
          </a:p>
        </p:txBody>
      </p:sp>
    </p:spTree>
    <p:extLst>
      <p:ext uri="{BB962C8B-B14F-4D97-AF65-F5344CB8AC3E}">
        <p14:creationId xmlns:p14="http://schemas.microsoft.com/office/powerpoint/2010/main" val="685139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s-On Activi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6E9A21-B09E-3042-A581-B6A6316B25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8C1E330-78E3-8C4C-BFD6-B2109EC92F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2831" y="1510146"/>
            <a:ext cx="6927274" cy="2105890"/>
          </a:xfr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ACTIVITY: TITLE</a:t>
            </a:r>
          </a:p>
        </p:txBody>
      </p:sp>
    </p:spTree>
    <p:extLst>
      <p:ext uri="{BB962C8B-B14F-4D97-AF65-F5344CB8AC3E}">
        <p14:creationId xmlns:p14="http://schemas.microsoft.com/office/powerpoint/2010/main" val="306450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s-On 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F8399-FFF5-714D-8FE2-89A7788522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083366" y="1302040"/>
            <a:ext cx="7245626" cy="4073524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7F3FAEE-EBB5-8F41-9D49-C3A289C7D7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223" y="290945"/>
            <a:ext cx="7275698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ACTIVITY TITLE</a:t>
            </a:r>
          </a:p>
        </p:txBody>
      </p:sp>
    </p:spTree>
    <p:extLst>
      <p:ext uri="{BB962C8B-B14F-4D97-AF65-F5344CB8AC3E}">
        <p14:creationId xmlns:p14="http://schemas.microsoft.com/office/powerpoint/2010/main" val="34646746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s-On Activi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CA4131-5CC5-0446-9EA8-4C9F6E974B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15AE6-89DC-4B00-95C2-C09677B47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5236" y="1510146"/>
            <a:ext cx="6927274" cy="2105890"/>
          </a:xfr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ACTIVITY: TITLE</a:t>
            </a:r>
          </a:p>
        </p:txBody>
      </p:sp>
    </p:spTree>
    <p:extLst>
      <p:ext uri="{BB962C8B-B14F-4D97-AF65-F5344CB8AC3E}">
        <p14:creationId xmlns:p14="http://schemas.microsoft.com/office/powerpoint/2010/main" val="31490413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lective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2495DB-8197-C747-9D12-B9B16AD790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9B97F-4B6B-4623-8514-D7FD629FE2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5236" y="1302042"/>
            <a:ext cx="8065601" cy="3461344"/>
          </a:xfrm>
        </p:spPr>
        <p:txBody>
          <a:bodyPr/>
          <a:lstStyle>
            <a:lvl1pPr>
              <a:spcAft>
                <a:spcPts val="2400"/>
              </a:spcAft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/>
            </a:lvl2pPr>
            <a:lvl3pPr marL="1257300" indent="-342900">
              <a:buFont typeface="+mj-lt"/>
              <a:buAutoNum type="arabicPeriod"/>
              <a:defRPr/>
            </a:lvl3pPr>
            <a:lvl4pPr marL="1828800" indent="-457200">
              <a:buFont typeface="+mj-lt"/>
              <a:buAutoNum type="arabicPeriod"/>
              <a:defRPr/>
            </a:lvl4pPr>
            <a:lvl5pPr marL="2286000" indent="-457200"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Insert Question #1</a:t>
            </a:r>
          </a:p>
          <a:p>
            <a:pPr lvl="0"/>
            <a:r>
              <a:rPr lang="en-US" dirty="0"/>
              <a:t>Insert Question #2</a:t>
            </a:r>
          </a:p>
          <a:p>
            <a:pPr lvl="0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81B051-CC06-447C-AEEE-4E1DE7CB3684}"/>
              </a:ext>
            </a:extLst>
          </p:cNvPr>
          <p:cNvSpPr txBox="1"/>
          <p:nvPr userDrawn="1"/>
        </p:nvSpPr>
        <p:spPr>
          <a:xfrm>
            <a:off x="997528" y="462617"/>
            <a:ext cx="8672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Calibri" panose="020F0502020204030204" pitchFamily="34" charset="0"/>
              </a:rPr>
              <a:t>REFLECTIVE QUESTIONS</a:t>
            </a:r>
          </a:p>
        </p:txBody>
      </p:sp>
    </p:spTree>
    <p:extLst>
      <p:ext uri="{BB962C8B-B14F-4D97-AF65-F5344CB8AC3E}">
        <p14:creationId xmlns:p14="http://schemas.microsoft.com/office/powerpoint/2010/main" val="1364322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6017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265D8D75-6CEC-F848-822E-BF7A0AFAF0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66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No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193AA2-F1FD-415B-809F-52E7D4576B38}"/>
              </a:ext>
            </a:extLst>
          </p:cNvPr>
          <p:cNvSpPr/>
          <p:nvPr userDrawn="1"/>
        </p:nvSpPr>
        <p:spPr>
          <a:xfrm>
            <a:off x="0" y="1"/>
            <a:ext cx="12192000" cy="979749"/>
          </a:xfrm>
          <a:prstGeom prst="rect">
            <a:avLst/>
          </a:prstGeom>
          <a:solidFill>
            <a:schemeClr val="bg2"/>
          </a:solidFill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/>
            <a:endParaRPr lang="en-US" sz="1100" b="1" kern="0" dirty="0">
              <a:solidFill>
                <a:srgbClr val="FF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89535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5BA03AB-6813-664D-B697-5FFAF521D1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074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Autofit/>
          </a:bodyPr>
          <a:lstStyle>
            <a:lvl1pPr marL="0" indent="0" algn="l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05292730-C4A0-C547-BA9D-56A0205CD9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343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297" y="0"/>
            <a:ext cx="10397067" cy="955040"/>
          </a:xfrm>
        </p:spPr>
        <p:txBody>
          <a:bodyPr anchor="ctr" anchorCtr="0">
            <a:no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435103"/>
            <a:ext cx="6815667" cy="469106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49EAFBBC-2C9E-1241-84D4-E9756B6DE5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62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956904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13694"/>
            <a:ext cx="7315200" cy="3770187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52364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4F6FF233-EB40-BE4E-8AC9-9CA2504D2A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0540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728CC025-3396-904D-927D-1DFCABD646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8597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839200" y="1211385"/>
            <a:ext cx="2743200" cy="4914778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11385"/>
            <a:ext cx="8026400" cy="49147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2D64BF27-2D44-684C-892F-6C15A97C68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504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253B76-2A7A-7948-8D60-7A6A79959BAB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0" y="0"/>
            <a:ext cx="12192000" cy="9779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901" y="0"/>
            <a:ext cx="11284154" cy="9655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900" y="1307130"/>
            <a:ext cx="11280203" cy="49354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43741" y="645564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C4C4C4"/>
                </a:solidFill>
                <a:latin typeface="Arial"/>
                <a:cs typeface="Arial"/>
              </a:defRPr>
            </a:lvl1pPr>
          </a:lstStyle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2"/>
          <p:cNvSpPr txBox="1">
            <a:spLocks/>
          </p:cNvSpPr>
          <p:nvPr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2023 CertNexus,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7048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71" r:id="rId2"/>
    <p:sldLayoutId id="2147483948" r:id="rId3"/>
    <p:sldLayoutId id="2147483952" r:id="rId4"/>
    <p:sldLayoutId id="2147483970" r:id="rId5"/>
    <p:sldLayoutId id="2147483938" r:id="rId6"/>
    <p:sldLayoutId id="2147483953" r:id="rId7"/>
    <p:sldLayoutId id="2147483931" r:id="rId8"/>
    <p:sldLayoutId id="2147483932" r:id="rId9"/>
    <p:sldLayoutId id="2147483951" r:id="rId10"/>
    <p:sldLayoutId id="2147483936" r:id="rId11"/>
    <p:sldLayoutId id="2147483937" r:id="rId12"/>
    <p:sldLayoutId id="2147483934" r:id="rId13"/>
    <p:sldLayoutId id="2147483935" r:id="rId14"/>
    <p:sldLayoutId id="2147483939" r:id="rId15"/>
    <p:sldLayoutId id="2147483940" r:id="rId16"/>
    <p:sldLayoutId id="2147483955" r:id="rId17"/>
    <p:sldLayoutId id="2147483950" r:id="rId18"/>
    <p:sldLayoutId id="2147483942" r:id="rId19"/>
    <p:sldLayoutId id="2147483943" r:id="rId20"/>
    <p:sldLayoutId id="2147483944" r:id="rId21"/>
    <p:sldLayoutId id="2147483945" r:id="rId22"/>
    <p:sldLayoutId id="2147483946" r:id="rId23"/>
    <p:sldLayoutId id="2147483947" r:id="rId24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kern="120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52.svg"/><Relationship Id="rId18" Type="http://schemas.openxmlformats.org/officeDocument/2006/relationships/image" Target="../media/image57.png"/><Relationship Id="rId26" Type="http://schemas.openxmlformats.org/officeDocument/2006/relationships/image" Target="../media/image65.png"/><Relationship Id="rId3" Type="http://schemas.openxmlformats.org/officeDocument/2006/relationships/image" Target="../media/image44.svg"/><Relationship Id="rId21" Type="http://schemas.openxmlformats.org/officeDocument/2006/relationships/image" Target="../media/image60.svg"/><Relationship Id="rId7" Type="http://schemas.openxmlformats.org/officeDocument/2006/relationships/image" Target="../media/image48.svg"/><Relationship Id="rId12" Type="http://schemas.openxmlformats.org/officeDocument/2006/relationships/image" Target="../media/image51.png"/><Relationship Id="rId17" Type="http://schemas.openxmlformats.org/officeDocument/2006/relationships/image" Target="../media/image56.svg"/><Relationship Id="rId25" Type="http://schemas.openxmlformats.org/officeDocument/2006/relationships/image" Target="../media/image64.svg"/><Relationship Id="rId2" Type="http://schemas.openxmlformats.org/officeDocument/2006/relationships/image" Target="../media/image43.png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png"/><Relationship Id="rId11" Type="http://schemas.openxmlformats.org/officeDocument/2006/relationships/image" Target="../media/image50.svg"/><Relationship Id="rId24" Type="http://schemas.openxmlformats.org/officeDocument/2006/relationships/image" Target="../media/image63.png"/><Relationship Id="rId5" Type="http://schemas.openxmlformats.org/officeDocument/2006/relationships/image" Target="../media/image46.svg"/><Relationship Id="rId15" Type="http://schemas.openxmlformats.org/officeDocument/2006/relationships/image" Target="../media/image54.svg"/><Relationship Id="rId23" Type="http://schemas.openxmlformats.org/officeDocument/2006/relationships/image" Target="../media/image62.svg"/><Relationship Id="rId10" Type="http://schemas.openxmlformats.org/officeDocument/2006/relationships/image" Target="../media/image49.png"/><Relationship Id="rId19" Type="http://schemas.openxmlformats.org/officeDocument/2006/relationships/image" Target="../media/image58.svg"/><Relationship Id="rId4" Type="http://schemas.openxmlformats.org/officeDocument/2006/relationships/image" Target="../media/image45.png"/><Relationship Id="rId9" Type="http://schemas.openxmlformats.org/officeDocument/2006/relationships/image" Target="../media/image30.svg"/><Relationship Id="rId14" Type="http://schemas.openxmlformats.org/officeDocument/2006/relationships/image" Target="../media/image53.png"/><Relationship Id="rId22" Type="http://schemas.openxmlformats.org/officeDocument/2006/relationships/image" Target="../media/image61.png"/><Relationship Id="rId27" Type="http://schemas.openxmlformats.org/officeDocument/2006/relationships/image" Target="../media/image6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sv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9.svg"/><Relationship Id="rId5" Type="http://schemas.openxmlformats.org/officeDocument/2006/relationships/image" Target="../media/image78.png"/><Relationship Id="rId10" Type="http://schemas.openxmlformats.org/officeDocument/2006/relationships/image" Target="../media/image83.svg"/><Relationship Id="rId4" Type="http://schemas.openxmlformats.org/officeDocument/2006/relationships/image" Target="../media/image77.svg"/><Relationship Id="rId9" Type="http://schemas.openxmlformats.org/officeDocument/2006/relationships/image" Target="../media/image8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6.svg"/><Relationship Id="rId4" Type="http://schemas.openxmlformats.org/officeDocument/2006/relationships/image" Target="../media/image8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34F508-FC0D-390C-67FC-61FA04EBE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of AI in Business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1F46E1-7309-2CE2-6F3D-92FBB98FC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</a:t>
            </a:fld>
            <a:endParaRPr lang="en-US" dirty="0"/>
          </a:p>
        </p:txBody>
      </p:sp>
      <p:pic>
        <p:nvPicPr>
          <p:cNvPr id="3" name="Picture Placeholder 13">
            <a:extLst>
              <a:ext uri="{FF2B5EF4-FFF2-40B4-BE49-F238E27FC236}">
                <a16:creationId xmlns:a16="http://schemas.microsoft.com/office/drawing/2014/main" id="{463D864F-FD9A-C902-850D-8C69C7D23D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34671" b="-34671"/>
          <a:stretch/>
        </p:blipFill>
        <p:spPr>
          <a:xfrm>
            <a:off x="2661921" y="853440"/>
            <a:ext cx="6879270" cy="233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338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50B8F3-0016-E59A-C0E4-EC70E0458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F10FD-C378-B6A8-A103-7FE29B153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 User Experiences</a:t>
            </a:r>
          </a:p>
          <a:p>
            <a:r>
              <a:rPr lang="en-US" dirty="0"/>
              <a:t>Segment Audiences</a:t>
            </a:r>
          </a:p>
          <a:p>
            <a:r>
              <a:rPr lang="en-US" dirty="0"/>
              <a:t>Secure Assets</a:t>
            </a:r>
          </a:p>
          <a:p>
            <a:r>
              <a:rPr lang="en-US" dirty="0"/>
              <a:t>Optimize Processes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CED616-3DD2-D1ED-621C-21462FCDA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of AI in Business</a:t>
            </a:r>
          </a:p>
        </p:txBody>
      </p:sp>
    </p:spTree>
    <p:extLst>
      <p:ext uri="{BB962C8B-B14F-4D97-AF65-F5344CB8AC3E}">
        <p14:creationId xmlns:p14="http://schemas.microsoft.com/office/powerpoint/2010/main" val="2728141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1C4CFB-1ACB-A14F-B6A4-435DA7645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926C4-B76F-6740-B2D3-3C573DAFAA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Improve User Experiences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4375A7E-ABC3-FF30-4427-7E8AC3260EE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34671" b="-34671"/>
          <a:stretch/>
        </p:blipFill>
        <p:spPr/>
      </p:pic>
    </p:spTree>
    <p:extLst>
      <p:ext uri="{BB962C8B-B14F-4D97-AF65-F5344CB8AC3E}">
        <p14:creationId xmlns:p14="http://schemas.microsoft.com/office/powerpoint/2010/main" val="2361299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5901DF-B998-575E-05F3-3024098B6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13758B4-AD27-9794-97CF-B5D7D62FA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Language Processing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EBA9FCA-6EC1-D757-33F6-D2836C464917}"/>
              </a:ext>
            </a:extLst>
          </p:cNvPr>
          <p:cNvSpPr/>
          <p:nvPr/>
        </p:nvSpPr>
        <p:spPr>
          <a:xfrm rot="16200000">
            <a:off x="2637813" y="-345264"/>
            <a:ext cx="801585" cy="4283034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/>
            <a:endParaRPr lang="en-US" sz="1100" b="1" kern="0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9163C4E-4202-C232-5767-BA512784E656}"/>
              </a:ext>
            </a:extLst>
          </p:cNvPr>
          <p:cNvSpPr/>
          <p:nvPr/>
        </p:nvSpPr>
        <p:spPr>
          <a:xfrm rot="16200000">
            <a:off x="2637813" y="606741"/>
            <a:ext cx="801585" cy="4283034"/>
          </a:xfrm>
          <a:prstGeom prst="roundRect">
            <a:avLst/>
          </a:prstGeom>
          <a:noFill/>
          <a:ln w="28575" cap="flat" cmpd="sng" algn="ctr">
            <a:solidFill>
              <a:srgbClr val="009DDC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/>
            <a:endParaRPr lang="en-US" sz="1100" b="1" kern="0" dirty="0">
              <a:solidFill>
                <a:srgbClr val="009DDC"/>
              </a:solidFill>
              <a:latin typeface="Arial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B4DC9DA-0DA1-A944-2816-B3D0D4A1F22B}"/>
              </a:ext>
            </a:extLst>
          </p:cNvPr>
          <p:cNvSpPr/>
          <p:nvPr/>
        </p:nvSpPr>
        <p:spPr>
          <a:xfrm rot="16200000">
            <a:off x="2637811" y="1558746"/>
            <a:ext cx="801585" cy="4283034"/>
          </a:xfrm>
          <a:prstGeom prst="roundRect">
            <a:avLst/>
          </a:prstGeom>
          <a:noFill/>
          <a:ln w="28575" cap="flat" cmpd="sng" algn="ctr">
            <a:solidFill>
              <a:srgbClr val="1D3764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/>
            <a:endParaRPr lang="en-US" sz="1100" b="1" kern="0" dirty="0">
              <a:solidFill>
                <a:srgbClr val="1D3764"/>
              </a:solidFill>
              <a:latin typeface="Arial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4ADA71-EAEF-67BE-9B7F-0094269B0DBF}"/>
              </a:ext>
            </a:extLst>
          </p:cNvPr>
          <p:cNvSpPr/>
          <p:nvPr/>
        </p:nvSpPr>
        <p:spPr>
          <a:xfrm rot="16200000">
            <a:off x="2637812" y="2510749"/>
            <a:ext cx="801585" cy="4283034"/>
          </a:xfrm>
          <a:prstGeom prst="roundRect">
            <a:avLst/>
          </a:prstGeom>
          <a:noFill/>
          <a:ln w="28575" cap="flat" cmpd="sng" algn="ctr">
            <a:solidFill>
              <a:srgbClr val="198CA8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/>
            <a:endParaRPr lang="en-US" sz="1100" b="1" kern="0" dirty="0">
              <a:solidFill>
                <a:srgbClr val="198CA8"/>
              </a:solidFill>
              <a:latin typeface="Arial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E2E5B84-4797-FDBD-C187-7E1DA674909C}"/>
              </a:ext>
            </a:extLst>
          </p:cNvPr>
          <p:cNvSpPr/>
          <p:nvPr/>
        </p:nvSpPr>
        <p:spPr>
          <a:xfrm rot="16200000">
            <a:off x="2637812" y="3462752"/>
            <a:ext cx="801585" cy="4283034"/>
          </a:xfrm>
          <a:prstGeom prst="roundRect">
            <a:avLst/>
          </a:prstGeom>
          <a:noFill/>
          <a:ln w="28575" cap="flat" cmpd="sng" algn="ctr">
            <a:solidFill>
              <a:srgbClr val="1D76BB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/>
            <a:endParaRPr lang="en-US" sz="1100" b="1" kern="0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12" name="Text Box 307">
            <a:extLst>
              <a:ext uri="{FF2B5EF4-FFF2-40B4-BE49-F238E27FC236}">
                <a16:creationId xmlns:a16="http://schemas.microsoft.com/office/drawing/2014/main" id="{CE29AE4A-B541-BDAD-4EE6-8E92BB680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252" y="3377097"/>
            <a:ext cx="204490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1D3764"/>
                </a:solidFill>
                <a:effectLst/>
                <a:uLnTx/>
                <a:uFillTx/>
                <a:latin typeface="Calibri"/>
                <a:cs typeface="Calibri"/>
              </a:rPr>
              <a:t>Natural Language Understanding</a:t>
            </a:r>
          </a:p>
        </p:txBody>
      </p:sp>
      <p:sp>
        <p:nvSpPr>
          <p:cNvPr id="13" name="Text Box 307">
            <a:extLst>
              <a:ext uri="{FF2B5EF4-FFF2-40B4-BE49-F238E27FC236}">
                <a16:creationId xmlns:a16="http://schemas.microsoft.com/office/drawing/2014/main" id="{24D7128D-AF30-1352-4B78-2D2FA8390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251" y="4329100"/>
            <a:ext cx="204490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198CA8"/>
                </a:solidFill>
                <a:effectLst/>
                <a:uLnTx/>
                <a:uFillTx/>
                <a:latin typeface="Calibri"/>
                <a:cs typeface="Calibri"/>
              </a:rPr>
              <a:t>Natural Language Generation</a:t>
            </a:r>
          </a:p>
        </p:txBody>
      </p:sp>
      <p:sp>
        <p:nvSpPr>
          <p:cNvPr id="14" name="Text Box 307">
            <a:extLst>
              <a:ext uri="{FF2B5EF4-FFF2-40B4-BE49-F238E27FC236}">
                <a16:creationId xmlns:a16="http://schemas.microsoft.com/office/drawing/2014/main" id="{0A285E13-2EA0-9761-DE7D-2BE1C33C2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250" y="5284621"/>
            <a:ext cx="204490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1D76BB"/>
                </a:solidFill>
                <a:effectLst/>
                <a:uLnTx/>
                <a:uFillTx/>
                <a:latin typeface="Calibri"/>
                <a:cs typeface="Calibri"/>
              </a:rPr>
              <a:t>Natural Language Translation</a:t>
            </a:r>
          </a:p>
        </p:txBody>
      </p:sp>
      <p:sp>
        <p:nvSpPr>
          <p:cNvPr id="15" name="Text Box 307">
            <a:extLst>
              <a:ext uri="{FF2B5EF4-FFF2-40B4-BE49-F238E27FC236}">
                <a16:creationId xmlns:a16="http://schemas.microsoft.com/office/drawing/2014/main" id="{25425B03-ECA4-5A34-B76D-0FACB42BB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250" y="2561835"/>
            <a:ext cx="20449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9DDC"/>
                </a:solidFill>
                <a:effectLst/>
                <a:uLnTx/>
                <a:uFillTx/>
                <a:latin typeface="Calibri"/>
                <a:cs typeface="Calibri"/>
              </a:rPr>
              <a:t>Speech Recognition</a:t>
            </a:r>
          </a:p>
        </p:txBody>
      </p:sp>
      <p:sp>
        <p:nvSpPr>
          <p:cNvPr id="16" name="Text Box 307">
            <a:extLst>
              <a:ext uri="{FF2B5EF4-FFF2-40B4-BE49-F238E27FC236}">
                <a16:creationId xmlns:a16="http://schemas.microsoft.com/office/drawing/2014/main" id="{1E5F3BB6-B9AD-6422-4635-F8375AA380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249" y="1611588"/>
            <a:ext cx="20449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Text Analysis</a:t>
            </a:r>
          </a:p>
        </p:txBody>
      </p:sp>
      <p:pic>
        <p:nvPicPr>
          <p:cNvPr id="17" name="Graphic 16" descr="Open book">
            <a:extLst>
              <a:ext uri="{FF2B5EF4-FFF2-40B4-BE49-F238E27FC236}">
                <a16:creationId xmlns:a16="http://schemas.microsoft.com/office/drawing/2014/main" id="{B21ECCF5-9B0C-48B4-A1E0-E5846FEEC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08508" y="1339053"/>
            <a:ext cx="914400" cy="914400"/>
          </a:xfrm>
          <a:prstGeom prst="rect">
            <a:avLst/>
          </a:prstGeom>
        </p:spPr>
      </p:pic>
      <p:pic>
        <p:nvPicPr>
          <p:cNvPr id="18" name="Graphic 17" descr="Ear">
            <a:extLst>
              <a:ext uri="{FF2B5EF4-FFF2-40B4-BE49-F238E27FC236}">
                <a16:creationId xmlns:a16="http://schemas.microsoft.com/office/drawing/2014/main" id="{D7B1DE2E-072E-8621-18E3-C27DB15478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08508" y="2280143"/>
            <a:ext cx="914400" cy="914400"/>
          </a:xfrm>
          <a:prstGeom prst="rect">
            <a:avLst/>
          </a:prstGeom>
        </p:spPr>
      </p:pic>
      <p:pic>
        <p:nvPicPr>
          <p:cNvPr id="19" name="Graphic 18" descr="Speech">
            <a:extLst>
              <a:ext uri="{FF2B5EF4-FFF2-40B4-BE49-F238E27FC236}">
                <a16:creationId xmlns:a16="http://schemas.microsoft.com/office/drawing/2014/main" id="{BD8E6669-07D9-2959-804A-3DF9313259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08508" y="4194275"/>
            <a:ext cx="914400" cy="914400"/>
          </a:xfrm>
          <a:prstGeom prst="rect">
            <a:avLst/>
          </a:prstGeom>
        </p:spPr>
      </p:pic>
      <p:pic>
        <p:nvPicPr>
          <p:cNvPr id="20" name="Graphic 19" descr="Earth globe: Americas">
            <a:extLst>
              <a:ext uri="{FF2B5EF4-FFF2-40B4-BE49-F238E27FC236}">
                <a16:creationId xmlns:a16="http://schemas.microsoft.com/office/drawing/2014/main" id="{BE7EAED2-C150-5E4C-6185-1036C9ACFDA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08508" y="5147069"/>
            <a:ext cx="914400" cy="914400"/>
          </a:xfrm>
          <a:prstGeom prst="rect">
            <a:avLst/>
          </a:prstGeom>
        </p:spPr>
      </p:pic>
      <p:pic>
        <p:nvPicPr>
          <p:cNvPr id="21" name="Graphic 20" descr="Head with gears">
            <a:extLst>
              <a:ext uri="{FF2B5EF4-FFF2-40B4-BE49-F238E27FC236}">
                <a16:creationId xmlns:a16="http://schemas.microsoft.com/office/drawing/2014/main" id="{F899E368-6788-75C3-92B4-3E014F4E521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55514" y="3309564"/>
            <a:ext cx="820388" cy="820388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E0CDAA6-FA8D-B7B2-32AC-02969D78AFF9}"/>
              </a:ext>
            </a:extLst>
          </p:cNvPr>
          <p:cNvCxnSpPr>
            <a:cxnSpLocks/>
          </p:cNvCxnSpPr>
          <p:nvPr/>
        </p:nvCxnSpPr>
        <p:spPr>
          <a:xfrm>
            <a:off x="3779205" y="5203476"/>
            <a:ext cx="0" cy="801586"/>
          </a:xfrm>
          <a:prstGeom prst="line">
            <a:avLst/>
          </a:prstGeom>
          <a:ln w="19050">
            <a:solidFill>
              <a:srgbClr val="1D76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9056B25-73C5-7E57-79A2-E0BA20202DC4}"/>
              </a:ext>
            </a:extLst>
          </p:cNvPr>
          <p:cNvCxnSpPr>
            <a:cxnSpLocks/>
          </p:cNvCxnSpPr>
          <p:nvPr/>
        </p:nvCxnSpPr>
        <p:spPr>
          <a:xfrm>
            <a:off x="3779205" y="4250682"/>
            <a:ext cx="0" cy="801586"/>
          </a:xfrm>
          <a:prstGeom prst="line">
            <a:avLst/>
          </a:prstGeom>
          <a:ln w="19050">
            <a:solidFill>
              <a:srgbClr val="198C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B7F97C4-FE2A-8DC9-7E05-FAA7A9E29138}"/>
              </a:ext>
            </a:extLst>
          </p:cNvPr>
          <p:cNvCxnSpPr>
            <a:cxnSpLocks/>
          </p:cNvCxnSpPr>
          <p:nvPr/>
        </p:nvCxnSpPr>
        <p:spPr>
          <a:xfrm>
            <a:off x="3779205" y="3299469"/>
            <a:ext cx="0" cy="801586"/>
          </a:xfrm>
          <a:prstGeom prst="line">
            <a:avLst/>
          </a:prstGeom>
          <a:ln w="19050">
            <a:solidFill>
              <a:srgbClr val="1D37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D0AD1CA-3D30-3109-1CF1-96474432C6BE}"/>
              </a:ext>
            </a:extLst>
          </p:cNvPr>
          <p:cNvCxnSpPr>
            <a:cxnSpLocks/>
          </p:cNvCxnSpPr>
          <p:nvPr/>
        </p:nvCxnSpPr>
        <p:spPr>
          <a:xfrm>
            <a:off x="3779205" y="2336550"/>
            <a:ext cx="0" cy="801586"/>
          </a:xfrm>
          <a:prstGeom prst="line">
            <a:avLst/>
          </a:prstGeom>
          <a:ln w="19050">
            <a:solidFill>
              <a:srgbClr val="009D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791B7-2E19-9F9B-F657-0194860F84AD}"/>
              </a:ext>
            </a:extLst>
          </p:cNvPr>
          <p:cNvCxnSpPr>
            <a:cxnSpLocks/>
          </p:cNvCxnSpPr>
          <p:nvPr/>
        </p:nvCxnSpPr>
        <p:spPr>
          <a:xfrm>
            <a:off x="3779205" y="1395460"/>
            <a:ext cx="0" cy="80158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674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D306DD-D9E9-A5A7-2A11-16B430097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D6C66E-7BCE-192F-0B23-32855FF64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D43DB70-BC6C-3B04-01FB-C298FE97CC3E}"/>
              </a:ext>
            </a:extLst>
          </p:cNvPr>
          <p:cNvSpPr txBox="1">
            <a:spLocks/>
          </p:cNvSpPr>
          <p:nvPr/>
        </p:nvSpPr>
        <p:spPr>
          <a:xfrm>
            <a:off x="9243741" y="645564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160BDD-7155-D744-B749-9730458604A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94E3628-E3F2-E955-E730-60357A889484}"/>
              </a:ext>
            </a:extLst>
          </p:cNvPr>
          <p:cNvSpPr txBox="1">
            <a:spLocks/>
          </p:cNvSpPr>
          <p:nvPr/>
        </p:nvSpPr>
        <p:spPr>
          <a:xfrm>
            <a:off x="1897811" y="2062480"/>
            <a:ext cx="7522234" cy="4265168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8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6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Customer service</a:t>
            </a:r>
          </a:p>
          <a:p>
            <a:r>
              <a:rPr lang="en-US" dirty="0"/>
              <a:t>Appointment scheduling</a:t>
            </a:r>
          </a:p>
          <a:p>
            <a:r>
              <a:rPr lang="en-US" dirty="0"/>
              <a:t>HR management</a:t>
            </a:r>
          </a:p>
          <a:p>
            <a:r>
              <a:rPr lang="en-US" dirty="0"/>
              <a:t>Information research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B1FCC977-7532-1B9C-FC4D-846A2C314C6F}"/>
              </a:ext>
            </a:extLst>
          </p:cNvPr>
          <p:cNvSpPr txBox="1">
            <a:spLocks/>
          </p:cNvSpPr>
          <p:nvPr/>
        </p:nvSpPr>
        <p:spPr>
          <a:xfrm>
            <a:off x="1901628" y="290945"/>
            <a:ext cx="7501317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accent4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Chatbots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1DFB1BE-6816-F81C-B00B-59131B0CC464}"/>
              </a:ext>
            </a:extLst>
          </p:cNvPr>
          <p:cNvSpPr txBox="1">
            <a:spLocks/>
          </p:cNvSpPr>
          <p:nvPr/>
        </p:nvSpPr>
        <p:spPr>
          <a:xfrm>
            <a:off x="1901628" y="1233054"/>
            <a:ext cx="7501317" cy="748145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Chatbot</a:t>
            </a:r>
            <a:r>
              <a:rPr lang="en-US" dirty="0"/>
              <a:t>: An AI system that uses NLP to engage in real-time, text-based chatting with a human user.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C2B73D6-89AE-9E7D-E880-70B33EF92609}"/>
              </a:ext>
            </a:extLst>
          </p:cNvPr>
          <p:cNvGrpSpPr/>
          <p:nvPr/>
        </p:nvGrpSpPr>
        <p:grpSpPr>
          <a:xfrm>
            <a:off x="7054037" y="1771081"/>
            <a:ext cx="4421986" cy="5086920"/>
            <a:chOff x="7054037" y="1771081"/>
            <a:chExt cx="4421986" cy="5086920"/>
          </a:xfrm>
        </p:grpSpPr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41E6CFA9-6CAF-8730-7194-5BA8E6F989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39024"/>
            <a:stretch/>
          </p:blipFill>
          <p:spPr>
            <a:xfrm>
              <a:off x="7054037" y="1771081"/>
              <a:ext cx="4421986" cy="5086920"/>
            </a:xfrm>
            <a:prstGeom prst="rect">
              <a:avLst/>
            </a:prstGeom>
          </p:spPr>
        </p:pic>
        <p:sp>
          <p:nvSpPr>
            <p:cNvPr id="6" name="Flowchart: Alternate Process 5">
              <a:extLst>
                <a:ext uri="{FF2B5EF4-FFF2-40B4-BE49-F238E27FC236}">
                  <a16:creationId xmlns:a16="http://schemas.microsoft.com/office/drawing/2014/main" id="{6C7AA991-011D-F683-97C1-68681326D324}"/>
                </a:ext>
              </a:extLst>
            </p:cNvPr>
            <p:cNvSpPr/>
            <p:nvPr/>
          </p:nvSpPr>
          <p:spPr>
            <a:xfrm>
              <a:off x="8455862" y="3424555"/>
              <a:ext cx="2388619" cy="892927"/>
            </a:xfrm>
            <a:prstGeom prst="flowChartAlternateProcess">
              <a:avLst/>
            </a:prstGeom>
            <a:solidFill>
              <a:srgbClr val="009DDC"/>
            </a:solidFill>
            <a:ln w="28575" cap="flat" cmpd="sng" algn="ctr">
              <a:solidFill>
                <a:srgbClr val="009DDC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7" name="Flowchart: Alternate Process 6">
              <a:extLst>
                <a:ext uri="{FF2B5EF4-FFF2-40B4-BE49-F238E27FC236}">
                  <a16:creationId xmlns:a16="http://schemas.microsoft.com/office/drawing/2014/main" id="{9B078D31-E6DE-C56B-1452-59747C8353F7}"/>
                </a:ext>
              </a:extLst>
            </p:cNvPr>
            <p:cNvSpPr/>
            <p:nvPr/>
          </p:nvSpPr>
          <p:spPr>
            <a:xfrm>
              <a:off x="7717406" y="4577079"/>
              <a:ext cx="2388619" cy="764029"/>
            </a:xfrm>
            <a:prstGeom prst="flowChartAlternateProcess">
              <a:avLst/>
            </a:prstGeom>
            <a:solidFill>
              <a:srgbClr val="FAAF41"/>
            </a:solidFill>
            <a:ln w="28575" cap="flat" cmpd="sng" algn="ctr">
              <a:solidFill>
                <a:srgbClr val="FAAF41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14" name="Flowchart: Alternate Process 13">
              <a:extLst>
                <a:ext uri="{FF2B5EF4-FFF2-40B4-BE49-F238E27FC236}">
                  <a16:creationId xmlns:a16="http://schemas.microsoft.com/office/drawing/2014/main" id="{6A7163D9-6151-294C-346E-0145EE6D999E}"/>
                </a:ext>
              </a:extLst>
            </p:cNvPr>
            <p:cNvSpPr/>
            <p:nvPr/>
          </p:nvSpPr>
          <p:spPr>
            <a:xfrm>
              <a:off x="8455861" y="5577203"/>
              <a:ext cx="2388619" cy="954529"/>
            </a:xfrm>
            <a:prstGeom prst="flowChartAlternateProcess">
              <a:avLst/>
            </a:prstGeom>
            <a:solidFill>
              <a:srgbClr val="009DDC"/>
            </a:solidFill>
            <a:ln w="28575" cap="flat" cmpd="sng" algn="ctr">
              <a:solidFill>
                <a:srgbClr val="009DDC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1755A56-C15D-2BF0-CE31-1EA54F54794F}"/>
                </a:ext>
              </a:extLst>
            </p:cNvPr>
            <p:cNvSpPr txBox="1"/>
            <p:nvPr/>
          </p:nvSpPr>
          <p:spPr>
            <a:xfrm>
              <a:off x="8472843" y="3474060"/>
              <a:ext cx="2646695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</a:rPr>
                <a:t>Hello! My name is Robo.</a:t>
              </a:r>
            </a:p>
            <a:p>
              <a:endParaRPr lang="en-US" sz="1500" dirty="0">
                <a:solidFill>
                  <a:schemeClr val="bg1"/>
                </a:solidFill>
              </a:endParaRPr>
            </a:p>
            <a:p>
              <a:r>
                <a:rPr lang="en-US" sz="1500" dirty="0">
                  <a:solidFill>
                    <a:schemeClr val="bg1"/>
                  </a:solidFill>
                </a:rPr>
                <a:t>How can I help you today?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77E132D-E6AC-89D4-5FDA-1369776401FE}"/>
                </a:ext>
              </a:extLst>
            </p:cNvPr>
            <p:cNvSpPr txBox="1"/>
            <p:nvPr/>
          </p:nvSpPr>
          <p:spPr>
            <a:xfrm>
              <a:off x="7717406" y="4658126"/>
              <a:ext cx="238861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/>
                <a:t>I'm having trouble with my computer. It keeps crashing.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836BC5F-DF8A-1585-8E7B-53847C4BE8A2}"/>
                </a:ext>
              </a:extLst>
            </p:cNvPr>
            <p:cNvSpPr txBox="1"/>
            <p:nvPr/>
          </p:nvSpPr>
          <p:spPr>
            <a:xfrm>
              <a:off x="8472843" y="5647060"/>
              <a:ext cx="2255089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</a:rPr>
                <a:t>Don't worry, I'm here to help. What are you doing when it crashes?</a:t>
              </a:r>
            </a:p>
          </p:txBody>
        </p:sp>
        <p:pic>
          <p:nvPicPr>
            <p:cNvPr id="20" name="Graphic 19" descr="Office worker male with solid fill">
              <a:extLst>
                <a:ext uri="{FF2B5EF4-FFF2-40B4-BE49-F238E27FC236}">
                  <a16:creationId xmlns:a16="http://schemas.microsoft.com/office/drawing/2014/main" id="{7D86CAF1-8500-95DF-4326-9A0C17461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06025" y="4422325"/>
              <a:ext cx="1088136" cy="1088136"/>
            </a:xfrm>
            <a:prstGeom prst="rect">
              <a:avLst/>
            </a:prstGeom>
          </p:spPr>
        </p:pic>
        <p:pic>
          <p:nvPicPr>
            <p:cNvPr id="22" name="Graphic 21" descr="Robot with solid fill">
              <a:extLst>
                <a:ext uri="{FF2B5EF4-FFF2-40B4-BE49-F238E27FC236}">
                  <a16:creationId xmlns:a16="http://schemas.microsoft.com/office/drawing/2014/main" id="{9BFB8FDA-647D-95A1-C780-44ACF570D06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363858" y="3300110"/>
              <a:ext cx="1092003" cy="1092003"/>
            </a:xfrm>
            <a:prstGeom prst="rect">
              <a:avLst/>
            </a:prstGeom>
          </p:spPr>
        </p:pic>
        <p:pic>
          <p:nvPicPr>
            <p:cNvPr id="23" name="Graphic 22" descr="Robot with solid fill">
              <a:extLst>
                <a:ext uri="{FF2B5EF4-FFF2-40B4-BE49-F238E27FC236}">
                  <a16:creationId xmlns:a16="http://schemas.microsoft.com/office/drawing/2014/main" id="{7A20F5A3-BDCE-14F6-FD35-4FD3461BB9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363858" y="5493473"/>
              <a:ext cx="1092003" cy="10920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1400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D306DD-D9E9-A5A7-2A11-16B430097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6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D6C66E-7BCE-192F-0B23-32855FF64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D43DB70-BC6C-3B04-01FB-C298FE97CC3E}"/>
              </a:ext>
            </a:extLst>
          </p:cNvPr>
          <p:cNvSpPr txBox="1">
            <a:spLocks/>
          </p:cNvSpPr>
          <p:nvPr/>
        </p:nvSpPr>
        <p:spPr>
          <a:xfrm>
            <a:off x="9243741" y="645564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160BDD-7155-D744-B749-9730458604A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94E3628-E3F2-E955-E730-60357A889484}"/>
              </a:ext>
            </a:extLst>
          </p:cNvPr>
          <p:cNvSpPr txBox="1">
            <a:spLocks/>
          </p:cNvSpPr>
          <p:nvPr/>
        </p:nvSpPr>
        <p:spPr>
          <a:xfrm>
            <a:off x="1897811" y="2062480"/>
            <a:ext cx="7522234" cy="4265168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8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6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Call context</a:t>
            </a:r>
          </a:p>
          <a:p>
            <a:r>
              <a:rPr lang="en-US" dirty="0"/>
              <a:t>Immediate responses</a:t>
            </a:r>
          </a:p>
          <a:p>
            <a:r>
              <a:rPr lang="en-US" dirty="0"/>
              <a:t>Suggested responses</a:t>
            </a:r>
          </a:p>
          <a:p>
            <a:r>
              <a:rPr lang="en-US" dirty="0"/>
              <a:t>Live transcription and summarization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B1FCC977-7532-1B9C-FC4D-846A2C314C6F}"/>
              </a:ext>
            </a:extLst>
          </p:cNvPr>
          <p:cNvSpPr txBox="1">
            <a:spLocks/>
          </p:cNvSpPr>
          <p:nvPr/>
        </p:nvSpPr>
        <p:spPr>
          <a:xfrm>
            <a:off x="1901628" y="290945"/>
            <a:ext cx="7501317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accent4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Agent Assistance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1DFB1BE-6816-F81C-B00B-59131B0CC464}"/>
              </a:ext>
            </a:extLst>
          </p:cNvPr>
          <p:cNvSpPr txBox="1">
            <a:spLocks/>
          </p:cNvSpPr>
          <p:nvPr/>
        </p:nvSpPr>
        <p:spPr>
          <a:xfrm>
            <a:off x="1901628" y="1233054"/>
            <a:ext cx="7501317" cy="748145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Agent assistance</a:t>
            </a:r>
            <a:r>
              <a:rPr lang="en-US" dirty="0"/>
              <a:t>: Automation technology that helps human agents in a call center do their jobs more efficiently and effectively.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4469674-1FBC-3A0D-A4CB-61C368B568E7}"/>
              </a:ext>
            </a:extLst>
          </p:cNvPr>
          <p:cNvGrpSpPr/>
          <p:nvPr/>
        </p:nvGrpSpPr>
        <p:grpSpPr>
          <a:xfrm>
            <a:off x="6060576" y="3186444"/>
            <a:ext cx="5642773" cy="3671556"/>
            <a:chOff x="5717676" y="3186444"/>
            <a:chExt cx="5642773" cy="367155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75AAEC9-DAB6-95F6-A52E-84D504B62B34}"/>
                </a:ext>
              </a:extLst>
            </p:cNvPr>
            <p:cNvSpPr/>
            <p:nvPr/>
          </p:nvSpPr>
          <p:spPr>
            <a:xfrm>
              <a:off x="5717676" y="3705226"/>
              <a:ext cx="2350710" cy="2819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 cap="flat" cmpd="sng" algn="ctr">
              <a:solidFill>
                <a:srgbClr val="1D3764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7ADF5E69-34B6-311D-2A75-BB9C80316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78830" y="3186444"/>
              <a:ext cx="3081619" cy="3671556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B1D725C-540A-1AC7-564C-14334EC64BCE}"/>
                </a:ext>
              </a:extLst>
            </p:cNvPr>
            <p:cNvSpPr txBox="1"/>
            <p:nvPr/>
          </p:nvSpPr>
          <p:spPr>
            <a:xfrm>
              <a:off x="5914485" y="3705225"/>
              <a:ext cx="19526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1D3764"/>
                  </a:solidFill>
                </a:rPr>
                <a:t>User Context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F673BA4-1426-5C48-3764-67C354C43975}"/>
                </a:ext>
              </a:extLst>
            </p:cNvPr>
            <p:cNvSpPr txBox="1"/>
            <p:nvPr/>
          </p:nvSpPr>
          <p:spPr>
            <a:xfrm>
              <a:off x="5755776" y="4163512"/>
              <a:ext cx="8667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Name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43D78CE-81D2-0971-772D-ACB1CCEC0B3B}"/>
                </a:ext>
              </a:extLst>
            </p:cNvPr>
            <p:cNvSpPr txBox="1"/>
            <p:nvPr/>
          </p:nvSpPr>
          <p:spPr>
            <a:xfrm>
              <a:off x="5755776" y="4829380"/>
              <a:ext cx="15879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Account #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005C524-670C-E357-4667-69585E6B3D3C}"/>
                </a:ext>
              </a:extLst>
            </p:cNvPr>
            <p:cNvSpPr txBox="1"/>
            <p:nvPr/>
          </p:nvSpPr>
          <p:spPr>
            <a:xfrm>
              <a:off x="5755776" y="5473997"/>
              <a:ext cx="15879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Issue summary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88E2C74-9EFE-C22E-BA0B-C336EEE58D96}"/>
                </a:ext>
              </a:extLst>
            </p:cNvPr>
            <p:cNvSpPr txBox="1"/>
            <p:nvPr/>
          </p:nvSpPr>
          <p:spPr>
            <a:xfrm>
              <a:off x="5928120" y="5781774"/>
              <a:ext cx="22495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n-US" sz="1200" dirty="0"/>
                <a:t>Accessed billing page</a:t>
              </a:r>
            </a:p>
            <a:p>
              <a:pPr marL="228600" indent="-228600">
                <a:buAutoNum type="arabicPeriod"/>
              </a:pPr>
              <a:r>
                <a:rPr lang="en-US" sz="1200" dirty="0"/>
                <a:t>Contacted agent</a:t>
              </a:r>
            </a:p>
            <a:p>
              <a:pPr marL="228600" indent="-228600">
                <a:buAutoNum type="arabicPeriod"/>
              </a:pPr>
              <a:r>
                <a:rPr lang="en-US" sz="1200" dirty="0"/>
                <a:t>Claimed bill was inaccurate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1702F52-2731-6896-993A-1935D1AC0920}"/>
                </a:ext>
              </a:extLst>
            </p:cNvPr>
            <p:cNvSpPr txBox="1"/>
            <p:nvPr/>
          </p:nvSpPr>
          <p:spPr>
            <a:xfrm>
              <a:off x="5928120" y="5065307"/>
              <a:ext cx="22495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43290645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15D2FE4-127A-AADD-5C1F-89F1066439BA}"/>
                </a:ext>
              </a:extLst>
            </p:cNvPr>
            <p:cNvSpPr txBox="1"/>
            <p:nvPr/>
          </p:nvSpPr>
          <p:spPr>
            <a:xfrm>
              <a:off x="5909518" y="4416079"/>
              <a:ext cx="22495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John Doe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DAE0BEC-79A2-3B73-5237-6262078793B4}"/>
                </a:ext>
              </a:extLst>
            </p:cNvPr>
            <p:cNvCxnSpPr/>
            <p:nvPr/>
          </p:nvCxnSpPr>
          <p:spPr>
            <a:xfrm>
              <a:off x="6343650" y="3986629"/>
              <a:ext cx="1095375" cy="0"/>
            </a:xfrm>
            <a:prstGeom prst="line">
              <a:avLst/>
            </a:prstGeom>
            <a:ln w="19050">
              <a:solidFill>
                <a:srgbClr val="1D376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79A7BD5-A133-8BEB-9229-99E7F2FC8567}"/>
                </a:ext>
              </a:extLst>
            </p:cNvPr>
            <p:cNvCxnSpPr>
              <a:cxnSpLocks/>
            </p:cNvCxnSpPr>
            <p:nvPr/>
          </p:nvCxnSpPr>
          <p:spPr>
            <a:xfrm>
              <a:off x="5880943" y="4740703"/>
              <a:ext cx="2024807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1030178-20AF-0EE8-256B-650CDAFE453D}"/>
                </a:ext>
              </a:extLst>
            </p:cNvPr>
            <p:cNvCxnSpPr>
              <a:cxnSpLocks/>
            </p:cNvCxnSpPr>
            <p:nvPr/>
          </p:nvCxnSpPr>
          <p:spPr>
            <a:xfrm>
              <a:off x="5871418" y="5378878"/>
              <a:ext cx="2024807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7756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D306DD-D9E9-A5A7-2A11-16B430097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7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D6C66E-7BCE-192F-0B23-32855FF64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D43DB70-BC6C-3B04-01FB-C298FE97CC3E}"/>
              </a:ext>
            </a:extLst>
          </p:cNvPr>
          <p:cNvSpPr txBox="1">
            <a:spLocks/>
          </p:cNvSpPr>
          <p:nvPr/>
        </p:nvSpPr>
        <p:spPr>
          <a:xfrm>
            <a:off x="9243741" y="645564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160BDD-7155-D744-B749-9730458604A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94E3628-E3F2-E955-E730-60357A889484}"/>
              </a:ext>
            </a:extLst>
          </p:cNvPr>
          <p:cNvSpPr txBox="1">
            <a:spLocks/>
          </p:cNvSpPr>
          <p:nvPr/>
        </p:nvSpPr>
        <p:spPr>
          <a:xfrm>
            <a:off x="1897811" y="2062480"/>
            <a:ext cx="7522234" cy="4265168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8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6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Customer retention</a:t>
            </a:r>
          </a:p>
          <a:p>
            <a:r>
              <a:rPr lang="en-US" dirty="0"/>
              <a:t>Employee retention</a:t>
            </a:r>
          </a:p>
          <a:p>
            <a:r>
              <a:rPr lang="en-US" dirty="0"/>
              <a:t>Product development strategy</a:t>
            </a:r>
          </a:p>
          <a:p>
            <a:r>
              <a:rPr lang="en-US" dirty="0"/>
              <a:t>Recommendations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B1FCC977-7532-1B9C-FC4D-846A2C314C6F}"/>
              </a:ext>
            </a:extLst>
          </p:cNvPr>
          <p:cNvSpPr txBox="1">
            <a:spLocks/>
          </p:cNvSpPr>
          <p:nvPr/>
        </p:nvSpPr>
        <p:spPr>
          <a:xfrm>
            <a:off x="1901628" y="290945"/>
            <a:ext cx="7501317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accent4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Sentiment Analysis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1DFB1BE-6816-F81C-B00B-59131B0CC464}"/>
              </a:ext>
            </a:extLst>
          </p:cNvPr>
          <p:cNvSpPr txBox="1">
            <a:spLocks/>
          </p:cNvSpPr>
          <p:nvPr/>
        </p:nvSpPr>
        <p:spPr>
          <a:xfrm>
            <a:off x="1901628" y="1233054"/>
            <a:ext cx="7501317" cy="748145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Sentiment analysis</a:t>
            </a:r>
            <a:r>
              <a:rPr lang="en-US" dirty="0"/>
              <a:t>: The technique of determining the attitudes and feelings someone has toward something.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A33367-5BE0-5BEC-4833-92F0B7BF275D}"/>
              </a:ext>
            </a:extLst>
          </p:cNvPr>
          <p:cNvSpPr/>
          <p:nvPr/>
        </p:nvSpPr>
        <p:spPr>
          <a:xfrm>
            <a:off x="7191375" y="3429000"/>
            <a:ext cx="3845107" cy="127088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flat" cmpd="sng" algn="ctr">
            <a:solidFill>
              <a:srgbClr val="1D3764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/>
            <a:endParaRPr lang="en-US" sz="1100" b="1" kern="0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ADE3E7-F0D7-2FCD-E353-33C1D796CD64}"/>
              </a:ext>
            </a:extLst>
          </p:cNvPr>
          <p:cNvSpPr/>
          <p:nvPr/>
        </p:nvSpPr>
        <p:spPr>
          <a:xfrm>
            <a:off x="7191375" y="4942321"/>
            <a:ext cx="3845107" cy="127088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flat" cmpd="sng" algn="ctr">
            <a:solidFill>
              <a:srgbClr val="1D3764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/>
            <a:endParaRPr lang="en-US" sz="1100" b="1" kern="0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C0CFBC-8152-E4E4-EAC6-7612CBE66090}"/>
              </a:ext>
            </a:extLst>
          </p:cNvPr>
          <p:cNvSpPr txBox="1"/>
          <p:nvPr/>
        </p:nvSpPr>
        <p:spPr>
          <a:xfrm>
            <a:off x="8201025" y="3581400"/>
            <a:ext cx="28354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"I usually love Greene City BBQ's food, but this new smoked brisket sandwich is not up to their usual standards."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631B5C-D94C-31C4-E4EA-068069F9F662}"/>
              </a:ext>
            </a:extLst>
          </p:cNvPr>
          <p:cNvSpPr txBox="1"/>
          <p:nvPr/>
        </p:nvSpPr>
        <p:spPr>
          <a:xfrm>
            <a:off x="8201025" y="5100711"/>
            <a:ext cx="28354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"I'm not a fan of most barbecue, but this brisket sandwich is amazing! I hope they keep it on the menu for a long time."</a:t>
            </a:r>
          </a:p>
        </p:txBody>
      </p:sp>
      <p:pic>
        <p:nvPicPr>
          <p:cNvPr id="15" name="Graphic 14" descr="Thumbs Down with solid fill">
            <a:extLst>
              <a:ext uri="{FF2B5EF4-FFF2-40B4-BE49-F238E27FC236}">
                <a16:creationId xmlns:a16="http://schemas.microsoft.com/office/drawing/2014/main" id="{3EEFF685-1886-3FA3-9EED-E87E1E779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286625" y="3601253"/>
            <a:ext cx="914400" cy="9144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95EFED93-E436-7627-508E-627E79D1FE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286625" y="512056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846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D306DD-D9E9-A5A7-2A11-16B430097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D6C66E-7BCE-192F-0B23-32855FF64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D43DB70-BC6C-3B04-01FB-C298FE97CC3E}"/>
              </a:ext>
            </a:extLst>
          </p:cNvPr>
          <p:cNvSpPr txBox="1">
            <a:spLocks/>
          </p:cNvSpPr>
          <p:nvPr/>
        </p:nvSpPr>
        <p:spPr>
          <a:xfrm>
            <a:off x="9243741" y="645564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160BDD-7155-D744-B749-9730458604A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94E3628-E3F2-E955-E730-60357A889484}"/>
              </a:ext>
            </a:extLst>
          </p:cNvPr>
          <p:cNvSpPr txBox="1">
            <a:spLocks/>
          </p:cNvSpPr>
          <p:nvPr/>
        </p:nvSpPr>
        <p:spPr>
          <a:xfrm>
            <a:off x="1897811" y="2062480"/>
            <a:ext cx="7522234" cy="4265168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8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6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Uses computer vision to detect facial features.</a:t>
            </a:r>
          </a:p>
          <a:p>
            <a:pPr lvl="1"/>
            <a:r>
              <a:rPr lang="en-US" dirty="0"/>
              <a:t>Object recognition, motion detection, etc.</a:t>
            </a:r>
          </a:p>
          <a:p>
            <a:r>
              <a:rPr lang="en-US" dirty="0"/>
              <a:t>Similar applications to sentiment analysis.</a:t>
            </a:r>
          </a:p>
          <a:p>
            <a:pPr lvl="1"/>
            <a:r>
              <a:rPr lang="en-US" dirty="0"/>
              <a:t>More difficult and controversial to implement.</a:t>
            </a:r>
          </a:p>
          <a:p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B1FCC977-7532-1B9C-FC4D-846A2C314C6F}"/>
              </a:ext>
            </a:extLst>
          </p:cNvPr>
          <p:cNvSpPr txBox="1">
            <a:spLocks/>
          </p:cNvSpPr>
          <p:nvPr/>
        </p:nvSpPr>
        <p:spPr>
          <a:xfrm>
            <a:off x="1901628" y="290945"/>
            <a:ext cx="7501317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accent4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Emotion AI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1DFB1BE-6816-F81C-B00B-59131B0CC464}"/>
              </a:ext>
            </a:extLst>
          </p:cNvPr>
          <p:cNvSpPr txBox="1">
            <a:spLocks/>
          </p:cNvSpPr>
          <p:nvPr/>
        </p:nvSpPr>
        <p:spPr>
          <a:xfrm>
            <a:off x="1901628" y="1233054"/>
            <a:ext cx="7501317" cy="748145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Emotion AI</a:t>
            </a:r>
            <a:r>
              <a:rPr lang="en-US" dirty="0"/>
              <a:t>: A type of sentiment analysis solution that focuses on the physical attributes of a person, particularly their facial expressions and features.</a:t>
            </a:r>
          </a:p>
        </p:txBody>
      </p:sp>
      <p:pic>
        <p:nvPicPr>
          <p:cNvPr id="4" name="Picture 3" descr="A picture containing person&#10;&#10;Description automatically generated">
            <a:extLst>
              <a:ext uri="{FF2B5EF4-FFF2-40B4-BE49-F238E27FC236}">
                <a16:creationId xmlns:a16="http://schemas.microsoft.com/office/drawing/2014/main" id="{9208E3DB-B623-2F65-09EE-959151369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907" y="3429000"/>
            <a:ext cx="4486275" cy="297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266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D306DD-D9E9-A5A7-2A11-16B430097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9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D6C66E-7BCE-192F-0B23-32855FF64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D43DB70-BC6C-3B04-01FB-C298FE97CC3E}"/>
              </a:ext>
            </a:extLst>
          </p:cNvPr>
          <p:cNvSpPr txBox="1">
            <a:spLocks/>
          </p:cNvSpPr>
          <p:nvPr/>
        </p:nvSpPr>
        <p:spPr>
          <a:xfrm>
            <a:off x="9243741" y="645564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160BDD-7155-D744-B749-9730458604A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94E3628-E3F2-E955-E730-60357A889484}"/>
              </a:ext>
            </a:extLst>
          </p:cNvPr>
          <p:cNvSpPr txBox="1">
            <a:spLocks/>
          </p:cNvSpPr>
          <p:nvPr/>
        </p:nvSpPr>
        <p:spPr>
          <a:xfrm>
            <a:off x="1897811" y="2062480"/>
            <a:ext cx="7522234" cy="4265168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8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6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Content recommendation</a:t>
            </a:r>
          </a:p>
          <a:p>
            <a:r>
              <a:rPr lang="en-US" dirty="0"/>
              <a:t>Product recommendation</a:t>
            </a:r>
          </a:p>
          <a:p>
            <a:r>
              <a:rPr lang="en-US" dirty="0"/>
              <a:t>Social networking</a:t>
            </a:r>
          </a:p>
          <a:p>
            <a:r>
              <a:rPr lang="en-US" dirty="0"/>
              <a:t>Research</a:t>
            </a:r>
          </a:p>
          <a:p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B1FCC977-7532-1B9C-FC4D-846A2C314C6F}"/>
              </a:ext>
            </a:extLst>
          </p:cNvPr>
          <p:cNvSpPr txBox="1">
            <a:spLocks/>
          </p:cNvSpPr>
          <p:nvPr/>
        </p:nvSpPr>
        <p:spPr>
          <a:xfrm>
            <a:off x="1901628" y="290945"/>
            <a:ext cx="7501317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accent4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Recommendation Systems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1DFB1BE-6816-F81C-B00B-59131B0CC464}"/>
              </a:ext>
            </a:extLst>
          </p:cNvPr>
          <p:cNvSpPr txBox="1">
            <a:spLocks/>
          </p:cNvSpPr>
          <p:nvPr/>
        </p:nvSpPr>
        <p:spPr>
          <a:xfrm>
            <a:off x="1901628" y="1233054"/>
            <a:ext cx="7501317" cy="748145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Recommendation system</a:t>
            </a:r>
            <a:r>
              <a:rPr lang="en-US" dirty="0"/>
              <a:t>: A system that suggests items, services, and other things of interest to users.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B6A526AC-078E-7566-19C2-332A84781F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1088" y="2939018"/>
            <a:ext cx="3991260" cy="338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754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E986C0-2950-9869-7724-65598BA3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F199A2-034C-E186-0377-6AFF98DEB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Personalization approaches:</a:t>
            </a:r>
          </a:p>
          <a:p>
            <a:pPr lvl="1"/>
            <a:r>
              <a:rPr lang="en-US" dirty="0"/>
              <a:t>Serve specific content.</a:t>
            </a:r>
          </a:p>
          <a:p>
            <a:pPr lvl="1"/>
            <a:r>
              <a:rPr lang="en-US" dirty="0"/>
              <a:t>Hide specific content.</a:t>
            </a:r>
          </a:p>
          <a:p>
            <a:pPr lvl="1"/>
            <a:r>
              <a:rPr lang="en-US" dirty="0"/>
              <a:t>Rearrange content.</a:t>
            </a:r>
          </a:p>
          <a:p>
            <a:pPr lvl="1"/>
            <a:r>
              <a:rPr lang="en-US" dirty="0"/>
              <a:t>Change visual themes.</a:t>
            </a:r>
          </a:p>
          <a:p>
            <a:r>
              <a:rPr lang="en-US" dirty="0"/>
              <a:t>User profile aspects that influence experience:</a:t>
            </a:r>
          </a:p>
          <a:p>
            <a:pPr lvl="1"/>
            <a:r>
              <a:rPr lang="en-US" dirty="0"/>
              <a:t>Geolocation.</a:t>
            </a:r>
          </a:p>
          <a:p>
            <a:pPr lvl="1"/>
            <a:r>
              <a:rPr lang="en-US" dirty="0"/>
              <a:t>Demographics.</a:t>
            </a:r>
          </a:p>
          <a:p>
            <a:pPr lvl="1"/>
            <a:r>
              <a:rPr lang="en-US" dirty="0"/>
              <a:t>Socioeconomic status.</a:t>
            </a:r>
          </a:p>
          <a:p>
            <a:pPr lvl="1"/>
            <a:r>
              <a:rPr lang="en-US" dirty="0"/>
              <a:t>Browsing and online shopping history.</a:t>
            </a:r>
          </a:p>
          <a:p>
            <a:pPr lvl="1"/>
            <a:r>
              <a:rPr lang="en-US" dirty="0"/>
              <a:t>General sentiment toward business.</a:t>
            </a:r>
          </a:p>
          <a:p>
            <a:r>
              <a:rPr lang="en-US" dirty="0"/>
              <a:t>Model learns what experience fits best with what user.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CA17B8-E201-6B40-6639-BB030726A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Personalization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F859244-C33A-32BE-C672-4B52BB70F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7122" y="1302040"/>
            <a:ext cx="5153237" cy="448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120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ACBDA9-C662-126A-AE44-C6212A186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F83FDB-77F9-57EB-E3BF-563499919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Read the question scenario in the text. What AI system(s) could help solve this problem to improve the customer experience, and how?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Read the question scenario in the text. How can an AI-driven recommendation system provide more effective product suggestions to customers?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A0D5467-2415-B75E-C0BB-1FADC8768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Improving User Experiences Using AI</a:t>
            </a:r>
          </a:p>
        </p:txBody>
      </p:sp>
    </p:spTree>
    <p:extLst>
      <p:ext uri="{BB962C8B-B14F-4D97-AF65-F5344CB8AC3E}">
        <p14:creationId xmlns:p14="http://schemas.microsoft.com/office/powerpoint/2010/main" val="3295180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1C4CFB-1ACB-A14F-B6A4-435DA7645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926C4-B76F-6740-B2D3-3C573DAFAA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Segment Audiences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F8C5E53-0740-B422-007C-614B6F026FE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34671" b="-34671"/>
          <a:stretch/>
        </p:blipFill>
        <p:spPr/>
      </p:pic>
    </p:spTree>
    <p:extLst>
      <p:ext uri="{BB962C8B-B14F-4D97-AF65-F5344CB8AC3E}">
        <p14:creationId xmlns:p14="http://schemas.microsoft.com/office/powerpoint/2010/main" val="1152902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2B4381B-1BCC-95EF-073F-AF8A50E7A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Segmentation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02467A-D469-222F-C9FE-DD7740DFF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13</a:t>
            </a:fld>
            <a:endParaRPr lang="en-US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2EE0308-D161-E181-9F8E-9A6CD89B4702}"/>
              </a:ext>
            </a:extLst>
          </p:cNvPr>
          <p:cNvGrpSpPr/>
          <p:nvPr/>
        </p:nvGrpSpPr>
        <p:grpSpPr>
          <a:xfrm>
            <a:off x="1965787" y="1110271"/>
            <a:ext cx="8260426" cy="5048858"/>
            <a:chOff x="1965787" y="1110271"/>
            <a:chExt cx="8260426" cy="5048858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86ED9DA0-A8A3-E8B7-C94F-8D01BA6E9BB8}"/>
                </a:ext>
              </a:extLst>
            </p:cNvPr>
            <p:cNvGrpSpPr/>
            <p:nvPr/>
          </p:nvGrpSpPr>
          <p:grpSpPr>
            <a:xfrm>
              <a:off x="1965787" y="1110271"/>
              <a:ext cx="8260426" cy="5048858"/>
              <a:chOff x="1965787" y="1110271"/>
              <a:chExt cx="8260426" cy="5048858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2A8CFDA-4805-E9A6-D0C4-84793A4169B8}"/>
                  </a:ext>
                </a:extLst>
              </p:cNvPr>
              <p:cNvGrpSpPr/>
              <p:nvPr/>
            </p:nvGrpSpPr>
            <p:grpSpPr>
              <a:xfrm>
                <a:off x="1965787" y="1110271"/>
                <a:ext cx="8260426" cy="5048858"/>
                <a:chOff x="2323754" y="1110271"/>
                <a:chExt cx="8260426" cy="5048858"/>
              </a:xfrm>
            </p:grpSpPr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23043D97-C344-8251-D209-B3FB608CCF81}"/>
                    </a:ext>
                  </a:extLst>
                </p:cNvPr>
                <p:cNvSpPr/>
                <p:nvPr/>
              </p:nvSpPr>
              <p:spPr>
                <a:xfrm>
                  <a:off x="2323754" y="3920754"/>
                  <a:ext cx="2240280" cy="2238375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 cap="flat" cmpd="sng" algn="ctr">
                  <a:solidFill>
                    <a:srgbClr val="1D76BB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914400"/>
                  <a:endParaRPr lang="en-US" sz="1100" b="1" kern="0" dirty="0">
                    <a:solidFill>
                      <a:srgbClr val="FF0000"/>
                    </a:solidFill>
                    <a:latin typeface="Arial"/>
                  </a:endParaRPr>
                </a:p>
              </p:txBody>
            </p:sp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0DD8A095-E672-70AF-7336-67B08C81AFB0}"/>
                    </a:ext>
                  </a:extLst>
                </p:cNvPr>
                <p:cNvSpPr/>
                <p:nvPr/>
              </p:nvSpPr>
              <p:spPr>
                <a:xfrm>
                  <a:off x="5695950" y="3234346"/>
                  <a:ext cx="2240280" cy="2238375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 cap="flat" cmpd="sng" algn="ctr">
                  <a:solidFill>
                    <a:srgbClr val="198CA8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914400"/>
                  <a:endParaRPr lang="en-US" sz="1100" b="1" kern="0" dirty="0">
                    <a:solidFill>
                      <a:srgbClr val="FF0000"/>
                    </a:solidFill>
                    <a:latin typeface="Arial"/>
                  </a:endParaRPr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CAFA4CF6-6B5D-0669-CE66-4FF43F5435E2}"/>
                    </a:ext>
                  </a:extLst>
                </p:cNvPr>
                <p:cNvSpPr/>
                <p:nvPr/>
              </p:nvSpPr>
              <p:spPr>
                <a:xfrm>
                  <a:off x="7086600" y="1110271"/>
                  <a:ext cx="2240280" cy="2238375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 cap="flat" cmpd="sng" algn="ctr">
                  <a:solidFill>
                    <a:srgbClr val="1D3764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914400"/>
                  <a:endParaRPr lang="en-US" sz="1100" b="1" kern="0" dirty="0">
                    <a:solidFill>
                      <a:srgbClr val="FF0000"/>
                    </a:solidFill>
                    <a:latin typeface="Arial"/>
                  </a:endParaRPr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68FD9EE0-3281-55FA-9E4A-6DC0C386B3AB}"/>
                    </a:ext>
                  </a:extLst>
                </p:cNvPr>
                <p:cNvSpPr/>
                <p:nvPr/>
              </p:nvSpPr>
              <p:spPr>
                <a:xfrm>
                  <a:off x="8343900" y="3605821"/>
                  <a:ext cx="2240280" cy="2238375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 cap="flat" cmpd="sng" algn="ctr">
                  <a:solidFill>
                    <a:srgbClr val="FAAF41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914400"/>
                  <a:endParaRPr lang="en-US" sz="1100" b="1" kern="0" dirty="0">
                    <a:solidFill>
                      <a:srgbClr val="FF0000"/>
                    </a:solidFill>
                    <a:latin typeface="Arial"/>
                  </a:endParaRP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7EB261B9-043F-5E37-4F7F-055207B0456A}"/>
                    </a:ext>
                  </a:extLst>
                </p:cNvPr>
                <p:cNvSpPr/>
                <p:nvPr/>
              </p:nvSpPr>
              <p:spPr>
                <a:xfrm>
                  <a:off x="3762375" y="1624621"/>
                  <a:ext cx="2240280" cy="2238375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 cap="flat" cmpd="sng" algn="ctr">
                  <a:solidFill>
                    <a:srgbClr val="009DDC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914400"/>
                  <a:endParaRPr lang="en-US" sz="1100" b="1" kern="0" dirty="0">
                    <a:solidFill>
                      <a:srgbClr val="FF0000"/>
                    </a:solidFill>
                    <a:latin typeface="Arial"/>
                  </a:endParaRPr>
                </a:p>
              </p:txBody>
            </p:sp>
          </p:grpSp>
          <p:pic>
            <p:nvPicPr>
              <p:cNvPr id="13" name="Graphic 12" descr="Male profile with solid fill">
                <a:extLst>
                  <a:ext uri="{FF2B5EF4-FFF2-40B4-BE49-F238E27FC236}">
                    <a16:creationId xmlns:a16="http://schemas.microsoft.com/office/drawing/2014/main" id="{4855861E-8CB4-ECED-1104-F522EE7CF5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685406" y="1942202"/>
                <a:ext cx="611399" cy="611399"/>
              </a:xfrm>
              <a:prstGeom prst="rect">
                <a:avLst/>
              </a:prstGeom>
            </p:spPr>
          </p:pic>
          <p:pic>
            <p:nvPicPr>
              <p:cNvPr id="17" name="Graphic 16" descr="Office worker male with solid fill">
                <a:extLst>
                  <a:ext uri="{FF2B5EF4-FFF2-40B4-BE49-F238E27FC236}">
                    <a16:creationId xmlns:a16="http://schemas.microsoft.com/office/drawing/2014/main" id="{EB5C0E17-7AB6-2B04-AD55-8A5FD9F008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835353" y="2991821"/>
                <a:ext cx="612648" cy="612648"/>
              </a:xfrm>
              <a:prstGeom prst="rect">
                <a:avLst/>
              </a:prstGeom>
            </p:spPr>
          </p:pic>
          <p:pic>
            <p:nvPicPr>
              <p:cNvPr id="19" name="Graphic 18" descr="Female Profile with solid fill">
                <a:extLst>
                  <a:ext uri="{FF2B5EF4-FFF2-40B4-BE49-F238E27FC236}">
                    <a16:creationId xmlns:a16="http://schemas.microsoft.com/office/drawing/2014/main" id="{D97178CF-5334-BA9D-A314-106017DC2F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015520" y="2131160"/>
                <a:ext cx="612648" cy="612648"/>
              </a:xfrm>
              <a:prstGeom prst="rect">
                <a:avLst/>
              </a:prstGeom>
            </p:spPr>
          </p:pic>
          <p:pic>
            <p:nvPicPr>
              <p:cNvPr id="21" name="Graphic 20">
                <a:extLst>
                  <a:ext uri="{FF2B5EF4-FFF2-40B4-BE49-F238E27FC236}">
                    <a16:creationId xmlns:a16="http://schemas.microsoft.com/office/drawing/2014/main" id="{E23DBFA6-B894-46FB-521F-5913B42656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8510674" y="4658041"/>
                <a:ext cx="612648" cy="612648"/>
              </a:xfrm>
              <a:prstGeom prst="rect">
                <a:avLst/>
              </a:prstGeom>
            </p:spPr>
          </p:pic>
          <p:pic>
            <p:nvPicPr>
              <p:cNvPr id="24" name="Graphic 23" descr="Male profile with solid fill">
                <a:extLst>
                  <a:ext uri="{FF2B5EF4-FFF2-40B4-BE49-F238E27FC236}">
                    <a16:creationId xmlns:a16="http://schemas.microsoft.com/office/drawing/2014/main" id="{57EF658E-F061-808C-0840-2970361B81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421316" y="2045176"/>
                <a:ext cx="611399" cy="611399"/>
              </a:xfrm>
              <a:prstGeom prst="rect">
                <a:avLst/>
              </a:prstGeom>
            </p:spPr>
          </p:pic>
          <p:pic>
            <p:nvPicPr>
              <p:cNvPr id="25" name="Graphic 24" descr="Male profile with solid fill">
                <a:extLst>
                  <a:ext uri="{FF2B5EF4-FFF2-40B4-BE49-F238E27FC236}">
                    <a16:creationId xmlns:a16="http://schemas.microsoft.com/office/drawing/2014/main" id="{990AD00A-57CA-DEDF-BD7C-E1ABE88B45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704879" y="2448081"/>
                <a:ext cx="611399" cy="611399"/>
              </a:xfrm>
              <a:prstGeom prst="rect">
                <a:avLst/>
              </a:prstGeom>
            </p:spPr>
          </p:pic>
          <p:pic>
            <p:nvPicPr>
              <p:cNvPr id="26" name="Graphic 25" descr="Male profile with solid fill">
                <a:extLst>
                  <a:ext uri="{FF2B5EF4-FFF2-40B4-BE49-F238E27FC236}">
                    <a16:creationId xmlns:a16="http://schemas.microsoft.com/office/drawing/2014/main" id="{C964FF57-699E-C37F-19C6-9C53A2914C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5881961" y="3715356"/>
                <a:ext cx="611399" cy="611399"/>
              </a:xfrm>
              <a:prstGeom prst="rect">
                <a:avLst/>
              </a:prstGeom>
            </p:spPr>
          </p:pic>
          <p:pic>
            <p:nvPicPr>
              <p:cNvPr id="27" name="Graphic 26" descr="Male profile with solid fill">
                <a:extLst>
                  <a:ext uri="{FF2B5EF4-FFF2-40B4-BE49-F238E27FC236}">
                    <a16:creationId xmlns:a16="http://schemas.microsoft.com/office/drawing/2014/main" id="{E80CFF4A-DE18-E899-CA6C-B49605484B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7247388" y="1452983"/>
                <a:ext cx="611399" cy="611399"/>
              </a:xfrm>
              <a:prstGeom prst="rect">
                <a:avLst/>
              </a:prstGeom>
            </p:spPr>
          </p:pic>
          <p:pic>
            <p:nvPicPr>
              <p:cNvPr id="28" name="Graphic 27" descr="Male profile with solid fill">
                <a:extLst>
                  <a:ext uri="{FF2B5EF4-FFF2-40B4-BE49-F238E27FC236}">
                    <a16:creationId xmlns:a16="http://schemas.microsoft.com/office/drawing/2014/main" id="{EBBF77B1-9EC6-4EE5-B4C9-6E6EEDA322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7927304" y="1527571"/>
                <a:ext cx="611399" cy="611399"/>
              </a:xfrm>
              <a:prstGeom prst="rect">
                <a:avLst/>
              </a:prstGeom>
            </p:spPr>
          </p:pic>
          <p:pic>
            <p:nvPicPr>
              <p:cNvPr id="29" name="Graphic 28" descr="Male profile with solid fill">
                <a:extLst>
                  <a:ext uri="{FF2B5EF4-FFF2-40B4-BE49-F238E27FC236}">
                    <a16:creationId xmlns:a16="http://schemas.microsoft.com/office/drawing/2014/main" id="{1F3A70AF-EC0E-A5B0-F08E-B46621639A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5528243" y="4249458"/>
                <a:ext cx="611399" cy="611399"/>
              </a:xfrm>
              <a:prstGeom prst="rect">
                <a:avLst/>
              </a:prstGeom>
            </p:spPr>
          </p:pic>
          <p:pic>
            <p:nvPicPr>
              <p:cNvPr id="30" name="Graphic 29" descr="Office worker female with solid fill">
                <a:extLst>
                  <a:ext uri="{FF2B5EF4-FFF2-40B4-BE49-F238E27FC236}">
                    <a16:creationId xmlns:a16="http://schemas.microsoft.com/office/drawing/2014/main" id="{5E7B338E-6970-C61B-C0D3-FC504E701C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915595" y="2483306"/>
                <a:ext cx="612648" cy="612648"/>
              </a:xfrm>
              <a:prstGeom prst="rect">
                <a:avLst/>
              </a:prstGeom>
            </p:spPr>
          </p:pic>
          <p:pic>
            <p:nvPicPr>
              <p:cNvPr id="31" name="Graphic 30" descr="Office worker female with solid fill">
                <a:extLst>
                  <a:ext uri="{FF2B5EF4-FFF2-40B4-BE49-F238E27FC236}">
                    <a16:creationId xmlns:a16="http://schemas.microsoft.com/office/drawing/2014/main" id="{6F9C3B73-24D4-D68D-8E89-1E08D5A40A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452686" y="2866827"/>
                <a:ext cx="612648" cy="612648"/>
              </a:xfrm>
              <a:prstGeom prst="rect">
                <a:avLst/>
              </a:prstGeom>
            </p:spPr>
          </p:pic>
          <p:pic>
            <p:nvPicPr>
              <p:cNvPr id="32" name="Graphic 31" descr="Female Profile with solid fill">
                <a:extLst>
                  <a:ext uri="{FF2B5EF4-FFF2-40B4-BE49-F238E27FC236}">
                    <a16:creationId xmlns:a16="http://schemas.microsoft.com/office/drawing/2014/main" id="{902DFF36-F8F9-769B-2775-E7FE376F4C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8538703" y="4018668"/>
                <a:ext cx="612648" cy="612648"/>
              </a:xfrm>
              <a:prstGeom prst="rect">
                <a:avLst/>
              </a:prstGeom>
            </p:spPr>
          </p:pic>
          <p:pic>
            <p:nvPicPr>
              <p:cNvPr id="33" name="Graphic 32" descr="Female Profile with solid fill">
                <a:extLst>
                  <a:ext uri="{FF2B5EF4-FFF2-40B4-BE49-F238E27FC236}">
                    <a16:creationId xmlns:a16="http://schemas.microsoft.com/office/drawing/2014/main" id="{9BCD8BDF-759C-92F4-8D30-EFE3CCD36A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6584036" y="3745650"/>
                <a:ext cx="612648" cy="612648"/>
              </a:xfrm>
              <a:prstGeom prst="rect">
                <a:avLst/>
              </a:prstGeom>
            </p:spPr>
          </p:pic>
          <p:pic>
            <p:nvPicPr>
              <p:cNvPr id="34" name="Graphic 33" descr="Female Profile with solid fill">
                <a:extLst>
                  <a:ext uri="{FF2B5EF4-FFF2-40B4-BE49-F238E27FC236}">
                    <a16:creationId xmlns:a16="http://schemas.microsoft.com/office/drawing/2014/main" id="{B205F448-5B54-FFB4-0CD3-9C98705875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6412291" y="4418684"/>
                <a:ext cx="612648" cy="612648"/>
              </a:xfrm>
              <a:prstGeom prst="rect">
                <a:avLst/>
              </a:prstGeom>
            </p:spPr>
          </p:pic>
          <p:pic>
            <p:nvPicPr>
              <p:cNvPr id="36" name="Graphic 35">
                <a:extLst>
                  <a:ext uri="{FF2B5EF4-FFF2-40B4-BE49-F238E27FC236}">
                    <a16:creationId xmlns:a16="http://schemas.microsoft.com/office/drawing/2014/main" id="{CF001794-A965-D0AD-1DA7-6A3E1BC677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rcRect/>
              <a:stretch/>
            </p:blipFill>
            <p:spPr>
              <a:xfrm>
                <a:off x="9151351" y="4196570"/>
                <a:ext cx="612648" cy="612648"/>
              </a:xfrm>
              <a:prstGeom prst="rect">
                <a:avLst/>
              </a:prstGeom>
            </p:spPr>
          </p:pic>
          <p:pic>
            <p:nvPicPr>
              <p:cNvPr id="37" name="Graphic 36">
                <a:extLst>
                  <a:ext uri="{FF2B5EF4-FFF2-40B4-BE49-F238E27FC236}">
                    <a16:creationId xmlns:a16="http://schemas.microsoft.com/office/drawing/2014/main" id="{17B4EF8C-456C-35F6-2978-906B6CBC06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7824709" y="2437484"/>
                <a:ext cx="612648" cy="612648"/>
              </a:xfrm>
              <a:prstGeom prst="rect">
                <a:avLst/>
              </a:prstGeom>
            </p:spPr>
          </p:pic>
          <p:pic>
            <p:nvPicPr>
              <p:cNvPr id="38" name="Graphic 37" descr="Male profile with solid fill">
                <a:extLst>
                  <a:ext uri="{FF2B5EF4-FFF2-40B4-BE49-F238E27FC236}">
                    <a16:creationId xmlns:a16="http://schemas.microsoft.com/office/drawing/2014/main" id="{41762AD4-7B8E-0B7F-A83E-78A86FDC70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2570706" y="4345093"/>
                <a:ext cx="611399" cy="611399"/>
              </a:xfrm>
              <a:prstGeom prst="rect">
                <a:avLst/>
              </a:prstGeom>
            </p:spPr>
          </p:pic>
          <p:pic>
            <p:nvPicPr>
              <p:cNvPr id="39" name="Graphic 38" descr="Office worker female with solid fill">
                <a:extLst>
                  <a:ext uri="{FF2B5EF4-FFF2-40B4-BE49-F238E27FC236}">
                    <a16:creationId xmlns:a16="http://schemas.microsoft.com/office/drawing/2014/main" id="{AA3CE4BE-DFB0-C80A-896A-EA53D574EF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3334685" y="4335433"/>
                <a:ext cx="612648" cy="612648"/>
              </a:xfrm>
              <a:prstGeom prst="rect">
                <a:avLst/>
              </a:prstGeom>
            </p:spPr>
          </p:pic>
          <p:pic>
            <p:nvPicPr>
              <p:cNvPr id="40" name="Graphic 39" descr="Office worker male with solid fill">
                <a:extLst>
                  <a:ext uri="{FF2B5EF4-FFF2-40B4-BE49-F238E27FC236}">
                    <a16:creationId xmlns:a16="http://schemas.microsoft.com/office/drawing/2014/main" id="{32B70CBA-4942-E8CF-FC59-CC48B9AAAE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2121677" y="4577571"/>
                <a:ext cx="612648" cy="612648"/>
              </a:xfrm>
              <a:prstGeom prst="rect">
                <a:avLst/>
              </a:prstGeom>
            </p:spPr>
          </p:pic>
          <p:pic>
            <p:nvPicPr>
              <p:cNvPr id="41" name="Graphic 40" descr="Office worker female with solid fill">
                <a:extLst>
                  <a:ext uri="{FF2B5EF4-FFF2-40B4-BE49-F238E27FC236}">
                    <a16:creationId xmlns:a16="http://schemas.microsoft.com/office/drawing/2014/main" id="{AB4A7AE3-B361-351E-851A-21373541BF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2927015" y="4788924"/>
                <a:ext cx="612648" cy="612648"/>
              </a:xfrm>
              <a:prstGeom prst="rect">
                <a:avLst/>
              </a:prstGeom>
            </p:spPr>
          </p:pic>
          <p:pic>
            <p:nvPicPr>
              <p:cNvPr id="42" name="Graphic 41" descr="Office worker female with solid fill">
                <a:extLst>
                  <a:ext uri="{FF2B5EF4-FFF2-40B4-BE49-F238E27FC236}">
                    <a16:creationId xmlns:a16="http://schemas.microsoft.com/office/drawing/2014/main" id="{411A039B-92BF-299F-0467-7AF0EA7D47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3464052" y="4927055"/>
                <a:ext cx="612648" cy="612648"/>
              </a:xfrm>
              <a:prstGeom prst="rect">
                <a:avLst/>
              </a:prstGeom>
            </p:spPr>
          </p:pic>
          <p:pic>
            <p:nvPicPr>
              <p:cNvPr id="43" name="Graphic 42" descr="Office worker female with solid fill">
                <a:extLst>
                  <a:ext uri="{FF2B5EF4-FFF2-40B4-BE49-F238E27FC236}">
                    <a16:creationId xmlns:a16="http://schemas.microsoft.com/office/drawing/2014/main" id="{59FA43E7-864D-0771-3BDC-F59623FF87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2851404" y="5329638"/>
                <a:ext cx="612648" cy="612648"/>
              </a:xfrm>
              <a:prstGeom prst="rect">
                <a:avLst/>
              </a:prstGeom>
            </p:spPr>
          </p:pic>
          <p:pic>
            <p:nvPicPr>
              <p:cNvPr id="44" name="Graphic 43" descr="Office worker female with solid fill">
                <a:extLst>
                  <a:ext uri="{FF2B5EF4-FFF2-40B4-BE49-F238E27FC236}">
                    <a16:creationId xmlns:a16="http://schemas.microsoft.com/office/drawing/2014/main" id="{A162CBAA-D27A-2D0E-E0D9-F4B068C4F2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2210628" y="5166397"/>
                <a:ext cx="612648" cy="612648"/>
              </a:xfrm>
              <a:prstGeom prst="rect">
                <a:avLst/>
              </a:prstGeom>
            </p:spPr>
          </p:pic>
        </p:grpSp>
        <p:sp>
          <p:nvSpPr>
            <p:cNvPr id="47" name="Text Box 307">
              <a:extLst>
                <a:ext uri="{FF2B5EF4-FFF2-40B4-BE49-F238E27FC236}">
                  <a16:creationId xmlns:a16="http://schemas.microsoft.com/office/drawing/2014/main" id="{091D5EE3-1A33-2EE1-3517-08026E7041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3442" y="1178355"/>
              <a:ext cx="14906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1D3764"/>
                  </a:solidFill>
                  <a:latin typeface="Calibri"/>
                  <a:cs typeface="Calibri"/>
                </a:rPr>
                <a:t>Students</a:t>
              </a:r>
            </a:p>
          </p:txBody>
        </p:sp>
        <p:sp>
          <p:nvSpPr>
            <p:cNvPr id="48" name="Text Box 307">
              <a:extLst>
                <a:ext uri="{FF2B5EF4-FFF2-40B4-BE49-F238E27FC236}">
                  <a16:creationId xmlns:a16="http://schemas.microsoft.com/office/drawing/2014/main" id="{1A51C7AC-E5D0-E901-166E-2A1E2BD881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5612" y="4051503"/>
              <a:ext cx="14906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1D76BB"/>
                  </a:solidFill>
                  <a:latin typeface="Calibri"/>
                  <a:cs typeface="Calibri"/>
                </a:rPr>
                <a:t>Professionals</a:t>
              </a:r>
            </a:p>
          </p:txBody>
        </p:sp>
        <p:sp>
          <p:nvSpPr>
            <p:cNvPr id="49" name="Text Box 307">
              <a:extLst>
                <a:ext uri="{FF2B5EF4-FFF2-40B4-BE49-F238E27FC236}">
                  <a16:creationId xmlns:a16="http://schemas.microsoft.com/office/drawing/2014/main" id="{DDB8940A-C37C-AE76-E96D-815DAB57C6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6022" y="3376802"/>
              <a:ext cx="14906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198CA8"/>
                  </a:solidFill>
                  <a:latin typeface="Calibri"/>
                  <a:cs typeface="Calibri"/>
                </a:rPr>
                <a:t>Academics</a:t>
              </a:r>
            </a:p>
          </p:txBody>
        </p:sp>
        <p:sp>
          <p:nvSpPr>
            <p:cNvPr id="50" name="Text Box 307">
              <a:extLst>
                <a:ext uri="{FF2B5EF4-FFF2-40B4-BE49-F238E27FC236}">
                  <a16:creationId xmlns:a16="http://schemas.microsoft.com/office/drawing/2014/main" id="{0B18D3C9-31ED-7714-BB37-BF5F860AA3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9217" y="1694603"/>
              <a:ext cx="14906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9DDC"/>
                  </a:solidFill>
                  <a:latin typeface="Calibri"/>
                  <a:cs typeface="Calibri"/>
                </a:rPr>
                <a:t>Retirees</a:t>
              </a:r>
            </a:p>
          </p:txBody>
        </p:sp>
        <p:sp>
          <p:nvSpPr>
            <p:cNvPr id="51" name="Text Box 307">
              <a:extLst>
                <a:ext uri="{FF2B5EF4-FFF2-40B4-BE49-F238E27FC236}">
                  <a16:creationId xmlns:a16="http://schemas.microsoft.com/office/drawing/2014/main" id="{33C31342-4608-687D-B621-C4DA096448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7991" y="3693719"/>
              <a:ext cx="14906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FAAF41"/>
                  </a:solidFill>
                  <a:latin typeface="Calibri"/>
                  <a:cs typeface="Calibri"/>
                </a:rPr>
                <a:t>Executives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70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EC5DB9-1A49-9204-D1CA-1C00A6872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E66F15-46A4-8CEE-06C1-F4B7733C6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Supervised learning can improve segmentation.</a:t>
            </a:r>
          </a:p>
          <a:p>
            <a:pPr lvl="1"/>
            <a:r>
              <a:rPr lang="en-US" dirty="0"/>
              <a:t>Use classification or regression to predict label.</a:t>
            </a:r>
          </a:p>
          <a:p>
            <a:r>
              <a:rPr lang="en-US" dirty="0"/>
              <a:t>Example: Customer return status.</a:t>
            </a:r>
          </a:p>
          <a:p>
            <a:pPr lvl="1"/>
            <a:r>
              <a:rPr lang="en-US" dirty="0"/>
              <a:t>Predict if future customers will return.</a:t>
            </a:r>
          </a:p>
          <a:p>
            <a:pPr lvl="1"/>
            <a:r>
              <a:rPr lang="en-US" dirty="0"/>
              <a:t>Segment based on predicted result directly.</a:t>
            </a:r>
          </a:p>
          <a:p>
            <a:pPr lvl="1"/>
            <a:r>
              <a:rPr lang="en-US" dirty="0"/>
              <a:t>Or, incorporate as part of clustering.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D54177-17D1-444C-A180-C510CEC25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Segmentation</a:t>
            </a:r>
          </a:p>
        </p:txBody>
      </p:sp>
      <p:pic>
        <p:nvPicPr>
          <p:cNvPr id="6" name="Graphic 5" descr="Target Audience with solid fill">
            <a:extLst>
              <a:ext uri="{FF2B5EF4-FFF2-40B4-BE49-F238E27FC236}">
                <a16:creationId xmlns:a16="http://schemas.microsoft.com/office/drawing/2014/main" id="{95A37898-79BE-06A4-5EE5-A13287DB3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8841" y="1121092"/>
            <a:ext cx="3679508" cy="367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172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7A5FB6E-09F8-277D-4053-A8C53DD2D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Targeted Campaigns and Customer Profiles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3D138F-64BB-2EB1-02FE-87A5F21EC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DE70FF5-3304-6AF7-04E4-8C252E6C9488}"/>
              </a:ext>
            </a:extLst>
          </p:cNvPr>
          <p:cNvGrpSpPr/>
          <p:nvPr/>
        </p:nvGrpSpPr>
        <p:grpSpPr>
          <a:xfrm>
            <a:off x="2967038" y="1181100"/>
            <a:ext cx="6257925" cy="5114925"/>
            <a:chOff x="2967038" y="1181100"/>
            <a:chExt cx="6257925" cy="511492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7C72465-54C9-3CA0-5B9D-F63383124BB8}"/>
                </a:ext>
              </a:extLst>
            </p:cNvPr>
            <p:cNvSpPr/>
            <p:nvPr/>
          </p:nvSpPr>
          <p:spPr>
            <a:xfrm>
              <a:off x="2967038" y="1181100"/>
              <a:ext cx="6257925" cy="51149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 cap="flat" cmpd="sng" algn="ctr">
              <a:solidFill>
                <a:srgbClr val="1D3763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A011596-204F-AF3F-434D-C87810DA11D4}"/>
                </a:ext>
              </a:extLst>
            </p:cNvPr>
            <p:cNvSpPr txBox="1"/>
            <p:nvPr/>
          </p:nvSpPr>
          <p:spPr>
            <a:xfrm>
              <a:off x="5236369" y="1285875"/>
              <a:ext cx="17192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1D3763"/>
                  </a:solidFill>
                </a:rPr>
                <a:t>Profile A</a:t>
              </a:r>
            </a:p>
          </p:txBody>
        </p:sp>
        <p:pic>
          <p:nvPicPr>
            <p:cNvPr id="12" name="Picture 11" descr="A person in a blue shirt&#10;&#10;Description automatically generated with medium confidence">
              <a:extLst>
                <a:ext uri="{FF2B5EF4-FFF2-40B4-BE49-F238E27FC236}">
                  <a16:creationId xmlns:a16="http://schemas.microsoft.com/office/drawing/2014/main" id="{A6971447-5CA7-D617-8160-65BA8B2C8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19862" y="2238375"/>
              <a:ext cx="2705100" cy="405765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7EFBC7D-F855-6295-C883-7E8DB84D07A7}"/>
                </a:ext>
              </a:extLst>
            </p:cNvPr>
            <p:cNvSpPr txBox="1"/>
            <p:nvPr/>
          </p:nvSpPr>
          <p:spPr>
            <a:xfrm>
              <a:off x="3131344" y="2030789"/>
              <a:ext cx="3402806" cy="36933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Name: </a:t>
              </a:r>
              <a:r>
                <a:rPr lang="en-US" sz="1400" dirty="0"/>
                <a:t>Gabriel Anderson</a:t>
              </a:r>
              <a:endParaRPr lang="en-US" dirty="0"/>
            </a:p>
            <a:p>
              <a:endParaRPr lang="en-US" b="1" dirty="0"/>
            </a:p>
            <a:p>
              <a:r>
                <a:rPr lang="en-US" b="1" dirty="0"/>
                <a:t>Age: </a:t>
              </a:r>
              <a:r>
                <a:rPr lang="en-US" sz="1400" dirty="0"/>
                <a:t>18–24</a:t>
              </a:r>
              <a:endParaRPr lang="en-US" b="1" dirty="0"/>
            </a:p>
            <a:p>
              <a:endParaRPr lang="en-US" b="1" dirty="0"/>
            </a:p>
            <a:p>
              <a:r>
                <a:rPr lang="en-US" b="1" dirty="0"/>
                <a:t>Location: </a:t>
              </a:r>
              <a:r>
                <a:rPr lang="en-US" sz="1400" dirty="0"/>
                <a:t>London, Belfast, Glasgow</a:t>
              </a:r>
              <a:endParaRPr lang="en-US" b="1" dirty="0"/>
            </a:p>
            <a:p>
              <a:endParaRPr lang="en-US" b="1" dirty="0"/>
            </a:p>
            <a:p>
              <a:r>
                <a:rPr lang="en-US" b="1" dirty="0"/>
                <a:t>Job: </a:t>
              </a:r>
              <a:r>
                <a:rPr lang="en-US" sz="1400" dirty="0"/>
                <a:t>Student, Intern, Sales</a:t>
              </a:r>
              <a:endParaRPr lang="en-US" b="1" dirty="0"/>
            </a:p>
            <a:p>
              <a:endParaRPr lang="en-US" b="1" dirty="0"/>
            </a:p>
            <a:p>
              <a:r>
                <a:rPr lang="en-US" b="1" dirty="0"/>
                <a:t>Income: </a:t>
              </a:r>
              <a:r>
                <a:rPr lang="en-US" sz="1400" dirty="0">
                  <a:effectLst/>
                </a:rPr>
                <a:t>£</a:t>
              </a:r>
              <a:r>
                <a:rPr lang="en-US" sz="1400" dirty="0"/>
                <a:t>0–</a:t>
              </a:r>
              <a:r>
                <a:rPr lang="en-US" sz="1400" dirty="0">
                  <a:effectLst/>
                </a:rPr>
                <a:t>£</a:t>
              </a:r>
              <a:r>
                <a:rPr lang="en-US" sz="1400" dirty="0"/>
                <a:t>35,000</a:t>
              </a:r>
              <a:endParaRPr lang="en-US" b="1" dirty="0"/>
            </a:p>
            <a:p>
              <a:endParaRPr lang="en-US" b="1" dirty="0"/>
            </a:p>
            <a:p>
              <a:r>
                <a:rPr lang="en-US" b="1" dirty="0"/>
                <a:t>Relationship: </a:t>
              </a:r>
              <a:r>
                <a:rPr lang="en-US" sz="1400" dirty="0"/>
                <a:t>Single, Engaged</a:t>
              </a:r>
              <a:endParaRPr lang="en-US" b="1" dirty="0"/>
            </a:p>
            <a:p>
              <a:endParaRPr lang="en-US" b="1" dirty="0"/>
            </a:p>
            <a:p>
              <a:r>
                <a:rPr lang="en-US" b="1" dirty="0"/>
                <a:t>Interests: </a:t>
              </a:r>
              <a:r>
                <a:rPr lang="en-US" sz="1400" dirty="0"/>
                <a:t>Hiking, Sports, Music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975169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2C5B23-0728-BB29-5F4E-D55D10087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16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7899FEA-0EF5-107E-3EEF-1C80DDDF4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What machine learning technique can help you place customers into different groups for the purposes of market segmentation? Provide a basic explanation for how the technique works.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How can a machine learning model that makes predictions be used to enhance customer segmentation?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677797F-30C5-DE9D-D9A9-DC9AF0E5B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Segmenting Audiences Using AI</a:t>
            </a:r>
          </a:p>
        </p:txBody>
      </p:sp>
    </p:spTree>
    <p:extLst>
      <p:ext uri="{BB962C8B-B14F-4D97-AF65-F5344CB8AC3E}">
        <p14:creationId xmlns:p14="http://schemas.microsoft.com/office/powerpoint/2010/main" val="3583831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1C4CFB-1ACB-A14F-B6A4-435DA7645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926C4-B76F-6740-B2D3-3C573DAFAA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Secure Assets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CA9590F-556A-BEFB-2097-2D5CE6EEE1E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34671" b="-34671"/>
          <a:stretch/>
        </p:blipFill>
        <p:spPr/>
      </p:pic>
    </p:spTree>
    <p:extLst>
      <p:ext uri="{BB962C8B-B14F-4D97-AF65-F5344CB8AC3E}">
        <p14:creationId xmlns:p14="http://schemas.microsoft.com/office/powerpoint/2010/main" val="3211517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D306DD-D9E9-A5A7-2A11-16B430097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D6C66E-7BCE-192F-0B23-32855FF64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D43DB70-BC6C-3B04-01FB-C298FE97CC3E}"/>
              </a:ext>
            </a:extLst>
          </p:cNvPr>
          <p:cNvSpPr txBox="1">
            <a:spLocks/>
          </p:cNvSpPr>
          <p:nvPr/>
        </p:nvSpPr>
        <p:spPr>
          <a:xfrm>
            <a:off x="9243741" y="645564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160BDD-7155-D744-B749-9730458604A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94E3628-E3F2-E955-E730-60357A889484}"/>
              </a:ext>
            </a:extLst>
          </p:cNvPr>
          <p:cNvSpPr txBox="1">
            <a:spLocks/>
          </p:cNvSpPr>
          <p:nvPr/>
        </p:nvSpPr>
        <p:spPr>
          <a:xfrm>
            <a:off x="1897811" y="2062480"/>
            <a:ext cx="7522234" cy="4265168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8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6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Risk detection</a:t>
            </a:r>
          </a:p>
          <a:p>
            <a:r>
              <a:rPr lang="en-US" dirty="0"/>
              <a:t>Risk analysis</a:t>
            </a:r>
          </a:p>
          <a:p>
            <a:r>
              <a:rPr lang="en-US" dirty="0"/>
              <a:t>Risk scoring</a:t>
            </a:r>
          </a:p>
          <a:p>
            <a:r>
              <a:rPr lang="en-US" dirty="0"/>
              <a:t>Risk response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B1FCC977-7532-1B9C-FC4D-846A2C314C6F}"/>
              </a:ext>
            </a:extLst>
          </p:cNvPr>
          <p:cNvSpPr txBox="1">
            <a:spLocks/>
          </p:cNvSpPr>
          <p:nvPr/>
        </p:nvSpPr>
        <p:spPr>
          <a:xfrm>
            <a:off x="1901628" y="290945"/>
            <a:ext cx="7501317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accent4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Risk Management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1DFB1BE-6816-F81C-B00B-59131B0CC464}"/>
              </a:ext>
            </a:extLst>
          </p:cNvPr>
          <p:cNvSpPr txBox="1">
            <a:spLocks/>
          </p:cNvSpPr>
          <p:nvPr/>
        </p:nvSpPr>
        <p:spPr>
          <a:xfrm>
            <a:off x="1901628" y="1233054"/>
            <a:ext cx="7501317" cy="748145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Risk management</a:t>
            </a:r>
            <a:r>
              <a:rPr lang="en-US" dirty="0"/>
              <a:t>: The cyclical process of identifying, assessing, analyzing, and responding to risks.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A28DD69-8D94-034F-6427-764EAA6939AB}"/>
              </a:ext>
            </a:extLst>
          </p:cNvPr>
          <p:cNvGrpSpPr>
            <a:grpSpLocks noChangeAspect="1"/>
          </p:cNvGrpSpPr>
          <p:nvPr/>
        </p:nvGrpSpPr>
        <p:grpSpPr>
          <a:xfrm>
            <a:off x="5658928" y="2271162"/>
            <a:ext cx="6276720" cy="4184480"/>
            <a:chOff x="2032000" y="1113071"/>
            <a:chExt cx="8128000" cy="5418667"/>
          </a:xfrm>
        </p:grpSpPr>
        <p:graphicFrame>
          <p:nvGraphicFramePr>
            <p:cNvPr id="4" name="Diagram 3">
              <a:extLst>
                <a:ext uri="{FF2B5EF4-FFF2-40B4-BE49-F238E27FC236}">
                  <a16:creationId xmlns:a16="http://schemas.microsoft.com/office/drawing/2014/main" id="{569D12A3-48A6-3177-E04E-0E5B529A34CC}"/>
                </a:ext>
              </a:extLst>
            </p:cNvPr>
            <p:cNvGraphicFramePr/>
            <p:nvPr/>
          </p:nvGraphicFramePr>
          <p:xfrm>
            <a:off x="2032000" y="1113071"/>
            <a:ext cx="8128000" cy="541866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C0AAC2B-C48D-EFDA-031F-354443346DC8}"/>
                </a:ext>
              </a:extLst>
            </p:cNvPr>
            <p:cNvSpPr txBox="1"/>
            <p:nvPr/>
          </p:nvSpPr>
          <p:spPr>
            <a:xfrm>
              <a:off x="5197964" y="3447833"/>
              <a:ext cx="1796072" cy="749620"/>
            </a:xfrm>
            <a:prstGeom prst="roundRect">
              <a:avLst/>
            </a:prstGeom>
            <a:solidFill>
              <a:srgbClr val="1D3763"/>
            </a:solidFill>
            <a:ln w="28575" cap="flat" cmpd="sng" algn="ctr">
              <a:noFill/>
              <a:prstDash val="solid"/>
            </a:ln>
            <a:effectLst>
              <a:outerShdw blurRad="107950" dist="12700" dir="5400000" algn="ctr">
                <a:srgbClr val="000000"/>
              </a:outerShdw>
            </a:effectLst>
          </p:spPr>
          <p:txBody>
            <a:bodyPr rtlCol="0" anchor="ctr"/>
            <a:lstStyle>
              <a:defPPr>
                <a:defRPr lang="en-US"/>
              </a:defPPr>
              <a:lvl1pPr algn="ctr" defTabSz="914400">
                <a:defRPr sz="1100" b="1" kern="0">
                  <a:solidFill>
                    <a:srgbClr val="FF0000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RISK MANAGEMENT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1576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D306DD-D9E9-A5A7-2A11-16B430097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19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D6C66E-7BCE-192F-0B23-32855FF64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D43DB70-BC6C-3B04-01FB-C298FE97CC3E}"/>
              </a:ext>
            </a:extLst>
          </p:cNvPr>
          <p:cNvSpPr txBox="1">
            <a:spLocks/>
          </p:cNvSpPr>
          <p:nvPr/>
        </p:nvSpPr>
        <p:spPr>
          <a:xfrm>
            <a:off x="9243741" y="645564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160BDD-7155-D744-B749-9730458604A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94E3628-E3F2-E955-E730-60357A889484}"/>
              </a:ext>
            </a:extLst>
          </p:cNvPr>
          <p:cNvSpPr txBox="1">
            <a:spLocks/>
          </p:cNvSpPr>
          <p:nvPr/>
        </p:nvSpPr>
        <p:spPr>
          <a:xfrm>
            <a:off x="1897811" y="2062480"/>
            <a:ext cx="7522234" cy="4265168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8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6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Threat classification</a:t>
            </a:r>
          </a:p>
          <a:p>
            <a:r>
              <a:rPr lang="en-US" dirty="0"/>
              <a:t>Threat ranking</a:t>
            </a:r>
          </a:p>
          <a:p>
            <a:r>
              <a:rPr lang="en-US" dirty="0"/>
              <a:t>Threat segmentation</a:t>
            </a:r>
          </a:p>
          <a:p>
            <a:r>
              <a:rPr lang="en-US" dirty="0"/>
              <a:t>Threat research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B1FCC977-7532-1B9C-FC4D-846A2C314C6F}"/>
              </a:ext>
            </a:extLst>
          </p:cNvPr>
          <p:cNvSpPr txBox="1">
            <a:spLocks/>
          </p:cNvSpPr>
          <p:nvPr/>
        </p:nvSpPr>
        <p:spPr>
          <a:xfrm>
            <a:off x="1901628" y="290945"/>
            <a:ext cx="7501317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accent4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Threat Analysis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1DFB1BE-6816-F81C-B00B-59131B0CC464}"/>
              </a:ext>
            </a:extLst>
          </p:cNvPr>
          <p:cNvSpPr txBox="1">
            <a:spLocks/>
          </p:cNvSpPr>
          <p:nvPr/>
        </p:nvSpPr>
        <p:spPr>
          <a:xfrm>
            <a:off x="1901628" y="1233054"/>
            <a:ext cx="7501317" cy="748145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Threat analysis</a:t>
            </a:r>
            <a:r>
              <a:rPr lang="en-US" dirty="0"/>
              <a:t>: The study of people, events, and technologies that can harm an organization's assets.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E20D8FB-CE6D-8841-E597-92354EB684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97611" y="2592747"/>
          <a:ext cx="5387975" cy="35919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00971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D306DD-D9E9-A5A7-2A11-16B430097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20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D6C66E-7BCE-192F-0B23-32855FF64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D43DB70-BC6C-3B04-01FB-C298FE97CC3E}"/>
              </a:ext>
            </a:extLst>
          </p:cNvPr>
          <p:cNvSpPr txBox="1">
            <a:spLocks/>
          </p:cNvSpPr>
          <p:nvPr/>
        </p:nvSpPr>
        <p:spPr>
          <a:xfrm>
            <a:off x="9243741" y="645564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160BDD-7155-D744-B749-9730458604A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94E3628-E3F2-E955-E730-60357A889484}"/>
              </a:ext>
            </a:extLst>
          </p:cNvPr>
          <p:cNvSpPr txBox="1">
            <a:spLocks/>
          </p:cNvSpPr>
          <p:nvPr/>
        </p:nvSpPr>
        <p:spPr>
          <a:xfrm>
            <a:off x="1897811" y="2062480"/>
            <a:ext cx="7522234" cy="4265168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8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6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User requests</a:t>
            </a:r>
          </a:p>
          <a:p>
            <a:r>
              <a:rPr lang="en-US" dirty="0"/>
              <a:t>Fault prediction</a:t>
            </a:r>
          </a:p>
          <a:p>
            <a:r>
              <a:rPr lang="en-US" dirty="0"/>
              <a:t>Asset procurement</a:t>
            </a:r>
          </a:p>
          <a:p>
            <a:r>
              <a:rPr lang="en-US" dirty="0"/>
              <a:t>Compliance issue identification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B1FCC977-7532-1B9C-FC4D-846A2C314C6F}"/>
              </a:ext>
            </a:extLst>
          </p:cNvPr>
          <p:cNvSpPr txBox="1">
            <a:spLocks/>
          </p:cNvSpPr>
          <p:nvPr/>
        </p:nvSpPr>
        <p:spPr>
          <a:xfrm>
            <a:off x="1901628" y="290945"/>
            <a:ext cx="7501317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accent4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IT Asset Management (ITAM)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1DFB1BE-6816-F81C-B00B-59131B0CC464}"/>
              </a:ext>
            </a:extLst>
          </p:cNvPr>
          <p:cNvSpPr txBox="1">
            <a:spLocks/>
          </p:cNvSpPr>
          <p:nvPr/>
        </p:nvSpPr>
        <p:spPr>
          <a:xfrm>
            <a:off x="1901628" y="1233054"/>
            <a:ext cx="7501317" cy="748145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ITAM</a:t>
            </a:r>
            <a:r>
              <a:rPr lang="en-US" dirty="0"/>
              <a:t>: The process of identifying, inventorying, tracking, and maintaining information technology assets as they are used across the organization.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C80BD19-354F-2C98-0E17-BB5BFEAA6B13}"/>
              </a:ext>
            </a:extLst>
          </p:cNvPr>
          <p:cNvGrpSpPr/>
          <p:nvPr/>
        </p:nvGrpSpPr>
        <p:grpSpPr>
          <a:xfrm>
            <a:off x="1456845" y="4177563"/>
            <a:ext cx="9278311" cy="2235430"/>
            <a:chOff x="2039545" y="3633099"/>
            <a:chExt cx="9278311" cy="2235430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B162BE92-5840-3A22-BCAF-75B519DF4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75449" y="3953938"/>
              <a:ext cx="2000250" cy="1718163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3EA8A67C-D095-63C4-2B79-C8E96C9E8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83607" y="3916912"/>
              <a:ext cx="2108486" cy="1792213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F4C3853-8BD2-06DA-A47F-E093984325F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039545" y="4043679"/>
              <a:ext cx="2291809" cy="1718856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A67937CA-9438-9DEA-F2DA-49DC2BE3F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294189" y="3633099"/>
              <a:ext cx="1023667" cy="22354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259171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3C411C-48B0-9AD6-ECB6-7429DAED2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1B2A6-D284-F2D2-47BD-A2BC314A6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Transaction assessment</a:t>
            </a:r>
          </a:p>
          <a:p>
            <a:r>
              <a:rPr lang="en-US" dirty="0"/>
              <a:t>Outlier detection</a:t>
            </a:r>
          </a:p>
          <a:p>
            <a:r>
              <a:rPr lang="en-US" dirty="0"/>
              <a:t>Signature analysis</a:t>
            </a:r>
          </a:p>
          <a:p>
            <a:r>
              <a:rPr lang="en-US" dirty="0"/>
              <a:t>Identity theft detection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8839F8-D625-C87C-741F-1A4BAB222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Fraud Identification</a:t>
            </a:r>
          </a:p>
        </p:txBody>
      </p:sp>
      <p:pic>
        <p:nvPicPr>
          <p:cNvPr id="8" name="Picture 7" descr="Diagram&#10;&#10;Description automatically generated with low confidence">
            <a:extLst>
              <a:ext uri="{FF2B5EF4-FFF2-40B4-BE49-F238E27FC236}">
                <a16:creationId xmlns:a16="http://schemas.microsoft.com/office/drawing/2014/main" id="{2A64A540-1FA8-C9AC-9869-BF777AB14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3925" y="1733550"/>
            <a:ext cx="5849079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763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555DFE-881F-31AA-21FA-84E8EBF4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5791F-7E92-B687-C979-3B2F52D30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Alert sorting and filtering</a:t>
            </a:r>
          </a:p>
          <a:p>
            <a:r>
              <a:rPr lang="en-US" dirty="0"/>
              <a:t>Security dashboards</a:t>
            </a:r>
          </a:p>
          <a:p>
            <a:r>
              <a:rPr lang="en-US" dirty="0"/>
              <a:t>Notification dissemination</a:t>
            </a:r>
          </a:p>
          <a:p>
            <a:r>
              <a:rPr lang="en-US" dirty="0"/>
              <a:t>Remediation suggestions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B1EDCAF-7528-3270-8DB4-B9EC3EF80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Notifications and Alerts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AAA94CC-24DE-8361-2DC9-5560F9835F41}"/>
              </a:ext>
            </a:extLst>
          </p:cNvPr>
          <p:cNvGrpSpPr/>
          <p:nvPr/>
        </p:nvGrpSpPr>
        <p:grpSpPr>
          <a:xfrm>
            <a:off x="8174168" y="1302040"/>
            <a:ext cx="2398166" cy="4524375"/>
            <a:chOff x="8174168" y="1302040"/>
            <a:chExt cx="2398166" cy="4524375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47F5D934-8BD2-6E15-8733-D516CEE4A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74168" y="1302040"/>
              <a:ext cx="2398166" cy="4524375"/>
            </a:xfrm>
            <a:prstGeom prst="rect">
              <a:avLst/>
            </a:prstGeom>
          </p:spPr>
        </p:pic>
        <p:pic>
          <p:nvPicPr>
            <p:cNvPr id="7" name="Graphic 6" descr="Warning with solid fill">
              <a:extLst>
                <a:ext uri="{FF2B5EF4-FFF2-40B4-BE49-F238E27FC236}">
                  <a16:creationId xmlns:a16="http://schemas.microsoft.com/office/drawing/2014/main" id="{CB051982-10A9-ACCA-2647-E2C4BB0BF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618160" y="2673909"/>
              <a:ext cx="1510182" cy="15101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77101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3C5593-C8DD-5E2A-A816-F7F108978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4694C1-82FA-E194-2BE6-A60577A32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Read the question scenario in the text. How might AI help the security team focus on the real incidents that threaten the organization?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Read the question scenario in the text. How can AI improve your IT asset management process so that these kinds of incidents are avoided as much as possible?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1B56AE-7E58-5F5F-D6AE-6DE3EEA74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Securing Assets Using AI</a:t>
            </a:r>
          </a:p>
        </p:txBody>
      </p:sp>
    </p:spTree>
    <p:extLst>
      <p:ext uri="{BB962C8B-B14F-4D97-AF65-F5344CB8AC3E}">
        <p14:creationId xmlns:p14="http://schemas.microsoft.com/office/powerpoint/2010/main" val="41693138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1C4CFB-1ACB-A14F-B6A4-435DA7645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926C4-B76F-6740-B2D3-3C573DAFAA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Optimize Processes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ADC4EC8-94C4-E99E-8DF3-5D3DDB51F71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34671" b="-34671"/>
          <a:stretch/>
        </p:blipFill>
        <p:spPr/>
      </p:pic>
    </p:spTree>
    <p:extLst>
      <p:ext uri="{BB962C8B-B14F-4D97-AF65-F5344CB8AC3E}">
        <p14:creationId xmlns:p14="http://schemas.microsoft.com/office/powerpoint/2010/main" val="32306504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D306DD-D9E9-A5A7-2A11-16B430097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D6C66E-7BCE-192F-0B23-32855FF64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D43DB70-BC6C-3B04-01FB-C298FE97CC3E}"/>
              </a:ext>
            </a:extLst>
          </p:cNvPr>
          <p:cNvSpPr txBox="1">
            <a:spLocks/>
          </p:cNvSpPr>
          <p:nvPr/>
        </p:nvSpPr>
        <p:spPr>
          <a:xfrm>
            <a:off x="9243741" y="645564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160BDD-7155-D744-B749-9730458604AD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94E3628-E3F2-E955-E730-60357A889484}"/>
              </a:ext>
            </a:extLst>
          </p:cNvPr>
          <p:cNvSpPr txBox="1">
            <a:spLocks/>
          </p:cNvSpPr>
          <p:nvPr/>
        </p:nvSpPr>
        <p:spPr>
          <a:xfrm>
            <a:off x="1897811" y="2062480"/>
            <a:ext cx="7522234" cy="4265168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8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6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Welding</a:t>
            </a:r>
          </a:p>
          <a:p>
            <a:r>
              <a:rPr lang="en-US" dirty="0"/>
              <a:t>Assembly and disassembly</a:t>
            </a:r>
          </a:p>
          <a:p>
            <a:r>
              <a:rPr lang="en-US" dirty="0"/>
              <a:t>Inspection and testing</a:t>
            </a:r>
          </a:p>
          <a:p>
            <a:r>
              <a:rPr lang="en-US" dirty="0"/>
              <a:t>Packaging and labeling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B1FCC977-7532-1B9C-FC4D-846A2C314C6F}"/>
              </a:ext>
            </a:extLst>
          </p:cNvPr>
          <p:cNvSpPr txBox="1">
            <a:spLocks/>
          </p:cNvSpPr>
          <p:nvPr/>
        </p:nvSpPr>
        <p:spPr>
          <a:xfrm>
            <a:off x="1901628" y="290945"/>
            <a:ext cx="7501317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accent4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Industrial Robots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1DFB1BE-6816-F81C-B00B-59131B0CC464}"/>
              </a:ext>
            </a:extLst>
          </p:cNvPr>
          <p:cNvSpPr txBox="1">
            <a:spLocks/>
          </p:cNvSpPr>
          <p:nvPr/>
        </p:nvSpPr>
        <p:spPr>
          <a:xfrm>
            <a:off x="1901628" y="1233054"/>
            <a:ext cx="7501317" cy="748145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Industrial robot</a:t>
            </a:r>
            <a:r>
              <a:rPr lang="en-US" dirty="0"/>
              <a:t>: A robot used in warehouses and manufacturing facilities to automate dangerous or difficult processes.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66BCDA-E52A-0FC9-ACAB-89B60AF110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17427" y="2702094"/>
            <a:ext cx="5052627" cy="336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7010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D306DD-D9E9-A5A7-2A11-16B430097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26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D6C66E-7BCE-192F-0B23-32855FF64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D43DB70-BC6C-3B04-01FB-C298FE97CC3E}"/>
              </a:ext>
            </a:extLst>
          </p:cNvPr>
          <p:cNvSpPr txBox="1">
            <a:spLocks/>
          </p:cNvSpPr>
          <p:nvPr/>
        </p:nvSpPr>
        <p:spPr>
          <a:xfrm>
            <a:off x="9243741" y="645564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160BDD-7155-D744-B749-9730458604AD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94E3628-E3F2-E955-E730-60357A889484}"/>
              </a:ext>
            </a:extLst>
          </p:cNvPr>
          <p:cNvSpPr txBox="1">
            <a:spLocks/>
          </p:cNvSpPr>
          <p:nvPr/>
        </p:nvSpPr>
        <p:spPr>
          <a:xfrm>
            <a:off x="1897811" y="2062480"/>
            <a:ext cx="7522234" cy="4265168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8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6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Product transport and freight</a:t>
            </a:r>
          </a:p>
          <a:p>
            <a:r>
              <a:rPr lang="en-US" dirty="0"/>
              <a:t>Delivery</a:t>
            </a:r>
          </a:p>
          <a:p>
            <a:r>
              <a:rPr lang="en-US" dirty="0"/>
              <a:t>Public transportation</a:t>
            </a:r>
          </a:p>
          <a:p>
            <a:r>
              <a:rPr lang="en-US" dirty="0"/>
              <a:t>Tourism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B1FCC977-7532-1B9C-FC4D-846A2C314C6F}"/>
              </a:ext>
            </a:extLst>
          </p:cNvPr>
          <p:cNvSpPr txBox="1">
            <a:spLocks/>
          </p:cNvSpPr>
          <p:nvPr/>
        </p:nvSpPr>
        <p:spPr>
          <a:xfrm>
            <a:off x="1901628" y="290945"/>
            <a:ext cx="7501317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accent4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Autonomous Vehicles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1DFB1BE-6816-F81C-B00B-59131B0CC464}"/>
              </a:ext>
            </a:extLst>
          </p:cNvPr>
          <p:cNvSpPr txBox="1">
            <a:spLocks/>
          </p:cNvSpPr>
          <p:nvPr/>
        </p:nvSpPr>
        <p:spPr>
          <a:xfrm>
            <a:off x="1901628" y="1233054"/>
            <a:ext cx="7501317" cy="748145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Autonomous vehicle</a:t>
            </a:r>
            <a:r>
              <a:rPr lang="en-US" dirty="0"/>
              <a:t>: A vehicle that has self-driving capabilities.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66BCDA-E52A-0FC9-ACAB-89B60AF110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38726" y="2702094"/>
            <a:ext cx="4810028" cy="336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1512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D306DD-D9E9-A5A7-2A11-16B430097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27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D6C66E-7BCE-192F-0B23-32855FF64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D43DB70-BC6C-3B04-01FB-C298FE97CC3E}"/>
              </a:ext>
            </a:extLst>
          </p:cNvPr>
          <p:cNvSpPr txBox="1">
            <a:spLocks/>
          </p:cNvSpPr>
          <p:nvPr/>
        </p:nvSpPr>
        <p:spPr>
          <a:xfrm>
            <a:off x="9243741" y="645564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160BDD-7155-D744-B749-9730458604AD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94E3628-E3F2-E955-E730-60357A889484}"/>
              </a:ext>
            </a:extLst>
          </p:cNvPr>
          <p:cNvSpPr txBox="1">
            <a:spLocks/>
          </p:cNvSpPr>
          <p:nvPr/>
        </p:nvSpPr>
        <p:spPr>
          <a:xfrm>
            <a:off x="1897811" y="2062480"/>
            <a:ext cx="7522234" cy="4265168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8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6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entry and extraction</a:t>
            </a:r>
          </a:p>
          <a:p>
            <a:r>
              <a:rPr lang="en-US" dirty="0"/>
              <a:t>Software testing</a:t>
            </a:r>
          </a:p>
          <a:p>
            <a:r>
              <a:rPr lang="en-US" dirty="0"/>
              <a:t>Customer service</a:t>
            </a:r>
          </a:p>
          <a:p>
            <a:r>
              <a:rPr lang="en-US" dirty="0"/>
              <a:t>Financial processes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B1FCC977-7532-1B9C-FC4D-846A2C314C6F}"/>
              </a:ext>
            </a:extLst>
          </p:cNvPr>
          <p:cNvSpPr txBox="1">
            <a:spLocks/>
          </p:cNvSpPr>
          <p:nvPr/>
        </p:nvSpPr>
        <p:spPr>
          <a:xfrm>
            <a:off x="1901628" y="290945"/>
            <a:ext cx="7501317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accent4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Robotic Process Automation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1DFB1BE-6816-F81C-B00B-59131B0CC464}"/>
              </a:ext>
            </a:extLst>
          </p:cNvPr>
          <p:cNvSpPr txBox="1">
            <a:spLocks/>
          </p:cNvSpPr>
          <p:nvPr/>
        </p:nvSpPr>
        <p:spPr>
          <a:xfrm>
            <a:off x="1901628" y="1233054"/>
            <a:ext cx="7501317" cy="748145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RPA</a:t>
            </a:r>
            <a:r>
              <a:rPr lang="en-US" dirty="0"/>
              <a:t>: A method by which software agents, also called bots, automate the performance of one or more tasks.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66BCDA-E52A-0FC9-ACAB-89B60AF110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38726" y="2779508"/>
            <a:ext cx="4810028" cy="321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9264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D306DD-D9E9-A5A7-2A11-16B430097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D6C66E-7BCE-192F-0B23-32855FF64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D43DB70-BC6C-3B04-01FB-C298FE97CC3E}"/>
              </a:ext>
            </a:extLst>
          </p:cNvPr>
          <p:cNvSpPr txBox="1">
            <a:spLocks/>
          </p:cNvSpPr>
          <p:nvPr/>
        </p:nvSpPr>
        <p:spPr>
          <a:xfrm>
            <a:off x="9243741" y="645564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160BDD-7155-D744-B749-9730458604AD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94E3628-E3F2-E955-E730-60357A889484}"/>
              </a:ext>
            </a:extLst>
          </p:cNvPr>
          <p:cNvSpPr txBox="1">
            <a:spLocks/>
          </p:cNvSpPr>
          <p:nvPr/>
        </p:nvSpPr>
        <p:spPr>
          <a:xfrm>
            <a:off x="1897811" y="2062480"/>
            <a:ext cx="7522234" cy="4265168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8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6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Inventory levels</a:t>
            </a:r>
          </a:p>
          <a:p>
            <a:r>
              <a:rPr lang="en-US" dirty="0"/>
              <a:t>Purchasing patterns</a:t>
            </a:r>
          </a:p>
          <a:p>
            <a:r>
              <a:rPr lang="en-US" dirty="0"/>
              <a:t>Staffing needs</a:t>
            </a:r>
          </a:p>
          <a:p>
            <a:r>
              <a:rPr lang="en-US" dirty="0"/>
              <a:t>Customer behavior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B1FCC977-7532-1B9C-FC4D-846A2C314C6F}"/>
              </a:ext>
            </a:extLst>
          </p:cNvPr>
          <p:cNvSpPr txBox="1">
            <a:spLocks/>
          </p:cNvSpPr>
          <p:nvPr/>
        </p:nvSpPr>
        <p:spPr>
          <a:xfrm>
            <a:off x="1901628" y="290945"/>
            <a:ext cx="7501317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accent4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Predictive Analytics for AI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1DFB1BE-6816-F81C-B00B-59131B0CC464}"/>
              </a:ext>
            </a:extLst>
          </p:cNvPr>
          <p:cNvSpPr txBox="1">
            <a:spLocks/>
          </p:cNvSpPr>
          <p:nvPr/>
        </p:nvSpPr>
        <p:spPr>
          <a:xfrm>
            <a:off x="1901628" y="1233054"/>
            <a:ext cx="7501317" cy="748145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Predictive analytics</a:t>
            </a:r>
            <a:r>
              <a:rPr lang="en-US" dirty="0"/>
              <a:t>: A form of data analytics that uses data to forecast future behaviors.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66BCDA-E52A-0FC9-ACAB-89B60AF110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38726" y="2781887"/>
            <a:ext cx="4810028" cy="320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7818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D306DD-D9E9-A5A7-2A11-16B430097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29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D6C66E-7BCE-192F-0B23-32855FF64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D43DB70-BC6C-3B04-01FB-C298FE97CC3E}"/>
              </a:ext>
            </a:extLst>
          </p:cNvPr>
          <p:cNvSpPr txBox="1">
            <a:spLocks/>
          </p:cNvSpPr>
          <p:nvPr/>
        </p:nvSpPr>
        <p:spPr>
          <a:xfrm>
            <a:off x="9243741" y="645564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160BDD-7155-D744-B749-9730458604AD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94E3628-E3F2-E955-E730-60357A889484}"/>
              </a:ext>
            </a:extLst>
          </p:cNvPr>
          <p:cNvSpPr txBox="1">
            <a:spLocks/>
          </p:cNvSpPr>
          <p:nvPr/>
        </p:nvSpPr>
        <p:spPr>
          <a:xfrm>
            <a:off x="1897811" y="2062480"/>
            <a:ext cx="7522234" cy="4265168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8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6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Supplier segmentation</a:t>
            </a:r>
          </a:p>
          <a:p>
            <a:r>
              <a:rPr lang="en-US" dirty="0"/>
              <a:t>Supplier evaluation</a:t>
            </a:r>
          </a:p>
          <a:p>
            <a:r>
              <a:rPr lang="en-US" dirty="0"/>
              <a:t>Supplier collaboration</a:t>
            </a:r>
          </a:p>
          <a:p>
            <a:r>
              <a:rPr lang="en-US" dirty="0"/>
              <a:t>Risk management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B1FCC977-7532-1B9C-FC4D-846A2C314C6F}"/>
              </a:ext>
            </a:extLst>
          </p:cNvPr>
          <p:cNvSpPr txBox="1">
            <a:spLocks/>
          </p:cNvSpPr>
          <p:nvPr/>
        </p:nvSpPr>
        <p:spPr>
          <a:xfrm>
            <a:off x="1901628" y="290945"/>
            <a:ext cx="7501317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accent4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Supplier Relationship Management (SRM)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1DFB1BE-6816-F81C-B00B-59131B0CC464}"/>
              </a:ext>
            </a:extLst>
          </p:cNvPr>
          <p:cNvSpPr txBox="1">
            <a:spLocks/>
          </p:cNvSpPr>
          <p:nvPr/>
        </p:nvSpPr>
        <p:spPr>
          <a:xfrm>
            <a:off x="1901628" y="1233054"/>
            <a:ext cx="7501317" cy="748145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SRM</a:t>
            </a:r>
            <a:r>
              <a:rPr lang="en-US" dirty="0"/>
              <a:t>: A process in which a business evaluates and attempts to strengthen the relationships it has with its suppliers, as well as better align those relationships with the business's overall goals and strategy.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66BCDA-E52A-0FC9-ACAB-89B60AF110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38726" y="2781887"/>
            <a:ext cx="4810027" cy="320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9212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D306DD-D9E9-A5A7-2A11-16B430097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30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D6C66E-7BCE-192F-0B23-32855FF64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D43DB70-BC6C-3B04-01FB-C298FE97CC3E}"/>
              </a:ext>
            </a:extLst>
          </p:cNvPr>
          <p:cNvSpPr txBox="1">
            <a:spLocks/>
          </p:cNvSpPr>
          <p:nvPr/>
        </p:nvSpPr>
        <p:spPr>
          <a:xfrm>
            <a:off x="9243741" y="645564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160BDD-7155-D744-B749-9730458604AD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94E3628-E3F2-E955-E730-60357A889484}"/>
              </a:ext>
            </a:extLst>
          </p:cNvPr>
          <p:cNvSpPr txBox="1">
            <a:spLocks/>
          </p:cNvSpPr>
          <p:nvPr/>
        </p:nvSpPr>
        <p:spPr>
          <a:xfrm>
            <a:off x="1897811" y="2062480"/>
            <a:ext cx="7522234" cy="4265168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8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6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Delivery</a:t>
            </a:r>
          </a:p>
          <a:p>
            <a:r>
              <a:rPr lang="en-US" dirty="0"/>
              <a:t>Tourism</a:t>
            </a:r>
          </a:p>
          <a:p>
            <a:r>
              <a:rPr lang="en-US" dirty="0"/>
              <a:t>Warehouse navigation</a:t>
            </a:r>
          </a:p>
          <a:p>
            <a:r>
              <a:rPr lang="en-US" dirty="0"/>
              <a:t>Video games and virtual worlds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B1FCC977-7532-1B9C-FC4D-846A2C314C6F}"/>
              </a:ext>
            </a:extLst>
          </p:cNvPr>
          <p:cNvSpPr txBox="1">
            <a:spLocks/>
          </p:cNvSpPr>
          <p:nvPr/>
        </p:nvSpPr>
        <p:spPr>
          <a:xfrm>
            <a:off x="1901628" y="290945"/>
            <a:ext cx="7501317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accent4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Route Optimization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1DFB1BE-6816-F81C-B00B-59131B0CC464}"/>
              </a:ext>
            </a:extLst>
          </p:cNvPr>
          <p:cNvSpPr txBox="1">
            <a:spLocks/>
          </p:cNvSpPr>
          <p:nvPr/>
        </p:nvSpPr>
        <p:spPr>
          <a:xfrm>
            <a:off x="1901628" y="1233054"/>
            <a:ext cx="7501317" cy="748145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Route optimization</a:t>
            </a:r>
            <a:r>
              <a:rPr lang="en-US" dirty="0"/>
              <a:t>: The process of finding the shortest path between two points.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66BCDA-E52A-0FC9-ACAB-89B60AF110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38726" y="2788982"/>
            <a:ext cx="4810027" cy="319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2788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EFD5C2-BCDD-5030-A0BB-EBDD7BE0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31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189F65-2E20-2040-9358-963A75AF0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Read the question scenario in the text. How might AI help address these inventory management challenges?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Read the question scenario in the text. How might AI help address assembly line challenges?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C3C777-91D5-EA84-E513-C8FB80FD6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Optimizing Processes Using AI</a:t>
            </a:r>
          </a:p>
        </p:txBody>
      </p:sp>
    </p:spTree>
    <p:extLst>
      <p:ext uri="{BB962C8B-B14F-4D97-AF65-F5344CB8AC3E}">
        <p14:creationId xmlns:p14="http://schemas.microsoft.com/office/powerpoint/2010/main" val="27042931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66C9B1-39AE-C744-9CCB-B1B902A6F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0E2B-4E33-CB49-95F1-AC0E74888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What function(s) of your own business are you most interested in applying AI to?</a:t>
            </a:r>
          </a:p>
          <a:p>
            <a:r>
              <a:rPr lang="en-US" dirty="0"/>
              <a:t>What other business functions not discussed in this lesson do you think AI could improve upon in your organization?</a:t>
            </a:r>
          </a:p>
        </p:txBody>
      </p:sp>
    </p:spTree>
    <p:extLst>
      <p:ext uri="{BB962C8B-B14F-4D97-AF65-F5344CB8AC3E}">
        <p14:creationId xmlns:p14="http://schemas.microsoft.com/office/powerpoint/2010/main" val="4093992310"/>
      </p:ext>
    </p:extLst>
  </p:cSld>
  <p:clrMapOvr>
    <a:masterClrMapping/>
  </p:clrMapOvr>
</p:sld>
</file>

<file path=ppt/theme/theme1.xml><?xml version="1.0" encoding="utf-8"?>
<a:theme xmlns:a="http://schemas.openxmlformats.org/drawingml/2006/main" name="CNX">
  <a:themeElements>
    <a:clrScheme name="CNX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9DDC"/>
      </a:accent1>
      <a:accent2>
        <a:srgbClr val="1D76BB"/>
      </a:accent2>
      <a:accent3>
        <a:srgbClr val="F05323"/>
      </a:accent3>
      <a:accent4>
        <a:srgbClr val="1D3764"/>
      </a:accent4>
      <a:accent5>
        <a:srgbClr val="C1C5C9"/>
      </a:accent5>
      <a:accent6>
        <a:srgbClr val="009DDC"/>
      </a:accent6>
      <a:hlink>
        <a:srgbClr val="009DDC"/>
      </a:hlink>
      <a:folHlink>
        <a:srgbClr val="009DD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914400">
          <a:defRPr sz="1100" b="1" kern="0" dirty="0" err="1" smtClean="0">
            <a:solidFill>
              <a:srgbClr val="FF0000"/>
            </a:solidFill>
            <a:latin typeface="Arial"/>
          </a:defRPr>
        </a:defPPr>
      </a:lst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NX_OV_Template_BIZ_1.1.potx" id="{3F606734-24ED-44F4-AF39-A80BB4CDD828}" vid="{DA8138EA-2326-4EF5-918C-5DC2501FD4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A3E69E70E30E468993238898FCF574" ma:contentTypeVersion="4" ma:contentTypeDescription="Create a new document." ma:contentTypeScope="" ma:versionID="dc0a16b6a225e328636b89082a0fd4a9">
  <xsd:schema xmlns:xsd="http://www.w3.org/2001/XMLSchema" xmlns:xs="http://www.w3.org/2001/XMLSchema" xmlns:p="http://schemas.microsoft.com/office/2006/metadata/properties" xmlns:ns2="64dd2cb5-7863-47d4-b3f2-5b70c1925be2" targetNamespace="http://schemas.microsoft.com/office/2006/metadata/properties" ma:root="true" ma:fieldsID="b5d20a745309770a795a0694b6cd691c" ns2:_="">
    <xsd:import namespace="64dd2cb5-7863-47d4-b3f2-5b70c1925b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dd2cb5-7863-47d4-b3f2-5b70c1925b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77BBCB1-D0C3-46F8-A7FC-B2722C0802B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412840-34B3-43D0-9071-24C4F0CCE5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dd2cb5-7863-47d4-b3f2-5b70c1925b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EE0D89E-233E-41F5-B369-92342F4EEEF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CNX_OV_Template_BIZ_1.2</Template>
  <TotalTime>340</TotalTime>
  <Words>1102</Words>
  <Application>Microsoft Office PowerPoint</Application>
  <PresentationFormat>Widescreen</PresentationFormat>
  <Paragraphs>245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CNX</vt:lpstr>
      <vt:lpstr>Functions of AI in Business</vt:lpstr>
      <vt:lpstr>Functions of AI in Business</vt:lpstr>
      <vt:lpstr>PowerPoint Presentation</vt:lpstr>
      <vt:lpstr>Natural Language Processing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Digital Personalization</vt:lpstr>
      <vt:lpstr>Activity: Improving User Experiences Using AI</vt:lpstr>
      <vt:lpstr>PowerPoint Presentation</vt:lpstr>
      <vt:lpstr>Customer Segmentation</vt:lpstr>
      <vt:lpstr>Predictive Segmentation</vt:lpstr>
      <vt:lpstr>Targeted Campaigns and Customer Profiles</vt:lpstr>
      <vt:lpstr>Activity: Segmenting Audiences Using AI</vt:lpstr>
      <vt:lpstr>PowerPoint Presentation</vt:lpstr>
      <vt:lpstr>PowerPoint Presentation</vt:lpstr>
      <vt:lpstr>PowerPoint Presentation</vt:lpstr>
      <vt:lpstr>PowerPoint Presentation</vt:lpstr>
      <vt:lpstr>Fraud Identification</vt:lpstr>
      <vt:lpstr>Security Notifications and Alerts</vt:lpstr>
      <vt:lpstr>Activity: Securing Assets Using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Activity: Optimizing Processes Using AI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 of AI in Business</dc:title>
  <dc:creator>Jason Nufryk</dc:creator>
  <cp:lastModifiedBy>Michelle Farney</cp:lastModifiedBy>
  <cp:revision>5</cp:revision>
  <dcterms:created xsi:type="dcterms:W3CDTF">2023-03-30T18:58:43Z</dcterms:created>
  <dcterms:modified xsi:type="dcterms:W3CDTF">2023-04-26T20:34:38Z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0x0101000FA3E69E70E30E468993238898FCF574</vt:lpwstr>
  </property>
</Properties>
</file>